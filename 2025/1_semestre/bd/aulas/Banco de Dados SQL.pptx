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2" saveSubsetFonts="1">
  <p:sldMasterIdLst>
    <p:sldMasterId id="2147483673" r:id="rId1"/>
  </p:sldMasterIdLst>
  <p:notesMasterIdLst>
    <p:notesMasterId r:id="rId62"/>
  </p:notesMasterIdLst>
  <p:handoutMasterIdLst>
    <p:handoutMasterId r:id="rId63"/>
  </p:handoutMasterIdLst>
  <p:sldIdLst>
    <p:sldId id="266" r:id="rId2"/>
    <p:sldId id="376" r:id="rId3"/>
    <p:sldId id="401" r:id="rId4"/>
    <p:sldId id="423" r:id="rId5"/>
    <p:sldId id="424" r:id="rId6"/>
    <p:sldId id="425" r:id="rId7"/>
    <p:sldId id="426" r:id="rId8"/>
    <p:sldId id="427" r:id="rId9"/>
    <p:sldId id="428" r:id="rId10"/>
    <p:sldId id="429" r:id="rId11"/>
    <p:sldId id="430" r:id="rId12"/>
    <p:sldId id="431" r:id="rId13"/>
    <p:sldId id="432" r:id="rId14"/>
    <p:sldId id="433" r:id="rId15"/>
    <p:sldId id="434" r:id="rId16"/>
    <p:sldId id="435" r:id="rId17"/>
    <p:sldId id="436" r:id="rId18"/>
    <p:sldId id="437" r:id="rId19"/>
    <p:sldId id="438" r:id="rId20"/>
    <p:sldId id="439" r:id="rId21"/>
    <p:sldId id="440" r:id="rId22"/>
    <p:sldId id="441" r:id="rId23"/>
    <p:sldId id="442" r:id="rId24"/>
    <p:sldId id="443" r:id="rId25"/>
    <p:sldId id="444" r:id="rId26"/>
    <p:sldId id="445" r:id="rId27"/>
    <p:sldId id="446" r:id="rId28"/>
    <p:sldId id="447" r:id="rId29"/>
    <p:sldId id="448" r:id="rId30"/>
    <p:sldId id="449" r:id="rId31"/>
    <p:sldId id="450" r:id="rId32"/>
    <p:sldId id="451" r:id="rId33"/>
    <p:sldId id="452" r:id="rId34"/>
    <p:sldId id="453" r:id="rId35"/>
    <p:sldId id="454" r:id="rId36"/>
    <p:sldId id="504" r:id="rId37"/>
    <p:sldId id="505" r:id="rId38"/>
    <p:sldId id="506" r:id="rId39"/>
    <p:sldId id="507" r:id="rId40"/>
    <p:sldId id="508" r:id="rId41"/>
    <p:sldId id="509" r:id="rId42"/>
    <p:sldId id="501" r:id="rId43"/>
    <p:sldId id="502" r:id="rId44"/>
    <p:sldId id="511" r:id="rId45"/>
    <p:sldId id="512" r:id="rId46"/>
    <p:sldId id="513" r:id="rId47"/>
    <p:sldId id="456" r:id="rId48"/>
    <p:sldId id="457" r:id="rId49"/>
    <p:sldId id="458" r:id="rId50"/>
    <p:sldId id="459" r:id="rId51"/>
    <p:sldId id="460" r:id="rId52"/>
    <p:sldId id="461" r:id="rId53"/>
    <p:sldId id="462" r:id="rId54"/>
    <p:sldId id="463" r:id="rId55"/>
    <p:sldId id="464" r:id="rId56"/>
    <p:sldId id="465" r:id="rId57"/>
    <p:sldId id="466" r:id="rId58"/>
    <p:sldId id="467" r:id="rId59"/>
    <p:sldId id="470" r:id="rId60"/>
    <p:sldId id="471" r:id="rId6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5758FB7-9AC5-4552-8A53-C91805E547FA}" styleName="Estilo com Tema 1 - Ênfase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2838BEF-8BB2-4498-84A7-C5851F593DF1}" styleName="Estilo Médio 4 - Ênfase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132" autoAdjust="0"/>
    <p:restoredTop sz="78161" autoAdjust="0"/>
  </p:normalViewPr>
  <p:slideViewPr>
    <p:cSldViewPr>
      <p:cViewPr varScale="1">
        <p:scale>
          <a:sx n="54" d="100"/>
          <a:sy n="54" d="100"/>
        </p:scale>
        <p:origin x="1392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95587F70-9AAF-49C1-8C85-6277AE1970F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A6B47FE-0AC5-4CFC-9B79-0EAAF50A559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6C6011-8822-4803-B91F-CE444FA12F42}" type="datetimeFigureOut">
              <a:rPr lang="pt-BR" smtClean="0"/>
              <a:t>07/05/2025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49A4C6F-CB31-4661-B070-9F85A0CC62F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C2DC88E-6FE7-4713-8DF9-1B67C212A5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4B8379-2AE2-4C08-9D9E-17E796EFFD2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156019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B90BB4-1D1B-4297-81E9-31505D4E4E32}" type="datetimeFigureOut">
              <a:rPr lang="pt-BR" smtClean="0"/>
              <a:t>06/05/2025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7184C3-AF2A-407B-94A4-FA5CE5CE954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050385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685817" indent="-263776" defTabSz="914423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055103" indent="-211021" defTabSz="914423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477145" indent="-211021" defTabSz="914423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1899186" indent="-211021" defTabSz="914423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039B6B2B-B5BE-49AA-9560-188F8986A70B}" type="slidenum">
              <a:rPr lang="pt-BR" smtClean="0"/>
              <a:pPr eaLnBrk="1" hangingPunct="1"/>
              <a:t>3</a:t>
            </a:fld>
            <a:endParaRPr lang="pt-BR"/>
          </a:p>
        </p:txBody>
      </p:sp>
      <p:sp>
        <p:nvSpPr>
          <p:cNvPr id="1300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300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57699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pt-BR">
                <a:latin typeface="Arial" pitchFamily="34" charset="0"/>
              </a:rPr>
              <a:t>A ordenação é um processo custoso. Utilizar somente quando estritamente necessário!</a:t>
            </a:r>
          </a:p>
        </p:txBody>
      </p:sp>
      <p:sp>
        <p:nvSpPr>
          <p:cNvPr id="157700" name="Espaço Reservado para Número de Slid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685817" indent="-263776" defTabSz="914423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055103" indent="-211021" defTabSz="914423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477145" indent="-211021" defTabSz="914423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1899186" indent="-211021" defTabSz="914423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3FBC4874-1240-45C1-ADF7-27680540402F}" type="slidenum">
              <a:rPr lang="pt-BR" smtClean="0"/>
              <a:pPr eaLnBrk="1" hangingPunct="1"/>
              <a:t>21</a:t>
            </a:fld>
            <a:endParaRPr lang="pt-B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58723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pt-BR">
                <a:latin typeface="Arial" pitchFamily="34" charset="0"/>
              </a:rPr>
              <a:t>Avg e sum tem que ser numéricos. Os demais não necessariamente.</a:t>
            </a:r>
          </a:p>
        </p:txBody>
      </p:sp>
      <p:sp>
        <p:nvSpPr>
          <p:cNvPr id="158724" name="Espaço Reservado para Número de Slid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685817" indent="-263776" defTabSz="914423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055103" indent="-211021" defTabSz="914423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477145" indent="-211021" defTabSz="914423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1899186" indent="-211021" defTabSz="914423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85131EB9-E933-40CA-BA94-836F64D120F3}" type="slidenum">
              <a:rPr lang="pt-BR" smtClean="0"/>
              <a:pPr eaLnBrk="1" hangingPunct="1"/>
              <a:t>26</a:t>
            </a:fld>
            <a:endParaRPr lang="pt-B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59747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pt-BR">
                <a:latin typeface="Arial" pitchFamily="34" charset="0"/>
              </a:rPr>
              <a:t>Avg e sum tem que ser numéricos. Os demais não necessariamente.</a:t>
            </a:r>
          </a:p>
        </p:txBody>
      </p:sp>
      <p:sp>
        <p:nvSpPr>
          <p:cNvPr id="159748" name="Espaço Reservado para Número de Slid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685817" indent="-263776" defTabSz="914423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055103" indent="-211021" defTabSz="914423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477145" indent="-211021" defTabSz="914423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1899186" indent="-211021" defTabSz="914423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37278B36-04ED-43F5-849E-71AE53DD7128}" type="slidenum">
              <a:rPr lang="pt-BR" smtClean="0"/>
              <a:pPr eaLnBrk="1" hangingPunct="1"/>
              <a:t>27</a:t>
            </a:fld>
            <a:endParaRPr lang="pt-B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60771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pt-BR">
                <a:latin typeface="Arial" pitchFamily="34" charset="0"/>
              </a:rPr>
              <a:t>Avg e sum tem que ser numéricos. Os demais não necessariamente.</a:t>
            </a:r>
          </a:p>
        </p:txBody>
      </p:sp>
      <p:sp>
        <p:nvSpPr>
          <p:cNvPr id="160772" name="Espaço Reservado para Número de Slid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685817" indent="-263776" defTabSz="914423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055103" indent="-211021" defTabSz="914423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477145" indent="-211021" defTabSz="914423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1899186" indent="-211021" defTabSz="914423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A5C46D33-25D7-4732-A13C-8CA4D27F3A3D}" type="slidenum">
              <a:rPr lang="pt-BR" smtClean="0"/>
              <a:pPr eaLnBrk="1" hangingPunct="1"/>
              <a:t>28</a:t>
            </a:fld>
            <a:endParaRPr 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242050"/>
            <a:ext cx="3267075" cy="365125"/>
          </a:xfrm>
        </p:spPr>
        <p:txBody>
          <a:bodyPr/>
          <a:lstStyle>
            <a:lvl1pPr>
              <a:defRPr>
                <a:latin typeface="Montserrat Medium" panose="00000600000000000000" charset="0"/>
                <a:cs typeface="Montserrat Medium" panose="00000600000000000000" charset="0"/>
              </a:defRPr>
            </a:lvl1pPr>
          </a:lstStyle>
          <a:p>
            <a:fld id="{AB1E9CCD-25EF-49F3-B4F8-E6824EEB2221}" type="datetime2">
              <a:rPr lang="en-US" smtClean="0"/>
              <a:t>Tuesday, May 6, 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4155" y="6242050"/>
            <a:ext cx="4467225" cy="365125"/>
          </a:xfrm>
        </p:spPr>
        <p:txBody>
          <a:bodyPr/>
          <a:lstStyle>
            <a:lvl1pPr algn="r">
              <a:defRPr>
                <a:latin typeface="Montserrat Medium" panose="00000600000000000000" charset="0"/>
                <a:cs typeface="Montserrat Medium" panose="00000600000000000000" charset="0"/>
              </a:defRPr>
            </a:lvl1pPr>
          </a:lstStyle>
          <a:p>
            <a:r>
              <a:rPr lang="pt-BR"/>
              <a:t>UNESP - São José do Rio Preto</a:t>
            </a:r>
          </a:p>
        </p:txBody>
      </p:sp>
      <p:sp>
        <p:nvSpPr>
          <p:cNvPr id="9" name="Retângulo 8"/>
          <p:cNvSpPr/>
          <p:nvPr/>
        </p:nvSpPr>
        <p:spPr>
          <a:xfrm>
            <a:off x="-9525" y="-19050"/>
            <a:ext cx="9172575" cy="98044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altLang="en-US"/>
          </a:p>
        </p:txBody>
      </p:sp>
      <p:grpSp>
        <p:nvGrpSpPr>
          <p:cNvPr id="20" name="Grupo 19"/>
          <p:cNvGrpSpPr/>
          <p:nvPr/>
        </p:nvGrpSpPr>
        <p:grpSpPr>
          <a:xfrm>
            <a:off x="3719195" y="3434080"/>
            <a:ext cx="1715135" cy="104140"/>
            <a:chOff x="5850" y="5408"/>
            <a:chExt cx="2701" cy="164"/>
          </a:xfrm>
          <a:gradFill>
            <a:gsLst>
              <a:gs pos="0">
                <a:srgbClr val="4F80BC"/>
              </a:gs>
              <a:gs pos="100000">
                <a:srgbClr val="294261"/>
              </a:gs>
            </a:gsLst>
            <a:lin ang="18120000" scaled="0"/>
          </a:gradFill>
        </p:grpSpPr>
        <p:sp>
          <p:nvSpPr>
            <p:cNvPr id="17" name="Retângulo 16"/>
            <p:cNvSpPr/>
            <p:nvPr/>
          </p:nvSpPr>
          <p:spPr>
            <a:xfrm>
              <a:off x="5934" y="5408"/>
              <a:ext cx="2531" cy="16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altLang="en-US"/>
            </a:p>
          </p:txBody>
        </p:sp>
        <p:sp>
          <p:nvSpPr>
            <p:cNvPr id="18" name="Elipse 17"/>
            <p:cNvSpPr/>
            <p:nvPr/>
          </p:nvSpPr>
          <p:spPr>
            <a:xfrm>
              <a:off x="5850" y="5408"/>
              <a:ext cx="165" cy="16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altLang="en-US"/>
            </a:p>
          </p:txBody>
        </p:sp>
        <p:sp>
          <p:nvSpPr>
            <p:cNvPr id="19" name="Elipse 18"/>
            <p:cNvSpPr/>
            <p:nvPr/>
          </p:nvSpPr>
          <p:spPr>
            <a:xfrm>
              <a:off x="8387" y="5408"/>
              <a:ext cx="165" cy="16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altLang="en-US"/>
            </a:p>
          </p:txBody>
        </p:sp>
      </p:grpSp>
      <p:sp>
        <p:nvSpPr>
          <p:cNvPr id="21" name="Subtitle 2"/>
          <p:cNvSpPr>
            <a:spLocks noGrp="1"/>
          </p:cNvSpPr>
          <p:nvPr/>
        </p:nvSpPr>
        <p:spPr>
          <a:xfrm>
            <a:off x="1902460" y="6002020"/>
            <a:ext cx="6858000" cy="8521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30000"/>
              </a:lnSpc>
            </a:pPr>
            <a:endParaRPr lang="pt-BR" altLang="en-US" sz="2000">
              <a:latin typeface="Montserrat Light" panose="00000400000000000000" charset="0"/>
              <a:cs typeface="Montserrat Light" panose="00000400000000000000" charset="0"/>
            </a:endParaRPr>
          </a:p>
          <a:p>
            <a:pPr algn="r">
              <a:lnSpc>
                <a:spcPct val="30000"/>
              </a:lnSpc>
            </a:pPr>
            <a:endParaRPr lang="pt-BR" altLang="en-US" sz="2000">
              <a:latin typeface="Montserrat Light" panose="00000400000000000000" charset="0"/>
              <a:cs typeface="Montserrat Light" panose="00000400000000000000" charset="0"/>
            </a:endParaRPr>
          </a:p>
        </p:txBody>
      </p:sp>
      <p:pic>
        <p:nvPicPr>
          <p:cNvPr id="22" name="Imagem 21" descr="GBD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4610" y="200025"/>
            <a:ext cx="1085850" cy="542925"/>
          </a:xfrm>
          <a:prstGeom prst="rect">
            <a:avLst/>
          </a:prstGeom>
        </p:spPr>
      </p:pic>
      <p:pic>
        <p:nvPicPr>
          <p:cNvPr id="23" name="Imagem 22" descr="Logo_Unesp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7190" y="247650"/>
            <a:ext cx="1393190" cy="448310"/>
          </a:xfrm>
          <a:prstGeom prst="rect">
            <a:avLst/>
          </a:prstGeom>
        </p:spPr>
      </p:pic>
      <p:cxnSp>
        <p:nvCxnSpPr>
          <p:cNvPr id="24" name="Conector Reto 23"/>
          <p:cNvCxnSpPr/>
          <p:nvPr/>
        </p:nvCxnSpPr>
        <p:spPr>
          <a:xfrm flipH="1">
            <a:off x="7372985" y="180975"/>
            <a:ext cx="5080" cy="539115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1156335" y="1881505"/>
            <a:ext cx="6840855" cy="708660"/>
          </a:xfrm>
        </p:spPr>
        <p:txBody>
          <a:bodyPr>
            <a:noAutofit/>
          </a:bodyPr>
          <a:lstStyle>
            <a:lvl1pPr algn="ctr">
              <a:defRPr sz="4800" b="1">
                <a:latin typeface="Montserrat ExtraBold" panose="00000900000000000000" charset="0"/>
                <a:cs typeface="Montserrat ExtraBold" panose="00000900000000000000" charset="0"/>
              </a:defRPr>
            </a:lvl1pPr>
          </a:lstStyle>
          <a:p>
            <a:r>
              <a:rPr lang="en-US"/>
              <a:t>Click to edit Master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156335" y="2477135"/>
            <a:ext cx="6840855" cy="823595"/>
          </a:xfrm>
        </p:spPr>
        <p:txBody>
          <a:bodyPr anchor="b">
            <a:noAutofit/>
          </a:bodyPr>
          <a:lstStyle>
            <a:lvl1pPr marL="0" indent="0" algn="ctr">
              <a:buNone/>
              <a:defRPr sz="4400" b="0">
                <a:latin typeface="Montserrat" panose="00000500000000000000" charset="0"/>
                <a:cs typeface="Montserrat" panose="00000500000000000000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"/>
          </p:nvPr>
        </p:nvSpPr>
        <p:spPr>
          <a:xfrm>
            <a:off x="2821305" y="3749675"/>
            <a:ext cx="3510915" cy="1250315"/>
          </a:xfrm>
        </p:spPr>
        <p:txBody>
          <a:bodyPr/>
          <a:lstStyle>
            <a:lvl1pPr marL="0" indent="0" algn="ctr">
              <a:lnSpc>
                <a:spcPct val="70000"/>
              </a:lnSpc>
              <a:buNone/>
              <a:defRPr sz="1600">
                <a:latin typeface="Montserrat Light" panose="00000400000000000000" charset="0"/>
                <a:cs typeface="Montserrat Light" panose="00000400000000000000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grpSp>
        <p:nvGrpSpPr>
          <p:cNvPr id="6" name="Grupo 5"/>
          <p:cNvGrpSpPr/>
          <p:nvPr/>
        </p:nvGrpSpPr>
        <p:grpSpPr>
          <a:xfrm>
            <a:off x="84455" y="5825490"/>
            <a:ext cx="9073515" cy="176530"/>
            <a:chOff x="133" y="9174"/>
            <a:chExt cx="14289" cy="278"/>
          </a:xfrm>
          <a:gradFill>
            <a:gsLst>
              <a:gs pos="0">
                <a:srgbClr val="4E7FBA"/>
              </a:gs>
              <a:gs pos="100000">
                <a:srgbClr val="2E4A6D"/>
              </a:gs>
            </a:gsLst>
            <a:lin ang="17820000" scaled="0"/>
          </a:gradFill>
        </p:grpSpPr>
        <p:sp>
          <p:nvSpPr>
            <p:cNvPr id="12" name="Retângulo 11"/>
            <p:cNvSpPr/>
            <p:nvPr/>
          </p:nvSpPr>
          <p:spPr>
            <a:xfrm>
              <a:off x="1886" y="9174"/>
              <a:ext cx="12536" cy="2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altLang="en-US"/>
            </a:p>
          </p:txBody>
        </p:sp>
        <p:sp>
          <p:nvSpPr>
            <p:cNvPr id="13" name="Elipse 12"/>
            <p:cNvSpPr/>
            <p:nvPr/>
          </p:nvSpPr>
          <p:spPr>
            <a:xfrm>
              <a:off x="1744" y="9174"/>
              <a:ext cx="278" cy="27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altLang="en-US"/>
            </a:p>
          </p:txBody>
        </p:sp>
        <p:sp>
          <p:nvSpPr>
            <p:cNvPr id="14" name="Elipse 13"/>
            <p:cNvSpPr/>
            <p:nvPr/>
          </p:nvSpPr>
          <p:spPr>
            <a:xfrm>
              <a:off x="133" y="9175"/>
              <a:ext cx="275" cy="27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altLang="en-US"/>
            </a:p>
          </p:txBody>
        </p:sp>
        <p:sp>
          <p:nvSpPr>
            <p:cNvPr id="15" name="Elipse 14"/>
            <p:cNvSpPr/>
            <p:nvPr/>
          </p:nvSpPr>
          <p:spPr>
            <a:xfrm>
              <a:off x="540" y="9175"/>
              <a:ext cx="275" cy="27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altLang="en-US"/>
            </a:p>
          </p:txBody>
        </p:sp>
        <p:sp>
          <p:nvSpPr>
            <p:cNvPr id="16" name="Elipse 15"/>
            <p:cNvSpPr/>
            <p:nvPr/>
          </p:nvSpPr>
          <p:spPr>
            <a:xfrm>
              <a:off x="947" y="9175"/>
              <a:ext cx="275" cy="27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altLang="en-US"/>
            </a:p>
          </p:txBody>
        </p:sp>
        <p:sp>
          <p:nvSpPr>
            <p:cNvPr id="2" name="Elipse 1"/>
            <p:cNvSpPr/>
            <p:nvPr/>
          </p:nvSpPr>
          <p:spPr>
            <a:xfrm>
              <a:off x="1354" y="9175"/>
              <a:ext cx="275" cy="27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345028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93520"/>
            <a:ext cx="7886700" cy="4351338"/>
          </a:xfrm>
        </p:spPr>
        <p:txBody>
          <a:bodyPr/>
          <a:lstStyle>
            <a:lvl1pPr>
              <a:buSzPct val="100000"/>
              <a:buBlip>
                <a:blip r:embed="rId2"/>
              </a:buBlip>
              <a:defRPr sz="2000">
                <a:latin typeface="Montserrat Light" panose="00000400000000000000" charset="0"/>
                <a:cs typeface="Montserrat Light" panose="00000400000000000000" charset="0"/>
              </a:defRPr>
            </a:lvl1pPr>
            <a:lvl2pPr>
              <a:buSzPct val="100000"/>
              <a:buBlip>
                <a:blip r:embed="rId2"/>
              </a:buBlip>
              <a:defRPr sz="1800">
                <a:latin typeface="Montserrat Light" panose="00000400000000000000" charset="0"/>
                <a:cs typeface="Montserrat Light" panose="00000400000000000000" charset="0"/>
              </a:defRPr>
            </a:lvl2pPr>
            <a:lvl3pPr>
              <a:buSzPct val="100000"/>
              <a:buBlip>
                <a:blip r:embed="rId2"/>
              </a:buBlip>
              <a:defRPr sz="1600">
                <a:latin typeface="Montserrat Light" panose="00000400000000000000" charset="0"/>
                <a:cs typeface="Montserrat Light" panose="00000400000000000000" charset="0"/>
              </a:defRPr>
            </a:lvl3pPr>
            <a:lvl4pPr>
              <a:buSzPct val="100000"/>
              <a:buBlip>
                <a:blip r:embed="rId2"/>
              </a:buBlip>
              <a:defRPr sz="1800">
                <a:solidFill>
                  <a:schemeClr val="bg1">
                    <a:lumMod val="50000"/>
                  </a:schemeClr>
                </a:solidFill>
                <a:latin typeface="Montserrat Light" panose="00000400000000000000" charset="0"/>
                <a:cs typeface="Montserrat Light" panose="00000400000000000000" charset="0"/>
              </a:defRPr>
            </a:lvl4pPr>
            <a:lvl5pPr>
              <a:buSzPct val="100000"/>
              <a:buBlip>
                <a:blip r:embed="rId2"/>
              </a:buBlip>
              <a:defRPr>
                <a:solidFill>
                  <a:schemeClr val="bg1">
                    <a:lumMod val="75000"/>
                  </a:schemeClr>
                </a:solidFill>
                <a:latin typeface="Montserrat Light" panose="00000400000000000000" charset="0"/>
                <a:cs typeface="Montserrat Light" panose="00000400000000000000" charset="0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3353435" cy="365125"/>
          </a:xfrm>
        </p:spPr>
        <p:txBody>
          <a:bodyPr/>
          <a:lstStyle>
            <a:lvl1pPr>
              <a:defRPr>
                <a:latin typeface="Montserrat Light" panose="00000400000000000000" charset="0"/>
                <a:cs typeface="Montserrat Light" panose="00000400000000000000" charset="0"/>
              </a:defRPr>
            </a:lvl1pPr>
          </a:lstStyle>
          <a:p>
            <a:fld id="{C3BAB108-7E75-4718-8268-A66FB5D033E9}" type="datetime2">
              <a:rPr lang="en-US" smtClean="0"/>
              <a:t>Tuesday, May 6, 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53660" y="6356350"/>
            <a:ext cx="3361690" cy="365125"/>
          </a:xfrm>
        </p:spPr>
        <p:txBody>
          <a:bodyPr/>
          <a:lstStyle>
            <a:lvl1pPr algn="r">
              <a:defRPr>
                <a:latin typeface="Montserrat Light" panose="00000400000000000000" charset="0"/>
                <a:cs typeface="Montserrat Light" panose="00000400000000000000" charset="0"/>
              </a:defRPr>
            </a:lvl1pPr>
          </a:lstStyle>
          <a:p>
            <a:r>
              <a:rPr lang="pt-BR"/>
              <a:t>UNESP - São José do Rio Preto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90060" y="6356350"/>
            <a:ext cx="563245" cy="365125"/>
          </a:xfrm>
        </p:spPr>
        <p:txBody>
          <a:bodyPr/>
          <a:lstStyle>
            <a:lvl1pPr algn="ctr">
              <a:defRPr b="1" u="sng">
                <a:solidFill>
                  <a:srgbClr val="4F7FBB"/>
                </a:solidFill>
                <a:latin typeface="Montserrat Medium" panose="00000600000000000000" charset="0"/>
                <a:cs typeface="Montserrat Medium" panose="00000600000000000000" charset="0"/>
              </a:defRPr>
            </a:lvl1pPr>
          </a:lstStyle>
          <a:p>
            <a:fld id="{BFFBBEDC-3E96-4211-870F-5846E77DF70B}" type="slidenum">
              <a:rPr lang="pt-BR" smtClean="0"/>
              <a:t>‹nº›</a:t>
            </a:fld>
            <a:endParaRPr lang="pt-BR"/>
          </a:p>
        </p:txBody>
      </p:sp>
      <p:sp>
        <p:nvSpPr>
          <p:cNvPr id="12" name="Retângulo 11"/>
          <p:cNvSpPr/>
          <p:nvPr/>
        </p:nvSpPr>
        <p:spPr>
          <a:xfrm>
            <a:off x="-9525" y="-19050"/>
            <a:ext cx="9172575" cy="98044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altLang="en-US"/>
          </a:p>
        </p:txBody>
      </p:sp>
      <p:sp>
        <p:nvSpPr>
          <p:cNvPr id="7" name="Retângulo 6"/>
          <p:cNvSpPr/>
          <p:nvPr/>
        </p:nvSpPr>
        <p:spPr>
          <a:xfrm>
            <a:off x="-9525" y="911860"/>
            <a:ext cx="968375" cy="142240"/>
          </a:xfrm>
          <a:prstGeom prst="rect">
            <a:avLst/>
          </a:prstGeom>
          <a:solidFill>
            <a:srgbClr val="2942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altLang="en-US"/>
          </a:p>
        </p:txBody>
      </p:sp>
      <p:sp>
        <p:nvSpPr>
          <p:cNvPr id="8" name="Retângulo 7"/>
          <p:cNvSpPr/>
          <p:nvPr/>
        </p:nvSpPr>
        <p:spPr>
          <a:xfrm>
            <a:off x="1066165" y="911860"/>
            <a:ext cx="8096885" cy="142240"/>
          </a:xfrm>
          <a:prstGeom prst="rect">
            <a:avLst/>
          </a:prstGeom>
          <a:gradFill>
            <a:gsLst>
              <a:gs pos="0">
                <a:srgbClr val="4F80BC"/>
              </a:gs>
              <a:gs pos="100000">
                <a:srgbClr val="294261"/>
              </a:gs>
            </a:gsLst>
            <a:lin ang="1884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altLang="en-US"/>
          </a:p>
        </p:txBody>
      </p:sp>
      <p:sp>
        <p:nvSpPr>
          <p:cNvPr id="9" name="Fluxograma: Terminator 8"/>
          <p:cNvSpPr/>
          <p:nvPr/>
        </p:nvSpPr>
        <p:spPr>
          <a:xfrm rot="5400000">
            <a:off x="473075" y="354965"/>
            <a:ext cx="502920" cy="160020"/>
          </a:xfrm>
          <a:prstGeom prst="flowChartTerminator">
            <a:avLst/>
          </a:prstGeom>
          <a:gradFill>
            <a:gsLst>
              <a:gs pos="0">
                <a:srgbClr val="4F80BC"/>
              </a:gs>
              <a:gs pos="100000">
                <a:srgbClr val="294261"/>
              </a:gs>
            </a:gsLst>
            <a:lin ang="184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altLang="en-US"/>
          </a:p>
        </p:txBody>
      </p:sp>
      <p:pic>
        <p:nvPicPr>
          <p:cNvPr id="22" name="Imagem 21" descr="GBD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4610" y="179070"/>
            <a:ext cx="1085850" cy="542925"/>
          </a:xfrm>
          <a:prstGeom prst="rect">
            <a:avLst/>
          </a:prstGeom>
        </p:spPr>
      </p:pic>
      <p:cxnSp>
        <p:nvCxnSpPr>
          <p:cNvPr id="24" name="Conector Reto 23"/>
          <p:cNvCxnSpPr/>
          <p:nvPr/>
        </p:nvCxnSpPr>
        <p:spPr>
          <a:xfrm flipH="1">
            <a:off x="7372985" y="180975"/>
            <a:ext cx="5080" cy="539115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7095" y="239395"/>
            <a:ext cx="6486525" cy="471805"/>
          </a:xfrm>
        </p:spPr>
        <p:txBody>
          <a:bodyPr>
            <a:noAutofit/>
          </a:bodyPr>
          <a:lstStyle>
            <a:lvl1pPr>
              <a:defRPr sz="2800" b="1">
                <a:latin typeface="Montserrat" panose="00000500000000000000" charset="0"/>
                <a:cs typeface="Montserrat" panose="00000500000000000000" charset="0"/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870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370013"/>
            <a:ext cx="7886700" cy="2852737"/>
          </a:xfrm>
        </p:spPr>
        <p:txBody>
          <a:bodyPr anchor="b"/>
          <a:lstStyle>
            <a:lvl1pPr>
              <a:defRPr sz="4000">
                <a:latin typeface="Montserrat SemiBold" panose="00000700000000000000" charset="0"/>
                <a:cs typeface="Montserrat SemiBold" panose="00000700000000000000" charset="0"/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332288"/>
            <a:ext cx="7886700" cy="1500187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Montserrat Light" panose="00000400000000000000" charset="0"/>
                <a:cs typeface="Montserrat Light" panose="00000400000000000000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charset="0"/>
                <a:cs typeface="Montserrat" panose="00000500000000000000" charset="0"/>
              </a:defRPr>
            </a:lvl1pPr>
          </a:lstStyle>
          <a:p>
            <a:fld id="{E8D8782B-4C9D-47D2-8CF8-8CA9A2660C54}" type="datetime2">
              <a:rPr lang="en-US" smtClean="0"/>
              <a:t>Tuesday, May 6, 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charset="0"/>
                <a:cs typeface="Montserrat" panose="00000500000000000000" charset="0"/>
              </a:defRPr>
            </a:lvl1pPr>
          </a:lstStyle>
          <a:p>
            <a:r>
              <a:rPr lang="pt-BR"/>
              <a:t>UNESP - São José do Rio Preto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charset="0"/>
                <a:cs typeface="Montserrat" panose="00000500000000000000" charset="0"/>
              </a:defRPr>
            </a:lvl1pPr>
          </a:lstStyle>
          <a:p>
            <a:fld id="{BFFBBEDC-3E96-4211-870F-5846E77DF70B}" type="slidenum">
              <a:rPr lang="pt-BR" smtClean="0"/>
              <a:t>‹nº›</a:t>
            </a:fld>
            <a:endParaRPr lang="pt-BR"/>
          </a:p>
        </p:txBody>
      </p:sp>
      <p:sp>
        <p:nvSpPr>
          <p:cNvPr id="12" name="Retângulo 11"/>
          <p:cNvSpPr/>
          <p:nvPr/>
        </p:nvSpPr>
        <p:spPr>
          <a:xfrm>
            <a:off x="-9525" y="-19050"/>
            <a:ext cx="9172575" cy="98044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altLang="en-US"/>
          </a:p>
        </p:txBody>
      </p:sp>
      <p:sp>
        <p:nvSpPr>
          <p:cNvPr id="9" name="Fluxograma: Terminator 8"/>
          <p:cNvSpPr/>
          <p:nvPr/>
        </p:nvSpPr>
        <p:spPr>
          <a:xfrm rot="5400000">
            <a:off x="473075" y="354965"/>
            <a:ext cx="502920" cy="160020"/>
          </a:xfrm>
          <a:prstGeom prst="flowChartTerminator">
            <a:avLst/>
          </a:prstGeom>
          <a:gradFill>
            <a:gsLst>
              <a:gs pos="0">
                <a:srgbClr val="4F80BC"/>
              </a:gs>
              <a:gs pos="100000">
                <a:srgbClr val="294261"/>
              </a:gs>
            </a:gsLst>
            <a:lin ang="184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altLang="en-US"/>
          </a:p>
        </p:txBody>
      </p:sp>
      <p:pic>
        <p:nvPicPr>
          <p:cNvPr id="22" name="Imagem 21" descr="GBD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4610" y="179070"/>
            <a:ext cx="1085850" cy="542925"/>
          </a:xfrm>
          <a:prstGeom prst="rect">
            <a:avLst/>
          </a:prstGeom>
        </p:spPr>
      </p:pic>
      <p:cxnSp>
        <p:nvCxnSpPr>
          <p:cNvPr id="24" name="Conector Reto 23"/>
          <p:cNvCxnSpPr/>
          <p:nvPr/>
        </p:nvCxnSpPr>
        <p:spPr>
          <a:xfrm flipH="1">
            <a:off x="7372985" y="180975"/>
            <a:ext cx="5080" cy="539115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1"/>
          <p:cNvSpPr>
            <a:spLocks noGrp="1"/>
          </p:cNvSpPr>
          <p:nvPr/>
        </p:nvSpPr>
        <p:spPr>
          <a:xfrm>
            <a:off x="887095" y="199390"/>
            <a:ext cx="6403340" cy="4718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3600" b="1"/>
            </a:lvl1pPr>
          </a:lstStyle>
          <a:p>
            <a:r>
              <a:rPr lang="en-US" sz="2800">
                <a:latin typeface="Montserrat" panose="00000500000000000000" charset="0"/>
                <a:cs typeface="Montserrat" panose="00000500000000000000" charset="0"/>
              </a:rPr>
              <a:t>Click to edit Master title style</a:t>
            </a:r>
          </a:p>
        </p:txBody>
      </p:sp>
      <p:cxnSp>
        <p:nvCxnSpPr>
          <p:cNvPr id="11" name="Conector Reto 10"/>
          <p:cNvCxnSpPr/>
          <p:nvPr/>
        </p:nvCxnSpPr>
        <p:spPr>
          <a:xfrm>
            <a:off x="604520" y="4271645"/>
            <a:ext cx="7905750" cy="0"/>
          </a:xfrm>
          <a:prstGeom prst="line">
            <a:avLst/>
          </a:prstGeom>
          <a:ln w="12700">
            <a:solidFill>
              <a:schemeClr val="tx1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tângulo 12"/>
          <p:cNvSpPr/>
          <p:nvPr/>
        </p:nvSpPr>
        <p:spPr>
          <a:xfrm>
            <a:off x="-9525" y="911860"/>
            <a:ext cx="968375" cy="142240"/>
          </a:xfrm>
          <a:prstGeom prst="rect">
            <a:avLst/>
          </a:prstGeom>
          <a:solidFill>
            <a:srgbClr val="2942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altLang="en-US"/>
          </a:p>
        </p:txBody>
      </p:sp>
      <p:sp>
        <p:nvSpPr>
          <p:cNvPr id="14" name="Retângulo 13"/>
          <p:cNvSpPr/>
          <p:nvPr/>
        </p:nvSpPr>
        <p:spPr>
          <a:xfrm>
            <a:off x="1066165" y="911860"/>
            <a:ext cx="8096885" cy="142240"/>
          </a:xfrm>
          <a:prstGeom prst="rect">
            <a:avLst/>
          </a:prstGeom>
          <a:gradFill>
            <a:gsLst>
              <a:gs pos="0">
                <a:srgbClr val="4F80BC"/>
              </a:gs>
              <a:gs pos="100000">
                <a:srgbClr val="294261"/>
              </a:gs>
            </a:gsLst>
            <a:lin ang="1884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3076328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438910"/>
            <a:ext cx="3886200" cy="4738370"/>
          </a:xfrm>
        </p:spPr>
        <p:txBody>
          <a:bodyPr/>
          <a:lstStyle>
            <a:lvl1pPr>
              <a:buSzPct val="100000"/>
              <a:buBlip>
                <a:blip r:embed="rId2"/>
              </a:buBlip>
              <a:defRPr sz="2000">
                <a:latin typeface="Montserrat Light" panose="00000400000000000000" charset="0"/>
                <a:cs typeface="Montserrat Light" panose="00000400000000000000" charset="0"/>
              </a:defRPr>
            </a:lvl1pPr>
            <a:lvl2pPr>
              <a:buSzPct val="100000"/>
              <a:buBlip>
                <a:blip r:embed="rId2"/>
              </a:buBlip>
              <a:defRPr sz="2000">
                <a:latin typeface="Montserrat Light" panose="00000400000000000000" charset="0"/>
                <a:cs typeface="Montserrat Light" panose="00000400000000000000" charset="0"/>
              </a:defRPr>
            </a:lvl2pPr>
            <a:lvl3pPr>
              <a:buSzPct val="100000"/>
              <a:buBlip>
                <a:blip r:embed="rId2"/>
              </a:buBlip>
              <a:defRPr sz="1800">
                <a:latin typeface="Montserrat Light" panose="00000400000000000000" charset="0"/>
                <a:cs typeface="Montserrat Light" panose="00000400000000000000" charset="0"/>
              </a:defRPr>
            </a:lvl3pPr>
            <a:lvl4pPr>
              <a:buSzPct val="100000"/>
              <a:buBlip>
                <a:blip r:embed="rId2"/>
              </a:buBlip>
              <a:defRPr sz="1800">
                <a:latin typeface="Montserrat Light" panose="00000400000000000000" charset="0"/>
                <a:cs typeface="Montserrat Light" panose="00000400000000000000" charset="0"/>
              </a:defRPr>
            </a:lvl4pPr>
            <a:lvl5pPr>
              <a:buSzPct val="100000"/>
              <a:buBlip>
                <a:blip r:embed="rId2"/>
              </a:buBlip>
              <a:defRPr sz="1800">
                <a:latin typeface="Montserrat Light" panose="00000400000000000000" charset="0"/>
                <a:cs typeface="Montserrat Light" panose="00000400000000000000" charset="0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438910"/>
            <a:ext cx="3886200" cy="4738370"/>
          </a:xfrm>
        </p:spPr>
        <p:txBody>
          <a:bodyPr/>
          <a:lstStyle>
            <a:lvl1pPr>
              <a:buSzPct val="100000"/>
              <a:buBlip>
                <a:blip r:embed="rId2"/>
              </a:buBlip>
              <a:defRPr sz="2000">
                <a:latin typeface="Montserrat Light" panose="00000400000000000000" charset="0"/>
                <a:cs typeface="Montserrat Light" panose="00000400000000000000" charset="0"/>
              </a:defRPr>
            </a:lvl1pPr>
            <a:lvl2pPr>
              <a:buSzPct val="100000"/>
              <a:buBlip>
                <a:blip r:embed="rId2"/>
              </a:buBlip>
              <a:defRPr sz="2000">
                <a:latin typeface="Montserrat Light" panose="00000400000000000000" charset="0"/>
                <a:cs typeface="Montserrat Light" panose="00000400000000000000" charset="0"/>
              </a:defRPr>
            </a:lvl2pPr>
            <a:lvl3pPr>
              <a:buSzPct val="100000"/>
              <a:buBlip>
                <a:blip r:embed="rId2"/>
              </a:buBlip>
              <a:defRPr sz="1800">
                <a:latin typeface="Montserrat Light" panose="00000400000000000000" charset="0"/>
                <a:cs typeface="Montserrat Light" panose="00000400000000000000" charset="0"/>
              </a:defRPr>
            </a:lvl3pPr>
            <a:lvl4pPr>
              <a:buSzPct val="100000"/>
              <a:buBlip>
                <a:blip r:embed="rId2"/>
              </a:buBlip>
              <a:defRPr sz="1800">
                <a:latin typeface="Montserrat Light" panose="00000400000000000000" charset="0"/>
                <a:cs typeface="Montserrat Light" panose="00000400000000000000" charset="0"/>
              </a:defRPr>
            </a:lvl4pPr>
            <a:lvl5pPr>
              <a:buSzPct val="100000"/>
              <a:buBlip>
                <a:blip r:embed="rId2"/>
              </a:buBlip>
              <a:defRPr sz="1800">
                <a:latin typeface="Montserrat Light" panose="00000400000000000000" charset="0"/>
                <a:cs typeface="Montserrat Light" panose="00000400000000000000" charset="0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40089-6091-4841-9062-3229062F4330}" type="datetime2">
              <a:rPr lang="en-US" smtClean="0"/>
              <a:t>Tuesday, May 6, 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UNESP - São José do Rio Preto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BBEDC-3E96-4211-870F-5846E77DF70B}" type="slidenum">
              <a:rPr lang="pt-BR" smtClean="0"/>
              <a:t>‹nº›</a:t>
            </a:fld>
            <a:endParaRPr lang="pt-BR"/>
          </a:p>
        </p:txBody>
      </p:sp>
      <p:sp>
        <p:nvSpPr>
          <p:cNvPr id="12" name="Retângulo 11"/>
          <p:cNvSpPr/>
          <p:nvPr/>
        </p:nvSpPr>
        <p:spPr>
          <a:xfrm>
            <a:off x="-9525" y="-19050"/>
            <a:ext cx="9172575" cy="98044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altLang="en-US"/>
          </a:p>
        </p:txBody>
      </p:sp>
      <p:sp>
        <p:nvSpPr>
          <p:cNvPr id="10" name="Fluxograma: Terminator 9"/>
          <p:cNvSpPr/>
          <p:nvPr/>
        </p:nvSpPr>
        <p:spPr>
          <a:xfrm rot="5400000">
            <a:off x="473075" y="354965"/>
            <a:ext cx="502920" cy="160020"/>
          </a:xfrm>
          <a:prstGeom prst="flowChartTerminator">
            <a:avLst/>
          </a:prstGeom>
          <a:gradFill>
            <a:gsLst>
              <a:gs pos="0">
                <a:srgbClr val="4F80BC"/>
              </a:gs>
              <a:gs pos="100000">
                <a:srgbClr val="294261"/>
              </a:gs>
            </a:gsLst>
            <a:lin ang="184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altLang="en-US"/>
          </a:p>
        </p:txBody>
      </p:sp>
      <p:pic>
        <p:nvPicPr>
          <p:cNvPr id="22" name="Imagem 21" descr="GBD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4610" y="179070"/>
            <a:ext cx="1085850" cy="542925"/>
          </a:xfrm>
          <a:prstGeom prst="rect">
            <a:avLst/>
          </a:prstGeom>
        </p:spPr>
      </p:pic>
      <p:cxnSp>
        <p:nvCxnSpPr>
          <p:cNvPr id="24" name="Conector Reto 23"/>
          <p:cNvCxnSpPr/>
          <p:nvPr/>
        </p:nvCxnSpPr>
        <p:spPr>
          <a:xfrm flipH="1">
            <a:off x="7372985" y="180975"/>
            <a:ext cx="5080" cy="539115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545" y="228600"/>
            <a:ext cx="6574155" cy="479425"/>
          </a:xfrm>
        </p:spPr>
        <p:txBody>
          <a:bodyPr>
            <a:noAutofit/>
          </a:bodyPr>
          <a:lstStyle>
            <a:lvl1pPr>
              <a:defRPr sz="2800" b="1">
                <a:latin typeface="Montserrat" panose="00000500000000000000" charset="0"/>
                <a:cs typeface="Montserrat" panose="00000500000000000000" charset="0"/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11" name="Retângulo 10"/>
          <p:cNvSpPr/>
          <p:nvPr/>
        </p:nvSpPr>
        <p:spPr>
          <a:xfrm>
            <a:off x="-9525" y="911860"/>
            <a:ext cx="968375" cy="142240"/>
          </a:xfrm>
          <a:prstGeom prst="rect">
            <a:avLst/>
          </a:prstGeom>
          <a:solidFill>
            <a:srgbClr val="2942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altLang="en-US"/>
          </a:p>
        </p:txBody>
      </p:sp>
      <p:sp>
        <p:nvSpPr>
          <p:cNvPr id="14" name="Retângulo 13"/>
          <p:cNvSpPr/>
          <p:nvPr/>
        </p:nvSpPr>
        <p:spPr>
          <a:xfrm>
            <a:off x="1066165" y="911860"/>
            <a:ext cx="8096885" cy="142240"/>
          </a:xfrm>
          <a:prstGeom prst="rect">
            <a:avLst/>
          </a:prstGeom>
          <a:gradFill>
            <a:gsLst>
              <a:gs pos="0">
                <a:srgbClr val="4F80BC"/>
              </a:gs>
              <a:gs pos="100000">
                <a:srgbClr val="294261"/>
              </a:gs>
            </a:gsLst>
            <a:lin ang="1884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1621887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7093E-9920-4CA3-B8AC-97825EE4DA52}" type="datetime2">
              <a:rPr lang="en-US" smtClean="0"/>
              <a:t>Tuesday, May 6, 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UNESP - São José do Rio Preto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BBEDC-3E96-4211-870F-5846E77DF70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8021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F86DA-6766-4BA3-84DF-3BF0D8491A62}" type="datetime2">
              <a:rPr lang="en-US" smtClean="0"/>
              <a:t>Tuesday, May 6, 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UNESP - São José do Rio Preto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BBEDC-3E96-4211-870F-5846E77DF70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6361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FE52B-A67D-4933-BD06-59A28078270E}" type="datetime2">
              <a:rPr lang="en-US" smtClean="0"/>
              <a:t>Tuesday, May 6, 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UNESP - São José do Rio Preto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BBEDC-3E96-4211-870F-5846E77DF70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5802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8C708-5336-41B4-97F6-DF585A64C393}" type="datetime2">
              <a:rPr lang="en-US" smtClean="0"/>
              <a:t>Tuesday, May 6, 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UNESP - São José do Rio Preto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BBEDC-3E96-4211-870F-5846E77DF70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5554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500B2-EF78-49B5-A4E4-24B7D2F35F4E}" type="datetime2">
              <a:rPr lang="en-US" smtClean="0"/>
              <a:t>Tuesday, May 6, 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UNESP - São José do Rio Preto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BBEDC-3E96-4211-870F-5846E77DF70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0093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Slide de títul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/>
              <a:t>Clique para editar o estilo do subtítulo mestre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E94DEFEA-1D39-40E4-8F09-3382D8FFF535}" type="datetime2">
              <a:rPr lang="en-US" smtClean="0"/>
              <a:t>Tuesday, May 6, 2025</a:t>
            </a:fld>
            <a:endParaRPr lang="pt-BR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r>
              <a:rPr lang="pt-BR"/>
              <a:t>UNESP - São José do Rio Preto</a:t>
            </a: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BFFBBEDC-3E96-4211-870F-5846E77DF70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25751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BEC7E3-3B58-46FF-BB32-EF06C5C1B6BD}" type="datetime2">
              <a:rPr lang="en-US" smtClean="0"/>
              <a:t>Tuesday, May 6, 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/>
              <a:t>UNESP - São José do Rio Preto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FBBEDC-3E96-4211-870F-5846E77DF70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9556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0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ço Reservado para Rodapé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altLang="en-US"/>
              <a:t>UNESP - São José do Rio Preto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1899" y="1196752"/>
            <a:ext cx="8240201" cy="823595"/>
          </a:xfrm>
        </p:spPr>
        <p:txBody>
          <a:bodyPr/>
          <a:lstStyle/>
          <a:p>
            <a:r>
              <a:rPr lang="pt-BR" altLang="en-US" dirty="0"/>
              <a:t>Teoria de banco de dados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2821305" y="3787775"/>
            <a:ext cx="3510915" cy="1250315"/>
          </a:xfrm>
        </p:spPr>
        <p:txBody>
          <a:bodyPr/>
          <a:lstStyle/>
          <a:p>
            <a:r>
              <a:rPr lang="pt-BR" altLang="en-US" dirty="0"/>
              <a:t>GBD - Grupo de Banco de Dados</a:t>
            </a:r>
          </a:p>
          <a:p>
            <a:r>
              <a:rPr lang="pt-BR" altLang="en-US" dirty="0"/>
              <a:t>Carlos Roberto </a:t>
            </a:r>
            <a:r>
              <a:rPr lang="pt-BR" altLang="en-US" dirty="0" err="1"/>
              <a:t>Valêncio</a:t>
            </a:r>
            <a:endParaRPr lang="pt-BR" altLang="en-US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8543E6E-E240-401B-965F-B8434FEDD421}"/>
              </a:ext>
            </a:extLst>
          </p:cNvPr>
          <p:cNvSpPr txBox="1"/>
          <p:nvPr/>
        </p:nvSpPr>
        <p:spPr>
          <a:xfrm>
            <a:off x="1475655" y="2385576"/>
            <a:ext cx="6192688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defRPr/>
            </a:pPr>
            <a:r>
              <a:rPr lang="en-US" sz="2800" dirty="0">
                <a:latin typeface="Montserrat" panose="00000500000000000000" charset="0"/>
              </a:rPr>
              <a:t>SQL e PostgreSQL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600" dirty="0"/>
              <a:t>SQL</a:t>
            </a:r>
          </a:p>
          <a:p>
            <a:pPr lvl="1"/>
            <a:endParaRPr lang="pt-BR" sz="2400" dirty="0"/>
          </a:p>
          <a:p>
            <a:pPr eaLnBrk="1" hangingPunct="1"/>
            <a:r>
              <a:rPr lang="pt-BR" sz="2400" dirty="0"/>
              <a:t>PostgreSQL e </a:t>
            </a:r>
            <a:r>
              <a:rPr lang="pt-BR" sz="2400" dirty="0" err="1"/>
              <a:t>pgAdmin</a:t>
            </a:r>
            <a:endParaRPr lang="pt-BR" sz="2400" dirty="0"/>
          </a:p>
          <a:p>
            <a:pPr eaLnBrk="1" hangingPunct="1"/>
            <a:endParaRPr lang="pt-BR" dirty="0"/>
          </a:p>
        </p:txBody>
      </p:sp>
      <p:sp>
        <p:nvSpPr>
          <p:cNvPr id="11267" name="Rectangle 2"/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pt-BR" dirty="0"/>
              <a:t>Tópicos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2DEF3C6-8884-4DD9-BBE4-E43372777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UNESP - São José do Rio Preto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4BD871F-DEF7-43CA-A173-9F6EC3636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BBEDC-3E96-4211-870F-5846E77DF70B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81560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Espaço Reservado para Conteúdo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1033915"/>
              </p:ext>
            </p:extLst>
          </p:nvPr>
        </p:nvGraphicFramePr>
        <p:xfrm>
          <a:off x="1547665" y="3106492"/>
          <a:ext cx="5904655" cy="21947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09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09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09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09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09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6037">
                <a:tc>
                  <a:txBody>
                    <a:bodyPr/>
                    <a:lstStyle/>
                    <a:p>
                      <a:endParaRPr lang="pt-BR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endParaRPr lang="pt-BR" sz="180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endParaRPr lang="pt-BR" sz="180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endParaRPr lang="pt-BR" sz="180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endParaRPr lang="pt-BR" sz="1800"/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037">
                <a:tc>
                  <a:txBody>
                    <a:bodyPr/>
                    <a:lstStyle/>
                    <a:p>
                      <a:endParaRPr lang="pt-BR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endParaRPr lang="pt-BR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endParaRPr lang="pt-BR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endParaRPr lang="pt-BR" sz="180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endParaRPr lang="pt-BR" sz="1800"/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037">
                <a:tc>
                  <a:txBody>
                    <a:bodyPr/>
                    <a:lstStyle/>
                    <a:p>
                      <a:endParaRPr lang="pt-BR" sz="180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endParaRPr lang="pt-BR" sz="180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endParaRPr lang="pt-BR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endParaRPr lang="pt-BR" sz="180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endParaRPr lang="pt-BR" sz="1800"/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037">
                <a:tc>
                  <a:txBody>
                    <a:bodyPr/>
                    <a:lstStyle/>
                    <a:p>
                      <a:endParaRPr lang="pt-BR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endParaRPr lang="pt-BR" sz="180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endParaRPr lang="pt-BR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endParaRPr lang="pt-BR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endParaRPr lang="pt-BR" sz="1800" dirty="0"/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037">
                <a:tc>
                  <a:txBody>
                    <a:bodyPr/>
                    <a:lstStyle/>
                    <a:p>
                      <a:endParaRPr lang="pt-BR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endParaRPr lang="pt-BR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endParaRPr lang="pt-BR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endParaRPr lang="pt-BR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endParaRPr lang="pt-BR" sz="1800" dirty="0"/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6037">
                <a:tc>
                  <a:txBody>
                    <a:bodyPr/>
                    <a:lstStyle/>
                    <a:p>
                      <a:endParaRPr lang="pt-BR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endParaRPr lang="pt-BR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endParaRPr lang="pt-BR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endParaRPr lang="pt-BR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endParaRPr lang="pt-BR" sz="1800" dirty="0"/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7890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Revisando</a:t>
            </a:r>
          </a:p>
        </p:txBody>
      </p:sp>
      <p:sp>
        <p:nvSpPr>
          <p:cNvPr id="37936" name="CaixaDeTexto 9"/>
          <p:cNvSpPr txBox="1">
            <a:spLocks noChangeArrowheads="1"/>
          </p:cNvSpPr>
          <p:nvPr/>
        </p:nvSpPr>
        <p:spPr bwMode="auto">
          <a:xfrm>
            <a:off x="6588224" y="2020198"/>
            <a:ext cx="231505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pt-BR" b="1" dirty="0">
                <a:solidFill>
                  <a:srgbClr val="FF0000"/>
                </a:solidFill>
                <a:latin typeface="+mn-lt"/>
              </a:rPr>
              <a:t>Tabela ou relação</a:t>
            </a:r>
          </a:p>
        </p:txBody>
      </p:sp>
      <p:cxnSp>
        <p:nvCxnSpPr>
          <p:cNvPr id="4" name="Conector de seta reta 3"/>
          <p:cNvCxnSpPr/>
          <p:nvPr/>
        </p:nvCxnSpPr>
        <p:spPr>
          <a:xfrm flipV="1">
            <a:off x="7236296" y="2420889"/>
            <a:ext cx="0" cy="504055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611560" y="2348880"/>
            <a:ext cx="7776864" cy="3672408"/>
          </a:xfrm>
          <a:prstGeom prst="ellipse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/>
          <p:cNvSpPr/>
          <p:nvPr/>
        </p:nvSpPr>
        <p:spPr>
          <a:xfrm>
            <a:off x="1547664" y="3068960"/>
            <a:ext cx="5904656" cy="360040"/>
          </a:xfrm>
          <a:prstGeom prst="rect">
            <a:avLst/>
          </a:prstGeom>
          <a:noFill/>
          <a:ln w="4762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9"/>
          <p:cNvSpPr txBox="1">
            <a:spLocks noChangeArrowheads="1"/>
          </p:cNvSpPr>
          <p:nvPr/>
        </p:nvSpPr>
        <p:spPr bwMode="auto">
          <a:xfrm>
            <a:off x="3470488" y="1484784"/>
            <a:ext cx="132440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pt-BR" b="1" dirty="0">
                <a:solidFill>
                  <a:schemeClr val="tx2"/>
                </a:solidFill>
                <a:latin typeface="+mn-lt"/>
              </a:rPr>
              <a:t>Atributos</a:t>
            </a:r>
          </a:p>
        </p:txBody>
      </p:sp>
      <p:cxnSp>
        <p:nvCxnSpPr>
          <p:cNvPr id="14" name="Conector reto 13"/>
          <p:cNvCxnSpPr/>
          <p:nvPr/>
        </p:nvCxnSpPr>
        <p:spPr>
          <a:xfrm flipV="1">
            <a:off x="2411760" y="1854116"/>
            <a:ext cx="1152128" cy="1214844"/>
          </a:xfrm>
          <a:prstGeom prst="line">
            <a:avLst/>
          </a:prstGeom>
          <a:ln w="28575">
            <a:solidFill>
              <a:schemeClr val="tx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/>
          <p:cNvCxnSpPr/>
          <p:nvPr/>
        </p:nvCxnSpPr>
        <p:spPr>
          <a:xfrm flipH="1">
            <a:off x="3563888" y="1854116"/>
            <a:ext cx="288032" cy="1214844"/>
          </a:xfrm>
          <a:prstGeom prst="line">
            <a:avLst/>
          </a:prstGeom>
          <a:ln w="28575">
            <a:solidFill>
              <a:schemeClr val="tx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/>
          <p:nvPr/>
        </p:nvCxnSpPr>
        <p:spPr>
          <a:xfrm flipH="1" flipV="1">
            <a:off x="4211960" y="1854116"/>
            <a:ext cx="454906" cy="1214844"/>
          </a:xfrm>
          <a:prstGeom prst="line">
            <a:avLst/>
          </a:prstGeom>
          <a:ln w="28575">
            <a:solidFill>
              <a:schemeClr val="tx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/>
          <p:cNvCxnSpPr/>
          <p:nvPr/>
        </p:nvCxnSpPr>
        <p:spPr>
          <a:xfrm flipH="1" flipV="1">
            <a:off x="4499992" y="1854116"/>
            <a:ext cx="1296144" cy="1214844"/>
          </a:xfrm>
          <a:prstGeom prst="line">
            <a:avLst/>
          </a:prstGeom>
          <a:ln w="28575">
            <a:solidFill>
              <a:schemeClr val="tx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to 25"/>
          <p:cNvCxnSpPr/>
          <p:nvPr/>
        </p:nvCxnSpPr>
        <p:spPr>
          <a:xfrm flipH="1" flipV="1">
            <a:off x="4788024" y="1854116"/>
            <a:ext cx="1872208" cy="1214844"/>
          </a:xfrm>
          <a:prstGeom prst="line">
            <a:avLst/>
          </a:prstGeom>
          <a:ln w="28575">
            <a:solidFill>
              <a:schemeClr val="tx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aixaDeTexto 9"/>
          <p:cNvSpPr txBox="1">
            <a:spLocks noChangeArrowheads="1"/>
          </p:cNvSpPr>
          <p:nvPr/>
        </p:nvSpPr>
        <p:spPr bwMode="auto">
          <a:xfrm>
            <a:off x="439286" y="5805264"/>
            <a:ext cx="100219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pt-BR" b="1" dirty="0" err="1">
                <a:solidFill>
                  <a:srgbClr val="00B050"/>
                </a:solidFill>
                <a:latin typeface="+mn-lt"/>
              </a:rPr>
              <a:t>Tuplas</a:t>
            </a:r>
            <a:endParaRPr lang="pt-BR" b="1" dirty="0">
              <a:solidFill>
                <a:srgbClr val="00B050"/>
              </a:solidFill>
              <a:latin typeface="+mn-lt"/>
            </a:endParaRPr>
          </a:p>
        </p:txBody>
      </p:sp>
      <p:sp>
        <p:nvSpPr>
          <p:cNvPr id="27" name="Retângulo 26"/>
          <p:cNvSpPr/>
          <p:nvPr/>
        </p:nvSpPr>
        <p:spPr>
          <a:xfrm>
            <a:off x="1547664" y="3501008"/>
            <a:ext cx="5904656" cy="360040"/>
          </a:xfrm>
          <a:prstGeom prst="rect">
            <a:avLst/>
          </a:prstGeom>
          <a:noFill/>
          <a:ln w="476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Retângulo 36"/>
          <p:cNvSpPr/>
          <p:nvPr/>
        </p:nvSpPr>
        <p:spPr>
          <a:xfrm>
            <a:off x="1547664" y="3861048"/>
            <a:ext cx="5904656" cy="360040"/>
          </a:xfrm>
          <a:prstGeom prst="rect">
            <a:avLst/>
          </a:prstGeom>
          <a:noFill/>
          <a:ln w="476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Retângulo 37"/>
          <p:cNvSpPr/>
          <p:nvPr/>
        </p:nvSpPr>
        <p:spPr>
          <a:xfrm>
            <a:off x="1547664" y="4221088"/>
            <a:ext cx="5904656" cy="360040"/>
          </a:xfrm>
          <a:prstGeom prst="rect">
            <a:avLst/>
          </a:prstGeom>
          <a:noFill/>
          <a:ln w="476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Retângulo 38"/>
          <p:cNvSpPr/>
          <p:nvPr/>
        </p:nvSpPr>
        <p:spPr>
          <a:xfrm>
            <a:off x="1547664" y="4581128"/>
            <a:ext cx="5904656" cy="360040"/>
          </a:xfrm>
          <a:prstGeom prst="rect">
            <a:avLst/>
          </a:prstGeom>
          <a:noFill/>
          <a:ln w="476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" name="Retângulo 39"/>
          <p:cNvSpPr/>
          <p:nvPr/>
        </p:nvSpPr>
        <p:spPr>
          <a:xfrm>
            <a:off x="1547664" y="4941168"/>
            <a:ext cx="5904656" cy="360040"/>
          </a:xfrm>
          <a:prstGeom prst="rect">
            <a:avLst/>
          </a:prstGeom>
          <a:noFill/>
          <a:ln w="476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8" name="Conector reto 47"/>
          <p:cNvCxnSpPr>
            <a:stCxn id="30" idx="0"/>
          </p:cNvCxnSpPr>
          <p:nvPr/>
        </p:nvCxnSpPr>
        <p:spPr>
          <a:xfrm flipH="1" flipV="1">
            <a:off x="940384" y="3681028"/>
            <a:ext cx="1" cy="2124236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de seta reta 49"/>
          <p:cNvCxnSpPr>
            <a:endCxn id="27" idx="1"/>
          </p:cNvCxnSpPr>
          <p:nvPr/>
        </p:nvCxnSpPr>
        <p:spPr>
          <a:xfrm>
            <a:off x="940384" y="3681028"/>
            <a:ext cx="607280" cy="0"/>
          </a:xfrm>
          <a:prstGeom prst="straightConnector1">
            <a:avLst/>
          </a:prstGeom>
          <a:ln w="28575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de seta reta 53"/>
          <p:cNvCxnSpPr/>
          <p:nvPr/>
        </p:nvCxnSpPr>
        <p:spPr>
          <a:xfrm>
            <a:off x="940384" y="4077072"/>
            <a:ext cx="607280" cy="0"/>
          </a:xfrm>
          <a:prstGeom prst="straightConnector1">
            <a:avLst/>
          </a:prstGeom>
          <a:ln w="28575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de seta reta 54"/>
          <p:cNvCxnSpPr/>
          <p:nvPr/>
        </p:nvCxnSpPr>
        <p:spPr>
          <a:xfrm>
            <a:off x="940384" y="4437112"/>
            <a:ext cx="607280" cy="0"/>
          </a:xfrm>
          <a:prstGeom prst="straightConnector1">
            <a:avLst/>
          </a:prstGeom>
          <a:ln w="28575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de seta reta 55"/>
          <p:cNvCxnSpPr/>
          <p:nvPr/>
        </p:nvCxnSpPr>
        <p:spPr>
          <a:xfrm>
            <a:off x="940384" y="4797152"/>
            <a:ext cx="607280" cy="0"/>
          </a:xfrm>
          <a:prstGeom prst="straightConnector1">
            <a:avLst/>
          </a:prstGeom>
          <a:ln w="28575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de seta reta 56"/>
          <p:cNvCxnSpPr/>
          <p:nvPr/>
        </p:nvCxnSpPr>
        <p:spPr>
          <a:xfrm>
            <a:off x="940384" y="5157192"/>
            <a:ext cx="607280" cy="0"/>
          </a:xfrm>
          <a:prstGeom prst="straightConnector1">
            <a:avLst/>
          </a:prstGeom>
          <a:ln w="28575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3901776-14E2-4ABC-B36F-0C8E87A88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UNESP - São José do Rio Preto</a:t>
            </a:r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19F77F4-7031-4913-A9A3-8C07FBFB4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BBEDC-3E96-4211-870F-5846E77DF70B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78986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773238"/>
            <a:ext cx="7467600" cy="4700587"/>
          </a:xfrm>
        </p:spPr>
        <p:txBody>
          <a:bodyPr/>
          <a:lstStyle/>
          <a:p>
            <a:r>
              <a:rPr lang="pt-BR" dirty="0"/>
              <a:t>Definição de DML.</a:t>
            </a:r>
          </a:p>
          <a:p>
            <a:r>
              <a:rPr lang="pt-BR" dirty="0"/>
              <a:t>Consultas SQL:</a:t>
            </a:r>
          </a:p>
          <a:p>
            <a:pPr lvl="1"/>
            <a:r>
              <a:rPr lang="pt-BR" sz="2000" dirty="0" err="1"/>
              <a:t>Select</a:t>
            </a:r>
            <a:r>
              <a:rPr lang="pt-BR" sz="2000" dirty="0"/>
              <a:t>, </a:t>
            </a:r>
            <a:r>
              <a:rPr lang="pt-BR" sz="2000" dirty="0" err="1"/>
              <a:t>From</a:t>
            </a:r>
            <a:r>
              <a:rPr lang="pt-BR" sz="2000" dirty="0"/>
              <a:t>, </a:t>
            </a:r>
            <a:r>
              <a:rPr lang="pt-BR" sz="2000" dirty="0" err="1"/>
              <a:t>Where</a:t>
            </a:r>
            <a:r>
              <a:rPr lang="pt-BR" sz="2000" dirty="0"/>
              <a:t>, </a:t>
            </a:r>
            <a:r>
              <a:rPr lang="pt-BR" sz="2000" dirty="0" err="1"/>
              <a:t>Order</a:t>
            </a:r>
            <a:r>
              <a:rPr lang="pt-BR" sz="2000" dirty="0"/>
              <a:t> </a:t>
            </a:r>
            <a:r>
              <a:rPr lang="pt-BR" sz="2000" dirty="0" err="1"/>
              <a:t>By</a:t>
            </a:r>
            <a:r>
              <a:rPr lang="pt-BR" sz="2000" dirty="0"/>
              <a:t>, </a:t>
            </a:r>
            <a:r>
              <a:rPr lang="pt-BR" sz="2000" dirty="0" err="1"/>
              <a:t>Group</a:t>
            </a:r>
            <a:r>
              <a:rPr lang="pt-BR" sz="2000" dirty="0"/>
              <a:t> </a:t>
            </a:r>
            <a:r>
              <a:rPr lang="pt-BR" sz="2000" dirty="0" err="1"/>
              <a:t>By</a:t>
            </a:r>
            <a:r>
              <a:rPr lang="pt-BR" sz="2000" dirty="0"/>
              <a:t>, </a:t>
            </a:r>
            <a:r>
              <a:rPr lang="pt-BR" sz="2000" dirty="0" err="1"/>
              <a:t>Having</a:t>
            </a:r>
            <a:endParaRPr lang="pt-BR" sz="2000" dirty="0"/>
          </a:p>
          <a:p>
            <a:pPr lvl="1"/>
            <a:r>
              <a:rPr lang="pt-BR" sz="2000" dirty="0"/>
              <a:t>Operadores de conjuntos</a:t>
            </a:r>
          </a:p>
          <a:p>
            <a:pPr lvl="1"/>
            <a:r>
              <a:rPr lang="pt-BR" sz="2000" dirty="0"/>
              <a:t>Funções agregadas</a:t>
            </a:r>
          </a:p>
          <a:p>
            <a:pPr lvl="1"/>
            <a:r>
              <a:rPr lang="pt-BR" sz="2000" dirty="0"/>
              <a:t>Valores nulos</a:t>
            </a:r>
          </a:p>
          <a:p>
            <a:pPr lvl="1"/>
            <a:r>
              <a:rPr lang="pt-BR" sz="2000" dirty="0"/>
              <a:t>Funções avançadas e extras: </a:t>
            </a:r>
            <a:r>
              <a:rPr lang="pt-BR" sz="2000" dirty="0" err="1"/>
              <a:t>Arrays</a:t>
            </a:r>
            <a:r>
              <a:rPr lang="pt-BR" sz="2000" dirty="0"/>
              <a:t>, JSON, </a:t>
            </a:r>
            <a:r>
              <a:rPr lang="pt-BR" sz="2000" dirty="0" err="1"/>
              <a:t>CTEs</a:t>
            </a:r>
            <a:r>
              <a:rPr lang="pt-BR" sz="2000" dirty="0"/>
              <a:t> e </a:t>
            </a:r>
            <a:r>
              <a:rPr lang="pt-BR" sz="2000" dirty="0" err="1"/>
              <a:t>Explain</a:t>
            </a:r>
            <a:endParaRPr lang="pt-BR" sz="2000" dirty="0"/>
          </a:p>
          <a:p>
            <a:pPr lvl="1"/>
            <a:r>
              <a:rPr lang="pt-BR" sz="2000" dirty="0" err="1"/>
              <a:t>Views</a:t>
            </a:r>
            <a:r>
              <a:rPr lang="pt-BR" sz="2000" dirty="0"/>
              <a:t> e </a:t>
            </a:r>
            <a:r>
              <a:rPr lang="pt-BR" sz="2000" dirty="0" err="1"/>
              <a:t>Materialized</a:t>
            </a:r>
            <a:r>
              <a:rPr lang="pt-BR" sz="2000" dirty="0"/>
              <a:t> </a:t>
            </a:r>
            <a:r>
              <a:rPr lang="pt-BR" sz="2000" dirty="0" err="1"/>
              <a:t>views</a:t>
            </a:r>
            <a:endParaRPr lang="pt-BR" sz="2000" dirty="0"/>
          </a:p>
          <a:p>
            <a:r>
              <a:rPr lang="pt-BR" dirty="0"/>
              <a:t>Modificações nos dados:</a:t>
            </a:r>
          </a:p>
          <a:p>
            <a:pPr lvl="1"/>
            <a:r>
              <a:rPr lang="pt-BR" sz="2000" dirty="0"/>
              <a:t>Delete</a:t>
            </a:r>
          </a:p>
          <a:p>
            <a:pPr lvl="1"/>
            <a:r>
              <a:rPr lang="pt-BR" sz="2000" dirty="0" err="1"/>
              <a:t>Insert</a:t>
            </a:r>
            <a:endParaRPr lang="pt-BR" sz="2000" dirty="0"/>
          </a:p>
          <a:p>
            <a:pPr lvl="1"/>
            <a:r>
              <a:rPr lang="pt-BR" sz="2000" dirty="0"/>
              <a:t>Update</a:t>
            </a:r>
          </a:p>
          <a:p>
            <a:pPr lvl="1"/>
            <a:endParaRPr lang="pt-BR" dirty="0">
              <a:latin typeface="Arial" pitchFamily="34" charset="0"/>
            </a:endParaRPr>
          </a:p>
        </p:txBody>
      </p:sp>
      <p:sp>
        <p:nvSpPr>
          <p:cNvPr id="60418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SQL – DML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AAEACCD-4225-4658-86CA-BBF555AA6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UNESP - São José do Rio Preto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55DEA4F-72AB-48EB-A193-E350481C9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BBEDC-3E96-4211-870F-5846E77DF70B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43089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731963"/>
            <a:ext cx="7467600" cy="4741862"/>
          </a:xfrm>
        </p:spPr>
        <p:txBody>
          <a:bodyPr/>
          <a:lstStyle/>
          <a:p>
            <a:pPr algn="just"/>
            <a:r>
              <a:rPr lang="pt-BR" sz="2400" dirty="0"/>
              <a:t>A DML é a parte da SQL que tem o objetivo de proporcionar mecanismos para manusear os dados.</a:t>
            </a:r>
          </a:p>
          <a:p>
            <a:pPr algn="just"/>
            <a:r>
              <a:rPr lang="pt-BR" sz="2400" dirty="0"/>
              <a:t>Baseada na Álgebra Relacional.</a:t>
            </a:r>
          </a:p>
          <a:p>
            <a:pPr algn="just"/>
            <a:endParaRPr lang="pt-BR" sz="2400" b="1" u="sng" dirty="0"/>
          </a:p>
          <a:p>
            <a:pPr algn="just"/>
            <a:r>
              <a:rPr lang="pt-BR" sz="2400" dirty="0"/>
              <a:t>Isso significa que a DML é responsável pelas operações de:</a:t>
            </a:r>
          </a:p>
          <a:p>
            <a:pPr lvl="1" algn="just"/>
            <a:r>
              <a:rPr lang="pt-BR" sz="2400" dirty="0"/>
              <a:t>Consulta;</a:t>
            </a:r>
          </a:p>
          <a:p>
            <a:pPr lvl="1" algn="just"/>
            <a:r>
              <a:rPr lang="pt-BR" sz="2400" dirty="0"/>
              <a:t>Inserção;</a:t>
            </a:r>
          </a:p>
          <a:p>
            <a:pPr lvl="1" algn="just"/>
            <a:r>
              <a:rPr lang="pt-BR" sz="2400" dirty="0"/>
              <a:t>Exclusão;</a:t>
            </a:r>
          </a:p>
          <a:p>
            <a:pPr lvl="1" algn="just"/>
            <a:r>
              <a:rPr lang="pt-BR" sz="2400" dirty="0"/>
              <a:t>E modificação de </a:t>
            </a:r>
            <a:r>
              <a:rPr lang="pt-BR" sz="2400" dirty="0" err="1"/>
              <a:t>tuplas</a:t>
            </a:r>
            <a:endParaRPr lang="pt-BR" sz="2400" dirty="0"/>
          </a:p>
          <a:p>
            <a:pPr algn="just"/>
            <a:endParaRPr lang="pt-BR" dirty="0">
              <a:latin typeface="Arial" pitchFamily="34" charset="0"/>
            </a:endParaRPr>
          </a:p>
          <a:p>
            <a:pPr algn="just"/>
            <a:endParaRPr lang="pt-BR" dirty="0">
              <a:latin typeface="Arial" pitchFamily="34" charset="0"/>
            </a:endParaRPr>
          </a:p>
        </p:txBody>
      </p:sp>
      <p:sp>
        <p:nvSpPr>
          <p:cNvPr id="6144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SQL – DML</a:t>
            </a:r>
            <a:endParaRPr lang="pt-BR" sz="2800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142842C-6506-4B08-87D7-500371FEB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UNESP - São José do Rio Preto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56BFFFE-8833-4DB6-A1BD-C2AEA6B6D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BBEDC-3E96-4211-870F-5846E77DF70B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81504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538288"/>
            <a:ext cx="7467600" cy="4935537"/>
          </a:xfrm>
        </p:spPr>
        <p:txBody>
          <a:bodyPr/>
          <a:lstStyle/>
          <a:p>
            <a:pPr algn="just"/>
            <a:r>
              <a:rPr lang="pt-BR" dirty="0"/>
              <a:t>A estrutura básica de uma expressão em SQL consiste em três cláusulas:</a:t>
            </a:r>
          </a:p>
          <a:p>
            <a:pPr lvl="1" algn="just"/>
            <a:r>
              <a:rPr lang="pt-BR" sz="2000" b="1" dirty="0" err="1"/>
              <a:t>Select</a:t>
            </a:r>
            <a:r>
              <a:rPr lang="pt-BR" sz="2000" dirty="0"/>
              <a:t>: corresponde à operação de projeção da álgebra relacional.</a:t>
            </a:r>
          </a:p>
          <a:p>
            <a:pPr lvl="1" algn="just"/>
            <a:r>
              <a:rPr lang="pt-BR" sz="2000" b="1" dirty="0" err="1"/>
              <a:t>From</a:t>
            </a:r>
            <a:r>
              <a:rPr lang="pt-BR" sz="2000" dirty="0"/>
              <a:t>: corresponde à operação de produto cartesiano da álgebra relacional.</a:t>
            </a:r>
          </a:p>
          <a:p>
            <a:pPr lvl="1" algn="just"/>
            <a:r>
              <a:rPr lang="pt-BR" sz="2000" b="1" dirty="0" err="1"/>
              <a:t>Where</a:t>
            </a:r>
            <a:r>
              <a:rPr lang="pt-BR" sz="2000" dirty="0"/>
              <a:t>: corresponde à seleção do predicado da álgebra relacional.</a:t>
            </a:r>
          </a:p>
          <a:p>
            <a:pPr algn="just"/>
            <a:endParaRPr lang="pt-BR" sz="2000" dirty="0"/>
          </a:p>
          <a:p>
            <a:pPr algn="just"/>
            <a:r>
              <a:rPr lang="pt-BR" dirty="0"/>
              <a:t>Sintaxe básica:</a:t>
            </a:r>
          </a:p>
          <a:p>
            <a:pPr lvl="1" algn="just">
              <a:buFont typeface="Wingdings 2" pitchFamily="18" charset="2"/>
              <a:buNone/>
            </a:pPr>
            <a:r>
              <a:rPr lang="pt-BR" sz="2000" b="1" dirty="0" err="1"/>
              <a:t>select</a:t>
            </a:r>
            <a:r>
              <a:rPr lang="pt-BR" sz="2000" dirty="0"/>
              <a:t> &lt;</a:t>
            </a:r>
            <a:r>
              <a:rPr lang="pt-BR" sz="2000" dirty="0" err="1"/>
              <a:t>lista-atributos</a:t>
            </a:r>
            <a:r>
              <a:rPr lang="pt-BR" sz="2000" dirty="0"/>
              <a:t>&gt;</a:t>
            </a:r>
            <a:endParaRPr lang="pt-BR" sz="2000" baseline="-25000" dirty="0"/>
          </a:p>
          <a:p>
            <a:pPr lvl="1" algn="just">
              <a:buFont typeface="Wingdings 2" pitchFamily="18" charset="2"/>
              <a:buNone/>
            </a:pPr>
            <a:r>
              <a:rPr lang="pt-BR" sz="2000" b="1" dirty="0" err="1"/>
              <a:t>from</a:t>
            </a:r>
            <a:r>
              <a:rPr lang="pt-BR" sz="2000" dirty="0"/>
              <a:t> &lt;lista-relações&gt;</a:t>
            </a:r>
            <a:endParaRPr lang="pt-BR" sz="2000" baseline="-25000" dirty="0"/>
          </a:p>
          <a:p>
            <a:pPr lvl="1" algn="just">
              <a:buFont typeface="Wingdings 2" pitchFamily="18" charset="2"/>
              <a:buNone/>
            </a:pPr>
            <a:r>
              <a:rPr lang="pt-BR" sz="2000" b="1" dirty="0" err="1"/>
              <a:t>where</a:t>
            </a:r>
            <a:r>
              <a:rPr lang="pt-BR" sz="2000" dirty="0"/>
              <a:t> &lt;lista-condições&gt;</a:t>
            </a:r>
          </a:p>
        </p:txBody>
      </p:sp>
      <p:sp>
        <p:nvSpPr>
          <p:cNvPr id="62466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Consultas SQL: Estrutura Básica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DD07088-E474-4503-A63A-1E07E4DAC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UNESP - São José do Rio Preto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077EA78-7609-46B3-A741-79416A476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BBEDC-3E96-4211-870F-5846E77DF70B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959731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538288"/>
            <a:ext cx="7467600" cy="4935537"/>
          </a:xfrm>
        </p:spPr>
        <p:txBody>
          <a:bodyPr/>
          <a:lstStyle/>
          <a:p>
            <a:pPr algn="just"/>
            <a:r>
              <a:rPr lang="pt-BR" sz="2400" dirty="0"/>
              <a:t>Usada para relacionar os atributos desejados no resultado de uma consulta.</a:t>
            </a:r>
          </a:p>
          <a:p>
            <a:pPr algn="just"/>
            <a:endParaRPr lang="pt-BR" sz="2400" dirty="0"/>
          </a:p>
          <a:p>
            <a:pPr algn="just"/>
            <a:r>
              <a:rPr lang="pt-BR" sz="2400" b="1" dirty="0"/>
              <a:t>Exemplo</a:t>
            </a:r>
            <a:r>
              <a:rPr lang="pt-BR" sz="2400" dirty="0"/>
              <a:t>: “Encontre todas as cidades da relação agencia”</a:t>
            </a:r>
          </a:p>
          <a:p>
            <a:pPr algn="just">
              <a:buFont typeface="Wingdings" pitchFamily="2" charset="2"/>
              <a:buNone/>
            </a:pPr>
            <a:r>
              <a:rPr lang="pt-BR" sz="2400" dirty="0"/>
              <a:t>	</a:t>
            </a:r>
          </a:p>
          <a:p>
            <a:pPr algn="just">
              <a:buFont typeface="Wingdings" pitchFamily="2" charset="2"/>
              <a:buNone/>
            </a:pPr>
            <a:r>
              <a:rPr lang="pt-BR" b="1" dirty="0"/>
              <a:t>	</a:t>
            </a:r>
            <a:r>
              <a:rPr lang="pt-BR" sz="2200" b="1" dirty="0" err="1"/>
              <a:t>select</a:t>
            </a:r>
            <a:r>
              <a:rPr lang="pt-BR" sz="2200" dirty="0"/>
              <a:t> </a:t>
            </a:r>
            <a:r>
              <a:rPr lang="pt-BR" sz="2200" dirty="0" err="1"/>
              <a:t>cidade_agencia</a:t>
            </a:r>
            <a:endParaRPr lang="pt-BR" sz="2200" dirty="0"/>
          </a:p>
          <a:p>
            <a:pPr algn="just">
              <a:buFont typeface="Wingdings" pitchFamily="2" charset="2"/>
              <a:buNone/>
            </a:pPr>
            <a:r>
              <a:rPr lang="pt-BR" sz="2200" dirty="0"/>
              <a:t>	</a:t>
            </a:r>
            <a:r>
              <a:rPr lang="pt-BR" sz="2200" b="1" dirty="0" err="1"/>
              <a:t>from</a:t>
            </a:r>
            <a:r>
              <a:rPr lang="pt-BR" sz="2200" dirty="0"/>
              <a:t> agencia</a:t>
            </a:r>
          </a:p>
        </p:txBody>
      </p:sp>
      <p:sp>
        <p:nvSpPr>
          <p:cNvPr id="63490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SQL – DML: </a:t>
            </a:r>
            <a:r>
              <a:rPr lang="pt-BR" dirty="0" err="1"/>
              <a:t>Select</a:t>
            </a:r>
            <a:endParaRPr lang="pt-BR" dirty="0"/>
          </a:p>
        </p:txBody>
      </p:sp>
      <p:graphicFrame>
        <p:nvGraphicFramePr>
          <p:cNvPr id="5" name="Tabela 4"/>
          <p:cNvGraphicFramePr>
            <a:graphicFrameLocks noGrp="1"/>
          </p:cNvGraphicFramePr>
          <p:nvPr/>
        </p:nvGraphicFramePr>
        <p:xfrm>
          <a:off x="4783138" y="3636963"/>
          <a:ext cx="3000375" cy="294481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00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068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2400" dirty="0" err="1"/>
                        <a:t>Cidade_agencia</a:t>
                      </a:r>
                      <a:endParaRPr lang="pt-BR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51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kern="1200" dirty="0" err="1"/>
                        <a:t>Brooklyn</a:t>
                      </a:r>
                      <a:endParaRPr lang="pt-BR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51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 err="1"/>
                        <a:t>Brooklyn</a:t>
                      </a:r>
                      <a:endParaRPr lang="pt-BR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51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 err="1"/>
                        <a:t>Horseneck</a:t>
                      </a:r>
                      <a:endParaRPr lang="pt-BR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551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/>
                        <a:t>Rye</a:t>
                      </a:r>
                      <a:endParaRPr lang="pt-BR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551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 err="1"/>
                        <a:t>Horseneck</a:t>
                      </a:r>
                      <a:endParaRPr lang="pt-BR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551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 err="1"/>
                        <a:t>Bennington</a:t>
                      </a:r>
                      <a:endParaRPr lang="pt-BR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551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/>
                        <a:t>Palo Alto</a:t>
                      </a:r>
                      <a:endParaRPr lang="pt-BR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551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 err="1"/>
                        <a:t>Horseneck</a:t>
                      </a:r>
                      <a:endParaRPr lang="pt-BR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7C76052-7B81-427F-A6B0-B5BDDCA8D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793750" y="6356350"/>
            <a:ext cx="3361690" cy="365125"/>
          </a:xfrm>
        </p:spPr>
        <p:txBody>
          <a:bodyPr/>
          <a:lstStyle/>
          <a:p>
            <a:r>
              <a:rPr lang="pt-BR" dirty="0"/>
              <a:t>UNESP - São José do Rio Preto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9B7BEB2-8F19-44CF-88E7-B98E85C4F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BBEDC-3E96-4211-870F-5846E77DF70B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1537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5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6550"/>
            <a:ext cx="7467600" cy="4867275"/>
          </a:xfrm>
        </p:spPr>
        <p:txBody>
          <a:bodyPr/>
          <a:lstStyle/>
          <a:p>
            <a:pPr algn="just"/>
            <a:r>
              <a:rPr lang="pt-BR" sz="2200" dirty="0"/>
              <a:t>Por padrão, a SQL retorna valores duplicados nas consultas.</a:t>
            </a:r>
          </a:p>
          <a:p>
            <a:pPr algn="just"/>
            <a:endParaRPr lang="pt-BR" sz="2200" dirty="0"/>
          </a:p>
          <a:p>
            <a:pPr algn="just"/>
            <a:r>
              <a:rPr lang="pt-BR" sz="2200" dirty="0"/>
              <a:t>O uso de </a:t>
            </a:r>
            <a:r>
              <a:rPr lang="pt-BR" sz="2200" b="1" dirty="0" err="1"/>
              <a:t>distinct</a:t>
            </a:r>
            <a:r>
              <a:rPr lang="pt-BR" sz="2200" b="1" dirty="0"/>
              <a:t> </a:t>
            </a:r>
            <a:r>
              <a:rPr lang="pt-BR" sz="2200" dirty="0"/>
              <a:t>força a eliminação de duplicidades de valores.</a:t>
            </a:r>
          </a:p>
          <a:p>
            <a:endParaRPr lang="pt-BR" sz="2000" dirty="0"/>
          </a:p>
          <a:p>
            <a:pPr algn="just"/>
            <a:r>
              <a:rPr lang="pt-BR" sz="2200" b="1" dirty="0"/>
              <a:t>Exemplo</a:t>
            </a:r>
            <a:r>
              <a:rPr lang="pt-BR" sz="2200" dirty="0"/>
              <a:t>: “Encontre todas as distintas cidades da relação agencia”</a:t>
            </a:r>
          </a:p>
          <a:p>
            <a:pPr>
              <a:buFont typeface="Wingdings" pitchFamily="2" charset="2"/>
              <a:buNone/>
            </a:pPr>
            <a:r>
              <a:rPr lang="pt-BR" sz="2000" dirty="0"/>
              <a:t>		</a:t>
            </a:r>
          </a:p>
          <a:p>
            <a:pPr>
              <a:buFont typeface="Wingdings" pitchFamily="2" charset="2"/>
              <a:buNone/>
            </a:pPr>
            <a:r>
              <a:rPr lang="pt-BR" sz="2000" b="1" dirty="0"/>
              <a:t>	</a:t>
            </a:r>
            <a:r>
              <a:rPr lang="pt-BR" sz="2000" b="1" dirty="0" err="1"/>
              <a:t>select</a:t>
            </a:r>
            <a:r>
              <a:rPr lang="pt-BR" sz="2000" b="1" dirty="0"/>
              <a:t> </a:t>
            </a:r>
            <a:r>
              <a:rPr lang="pt-BR" sz="2000" b="1" dirty="0" err="1"/>
              <a:t>distinct</a:t>
            </a:r>
            <a:r>
              <a:rPr lang="pt-BR" sz="2000" dirty="0"/>
              <a:t> </a:t>
            </a:r>
            <a:r>
              <a:rPr lang="pt-BR" sz="2000" dirty="0" err="1"/>
              <a:t>cidade_agencia</a:t>
            </a:r>
            <a:endParaRPr lang="pt-BR" sz="2000" dirty="0"/>
          </a:p>
          <a:p>
            <a:pPr>
              <a:buFont typeface="Wingdings" pitchFamily="2" charset="2"/>
              <a:buNone/>
            </a:pPr>
            <a:r>
              <a:rPr lang="pt-BR" sz="2000" dirty="0"/>
              <a:t>	</a:t>
            </a:r>
            <a:r>
              <a:rPr lang="pt-BR" sz="2000" b="1" dirty="0" err="1"/>
              <a:t>from</a:t>
            </a:r>
            <a:r>
              <a:rPr lang="pt-BR" sz="2000" dirty="0"/>
              <a:t> agencia</a:t>
            </a:r>
          </a:p>
        </p:txBody>
      </p:sp>
      <p:sp>
        <p:nvSpPr>
          <p:cNvPr id="64514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SQL – DML: </a:t>
            </a:r>
            <a:r>
              <a:rPr lang="pt-BR" dirty="0" err="1"/>
              <a:t>Select</a:t>
            </a:r>
            <a:endParaRPr lang="pt-BR" dirty="0"/>
          </a:p>
        </p:txBody>
      </p:sp>
      <p:graphicFrame>
        <p:nvGraphicFramePr>
          <p:cNvPr id="5" name="Tabela 4"/>
          <p:cNvGraphicFramePr>
            <a:graphicFrameLocks noGrp="1"/>
          </p:cNvGraphicFramePr>
          <p:nvPr/>
        </p:nvGraphicFramePr>
        <p:xfrm>
          <a:off x="5173663" y="4232275"/>
          <a:ext cx="3000375" cy="1998661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00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077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2400" dirty="0" err="1"/>
                        <a:t>Cidade_agencia</a:t>
                      </a:r>
                      <a:endParaRPr lang="pt-BR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57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 err="1"/>
                        <a:t>Brooklyn</a:t>
                      </a:r>
                      <a:endParaRPr lang="pt-BR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57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 err="1"/>
                        <a:t>Horseneck</a:t>
                      </a:r>
                      <a:endParaRPr lang="pt-BR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57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 err="1"/>
                        <a:t>Rye</a:t>
                      </a:r>
                      <a:endParaRPr lang="pt-BR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557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 err="1"/>
                        <a:t>Bennington</a:t>
                      </a:r>
                      <a:endParaRPr lang="pt-BR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557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 err="1"/>
                        <a:t>Palo</a:t>
                      </a:r>
                      <a:r>
                        <a:rPr lang="pt-BR" sz="1800" dirty="0"/>
                        <a:t> Alto</a:t>
                      </a:r>
                      <a:endParaRPr lang="pt-BR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D2084B0-B867-4A98-9741-3E623FF01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UNESP - São José do Rio Preto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2F25100-8A23-4303-A212-58D628D91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BBEDC-3E96-4211-870F-5846E77DF70B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06679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9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76400"/>
            <a:ext cx="7467600" cy="4797425"/>
          </a:xfrm>
        </p:spPr>
        <p:txBody>
          <a:bodyPr/>
          <a:lstStyle/>
          <a:p>
            <a:pPr algn="just"/>
            <a:r>
              <a:rPr lang="pt-BR" sz="2200" dirty="0"/>
              <a:t>O asterisco pode ser utilizado para denotar “todos os atributos”.</a:t>
            </a:r>
          </a:p>
          <a:p>
            <a:pPr algn="just"/>
            <a:r>
              <a:rPr lang="pt-BR" sz="2200" b="1" dirty="0"/>
              <a:t>Exemplo</a:t>
            </a:r>
            <a:r>
              <a:rPr lang="pt-BR" sz="2200" dirty="0"/>
              <a:t>: “Exiba todos os atributos da relação agencia”</a:t>
            </a:r>
          </a:p>
          <a:p>
            <a:pPr>
              <a:buFont typeface="Wingdings" pitchFamily="2" charset="2"/>
              <a:buNone/>
            </a:pPr>
            <a:r>
              <a:rPr lang="pt-BR" sz="2000" dirty="0"/>
              <a:t>		</a:t>
            </a:r>
            <a:r>
              <a:rPr lang="pt-BR" sz="2000" b="1" dirty="0" err="1"/>
              <a:t>select</a:t>
            </a:r>
            <a:r>
              <a:rPr lang="pt-BR" sz="2000" b="1" dirty="0"/>
              <a:t> *</a:t>
            </a:r>
            <a:endParaRPr lang="pt-BR" sz="2000" dirty="0"/>
          </a:p>
          <a:p>
            <a:pPr>
              <a:buFont typeface="Wingdings" pitchFamily="2" charset="2"/>
              <a:buNone/>
            </a:pPr>
            <a:r>
              <a:rPr lang="pt-BR" sz="2000" dirty="0"/>
              <a:t>		</a:t>
            </a:r>
            <a:r>
              <a:rPr lang="pt-BR" sz="2000" b="1" dirty="0" err="1"/>
              <a:t>from</a:t>
            </a:r>
            <a:r>
              <a:rPr lang="pt-BR" sz="2000" dirty="0"/>
              <a:t> agencia</a:t>
            </a:r>
          </a:p>
        </p:txBody>
      </p:sp>
      <p:sp>
        <p:nvSpPr>
          <p:cNvPr id="65538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SQL – DML: </a:t>
            </a:r>
            <a:r>
              <a:rPr lang="pt-BR" b="1" dirty="0" err="1"/>
              <a:t>Select</a:t>
            </a:r>
            <a:endParaRPr lang="pt-BR" dirty="0"/>
          </a:p>
        </p:txBody>
      </p:sp>
      <p:graphicFrame>
        <p:nvGraphicFramePr>
          <p:cNvPr id="6" name="Tabela 5"/>
          <p:cNvGraphicFramePr>
            <a:graphicFrameLocks noGrp="1"/>
          </p:cNvGraphicFramePr>
          <p:nvPr/>
        </p:nvGraphicFramePr>
        <p:xfrm>
          <a:off x="714375" y="3949700"/>
          <a:ext cx="7215189" cy="2838447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510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74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66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538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 err="1"/>
                        <a:t>Nome_agencia</a:t>
                      </a:r>
                      <a:endParaRPr lang="pt-BR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/>
                        <a:t>Cidade_agencia</a:t>
                      </a:r>
                      <a:endParaRPr lang="pt-BR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/>
                        <a:t>Fundos</a:t>
                      </a:r>
                      <a:endParaRPr lang="pt-BR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38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 err="1"/>
                        <a:t>Brighton</a:t>
                      </a:r>
                      <a:endParaRPr lang="pt-BR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/>
                        <a:t>Brooklyn</a:t>
                      </a:r>
                      <a:endParaRPr lang="pt-BR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/>
                        <a:t>7100000</a:t>
                      </a:r>
                      <a:endParaRPr lang="pt-BR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38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 err="1"/>
                        <a:t>Downtown</a:t>
                      </a:r>
                      <a:endParaRPr lang="pt-BR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/>
                        <a:t>Brooklyn</a:t>
                      </a:r>
                      <a:endParaRPr lang="pt-BR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/>
                        <a:t>9000000</a:t>
                      </a:r>
                      <a:endParaRPr lang="pt-BR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38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 err="1"/>
                        <a:t>Mianus</a:t>
                      </a:r>
                      <a:endParaRPr lang="pt-BR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/>
                        <a:t>Horseneck</a:t>
                      </a:r>
                      <a:endParaRPr lang="pt-BR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/>
                        <a:t>400000</a:t>
                      </a:r>
                      <a:endParaRPr lang="pt-BR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538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/>
                        <a:t>North </a:t>
                      </a:r>
                      <a:r>
                        <a:rPr lang="pt-BR" sz="1800" dirty="0" err="1"/>
                        <a:t>Town</a:t>
                      </a:r>
                      <a:endParaRPr lang="pt-BR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/>
                        <a:t>Rye</a:t>
                      </a:r>
                      <a:endParaRPr lang="pt-BR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/>
                        <a:t>3700000</a:t>
                      </a:r>
                      <a:endParaRPr lang="pt-BR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538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 err="1"/>
                        <a:t>Perryridge</a:t>
                      </a:r>
                      <a:endParaRPr lang="pt-BR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/>
                        <a:t>Horseneck</a:t>
                      </a:r>
                      <a:endParaRPr lang="pt-BR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/>
                        <a:t>1700000</a:t>
                      </a:r>
                      <a:endParaRPr lang="pt-BR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538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 err="1"/>
                        <a:t>Pownal</a:t>
                      </a:r>
                      <a:endParaRPr lang="pt-BR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/>
                        <a:t>Bennington</a:t>
                      </a:r>
                      <a:endParaRPr lang="pt-BR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/>
                        <a:t>300000</a:t>
                      </a:r>
                      <a:endParaRPr lang="pt-BR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538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 err="1"/>
                        <a:t>Redwood</a:t>
                      </a:r>
                      <a:endParaRPr lang="pt-BR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/>
                        <a:t>Palo Alto</a:t>
                      </a:r>
                      <a:endParaRPr lang="pt-BR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/>
                        <a:t>2100000</a:t>
                      </a:r>
                      <a:endParaRPr lang="pt-BR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538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/>
                        <a:t>Round Hill</a:t>
                      </a:r>
                      <a:endParaRPr lang="pt-BR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/>
                        <a:t>Horseneck</a:t>
                      </a:r>
                      <a:endParaRPr lang="pt-BR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/>
                        <a:t>8000000</a:t>
                      </a:r>
                      <a:endParaRPr lang="pt-BR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7AEE356-049A-4D33-9F9B-AC99B2FDA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2658" y="6291262"/>
            <a:ext cx="563245" cy="365125"/>
          </a:xfrm>
        </p:spPr>
        <p:txBody>
          <a:bodyPr/>
          <a:lstStyle/>
          <a:p>
            <a:fld id="{BFFBBEDC-3E96-4211-870F-5846E77DF70B}" type="slidenum">
              <a:rPr lang="pt-BR" smtClean="0"/>
              <a:t>10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411457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758950"/>
            <a:ext cx="8115300" cy="4714875"/>
          </a:xfrm>
        </p:spPr>
        <p:txBody>
          <a:bodyPr/>
          <a:lstStyle/>
          <a:p>
            <a:pPr algn="just"/>
            <a:r>
              <a:rPr lang="pt-BR" sz="2000" dirty="0"/>
              <a:t>O </a:t>
            </a:r>
            <a:r>
              <a:rPr lang="pt-BR" sz="2000" dirty="0" err="1"/>
              <a:t>rename</a:t>
            </a:r>
            <a:r>
              <a:rPr lang="pt-BR" sz="2000" dirty="0"/>
              <a:t> consiste na possibilidade de mudar o nome do atributo que é mostrado como resultado da consulta, para isso utiliza-se “as”.</a:t>
            </a:r>
          </a:p>
          <a:p>
            <a:pPr algn="just"/>
            <a:r>
              <a:rPr lang="pt-BR" sz="2000" b="1" dirty="0"/>
              <a:t>Exemplo</a:t>
            </a:r>
            <a:r>
              <a:rPr lang="pt-BR" sz="2000" dirty="0"/>
              <a:t>:</a:t>
            </a:r>
          </a:p>
          <a:p>
            <a:pPr algn="just">
              <a:buFont typeface="Wingdings" pitchFamily="2" charset="2"/>
              <a:buNone/>
            </a:pPr>
            <a:r>
              <a:rPr lang="pt-BR" sz="2000" dirty="0"/>
              <a:t>	</a:t>
            </a:r>
            <a:r>
              <a:rPr lang="pt-BR" sz="2000" b="1" dirty="0" err="1"/>
              <a:t>select</a:t>
            </a:r>
            <a:r>
              <a:rPr lang="pt-BR" sz="2000" b="1" dirty="0"/>
              <a:t> </a:t>
            </a:r>
            <a:r>
              <a:rPr lang="pt-BR" sz="2000" dirty="0" err="1"/>
              <a:t>nome_agencia</a:t>
            </a:r>
            <a:r>
              <a:rPr lang="pt-BR" sz="2000" dirty="0"/>
              <a:t>, fundos/1000 </a:t>
            </a:r>
            <a:r>
              <a:rPr lang="pt-BR" sz="2000" b="1" dirty="0"/>
              <a:t>as </a:t>
            </a:r>
            <a:r>
              <a:rPr lang="pt-BR" sz="2000" dirty="0"/>
              <a:t>fundos1000</a:t>
            </a:r>
          </a:p>
          <a:p>
            <a:pPr algn="just">
              <a:buFont typeface="Wingdings" pitchFamily="2" charset="2"/>
              <a:buNone/>
            </a:pPr>
            <a:r>
              <a:rPr lang="pt-BR" sz="2000" dirty="0"/>
              <a:t>	</a:t>
            </a:r>
            <a:r>
              <a:rPr lang="pt-BR" sz="2000" b="1" dirty="0" err="1"/>
              <a:t>from</a:t>
            </a:r>
            <a:r>
              <a:rPr lang="pt-BR" sz="2000" dirty="0"/>
              <a:t> agencia</a:t>
            </a:r>
          </a:p>
        </p:txBody>
      </p:sp>
      <p:sp>
        <p:nvSpPr>
          <p:cNvPr id="6656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SQL – DML: </a:t>
            </a:r>
            <a:r>
              <a:rPr lang="pt-BR" dirty="0" err="1"/>
              <a:t>Select</a:t>
            </a:r>
            <a:endParaRPr lang="pt-BR" dirty="0"/>
          </a:p>
        </p:txBody>
      </p:sp>
      <p:graphicFrame>
        <p:nvGraphicFramePr>
          <p:cNvPr id="6" name="Tabe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9899757"/>
              </p:ext>
            </p:extLst>
          </p:nvPr>
        </p:nvGraphicFramePr>
        <p:xfrm>
          <a:off x="2000250" y="3902156"/>
          <a:ext cx="4427538" cy="2838447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509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66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538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 err="1"/>
                        <a:t>Nome_agencia</a:t>
                      </a:r>
                      <a:endParaRPr lang="pt-BR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6" marR="685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/>
                        <a:t>Fundos1000</a:t>
                      </a:r>
                      <a:endParaRPr lang="pt-BR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6" marR="68576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38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 err="1"/>
                        <a:t>Brighton</a:t>
                      </a:r>
                      <a:endParaRPr lang="pt-BR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6" marR="68576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/>
                        <a:t>7100</a:t>
                      </a:r>
                      <a:endParaRPr lang="pt-BR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6" marR="68576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38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 err="1"/>
                        <a:t>Downtown</a:t>
                      </a:r>
                      <a:endParaRPr lang="pt-BR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6" marR="68576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/>
                        <a:t>9000</a:t>
                      </a:r>
                      <a:endParaRPr lang="pt-BR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6" marR="68576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38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 err="1"/>
                        <a:t>Mianus</a:t>
                      </a:r>
                      <a:endParaRPr lang="pt-BR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6" marR="68576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/>
                        <a:t>400</a:t>
                      </a:r>
                      <a:endParaRPr lang="pt-BR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6" marR="68576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538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/>
                        <a:t>North </a:t>
                      </a:r>
                      <a:r>
                        <a:rPr lang="pt-BR" sz="1800" dirty="0" err="1"/>
                        <a:t>Town</a:t>
                      </a:r>
                      <a:endParaRPr lang="pt-BR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6" marR="68576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/>
                        <a:t>3700</a:t>
                      </a:r>
                      <a:endParaRPr lang="pt-BR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6" marR="68576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538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 err="1"/>
                        <a:t>Perryridge</a:t>
                      </a:r>
                      <a:endParaRPr lang="pt-BR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6" marR="68576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/>
                        <a:t>1700</a:t>
                      </a:r>
                      <a:endParaRPr lang="pt-BR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6" marR="68576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538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 err="1"/>
                        <a:t>Pownal</a:t>
                      </a:r>
                      <a:endParaRPr lang="pt-BR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6" marR="68576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/>
                        <a:t>300</a:t>
                      </a:r>
                      <a:endParaRPr lang="pt-BR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6" marR="68576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538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 err="1"/>
                        <a:t>Redwood</a:t>
                      </a:r>
                      <a:endParaRPr lang="pt-BR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6" marR="68576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/>
                        <a:t>2100</a:t>
                      </a:r>
                      <a:endParaRPr lang="pt-BR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6" marR="68576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538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/>
                        <a:t>Round Hill</a:t>
                      </a:r>
                      <a:endParaRPr lang="pt-BR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6" marR="68576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/>
                        <a:t>8000</a:t>
                      </a:r>
                      <a:endParaRPr lang="pt-BR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6" marR="68576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6577E29-3243-46B9-99FF-11DF19938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UNESP - São José do Rio Preto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570DD22-88C2-4D76-A0EA-DDA043565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373620" y="6008919"/>
            <a:ext cx="563245" cy="365125"/>
          </a:xfrm>
        </p:spPr>
        <p:txBody>
          <a:bodyPr/>
          <a:lstStyle/>
          <a:p>
            <a:fld id="{BFFBBEDC-3E96-4211-870F-5846E77DF70B}" type="slidenum">
              <a:rPr lang="pt-BR" smtClean="0"/>
              <a:t>11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886096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7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357313"/>
            <a:ext cx="7467600" cy="5116512"/>
          </a:xfrm>
        </p:spPr>
        <p:txBody>
          <a:bodyPr/>
          <a:lstStyle/>
          <a:p>
            <a:pPr algn="just"/>
            <a:r>
              <a:rPr lang="pt-BR" sz="2200" dirty="0"/>
              <a:t>Uma </a:t>
            </a:r>
            <a:r>
              <a:rPr lang="pt-BR" sz="2200" dirty="0" err="1"/>
              <a:t>tupla</a:t>
            </a:r>
            <a:r>
              <a:rPr lang="pt-BR" sz="2200" dirty="0"/>
              <a:t> só será selecionada se atender ao predicado estipulado na cláusula </a:t>
            </a:r>
            <a:r>
              <a:rPr lang="pt-BR" sz="2200" b="1" dirty="0" err="1"/>
              <a:t>where</a:t>
            </a:r>
            <a:r>
              <a:rPr lang="pt-BR" sz="2200" b="1" dirty="0"/>
              <a:t>.</a:t>
            </a:r>
          </a:p>
          <a:p>
            <a:pPr algn="just">
              <a:buFont typeface="Wingdings" pitchFamily="2" charset="2"/>
              <a:buNone/>
            </a:pPr>
            <a:endParaRPr lang="pt-BR" sz="2200" b="1" dirty="0"/>
          </a:p>
          <a:p>
            <a:pPr algn="just"/>
            <a:r>
              <a:rPr lang="pt-BR" sz="2200" b="1" dirty="0"/>
              <a:t>Exemplo</a:t>
            </a:r>
            <a:r>
              <a:rPr lang="pt-BR" sz="2200" dirty="0"/>
              <a:t>: “Encontre todas as agências com fundos inferiores a 1000000”.</a:t>
            </a:r>
          </a:p>
          <a:p>
            <a:pPr algn="just">
              <a:buFont typeface="Wingdings" pitchFamily="2" charset="2"/>
              <a:buNone/>
            </a:pPr>
            <a:r>
              <a:rPr lang="pt-BR" sz="2000" dirty="0"/>
              <a:t>		</a:t>
            </a:r>
            <a:r>
              <a:rPr lang="pt-BR" sz="2000" b="1" dirty="0" err="1"/>
              <a:t>select</a:t>
            </a:r>
            <a:r>
              <a:rPr lang="pt-BR" sz="2000" b="1" dirty="0"/>
              <a:t> </a:t>
            </a:r>
            <a:r>
              <a:rPr lang="pt-BR" sz="2000" dirty="0" err="1"/>
              <a:t>nome_agencia</a:t>
            </a:r>
            <a:r>
              <a:rPr lang="pt-BR" sz="2000" dirty="0"/>
              <a:t>, fundos</a:t>
            </a:r>
          </a:p>
          <a:p>
            <a:pPr algn="just">
              <a:buFont typeface="Wingdings" pitchFamily="2" charset="2"/>
              <a:buNone/>
            </a:pPr>
            <a:r>
              <a:rPr lang="pt-BR" sz="2000" dirty="0"/>
              <a:t>		</a:t>
            </a:r>
            <a:r>
              <a:rPr lang="pt-BR" sz="2000" b="1" dirty="0" err="1"/>
              <a:t>from</a:t>
            </a:r>
            <a:r>
              <a:rPr lang="pt-BR" sz="2000" dirty="0"/>
              <a:t> agencia</a:t>
            </a:r>
          </a:p>
          <a:p>
            <a:pPr algn="just">
              <a:buFont typeface="Wingdings" pitchFamily="2" charset="2"/>
              <a:buNone/>
            </a:pPr>
            <a:r>
              <a:rPr lang="pt-BR" sz="2000" dirty="0"/>
              <a:t>		</a:t>
            </a:r>
            <a:r>
              <a:rPr lang="pt-BR" sz="2000" b="1" dirty="0" err="1"/>
              <a:t>where</a:t>
            </a:r>
            <a:r>
              <a:rPr lang="pt-BR" sz="2000" b="1" dirty="0"/>
              <a:t> </a:t>
            </a:r>
            <a:r>
              <a:rPr lang="pt-BR" sz="2000" dirty="0"/>
              <a:t>fundos &lt; 1000000</a:t>
            </a:r>
          </a:p>
          <a:p>
            <a:endParaRPr lang="pt-BR" dirty="0">
              <a:latin typeface="Arial" pitchFamily="34" charset="0"/>
            </a:endParaRPr>
          </a:p>
        </p:txBody>
      </p:sp>
      <p:sp>
        <p:nvSpPr>
          <p:cNvPr id="67586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SQL – DML: </a:t>
            </a:r>
            <a:r>
              <a:rPr lang="pt-BR" dirty="0" err="1"/>
              <a:t>Where</a:t>
            </a:r>
            <a:endParaRPr lang="pt-BR" dirty="0"/>
          </a:p>
        </p:txBody>
      </p:sp>
      <p:graphicFrame>
        <p:nvGraphicFramePr>
          <p:cNvPr id="6" name="Tabela 5"/>
          <p:cNvGraphicFramePr>
            <a:graphicFrameLocks noGrp="1"/>
          </p:cNvGraphicFramePr>
          <p:nvPr/>
        </p:nvGraphicFramePr>
        <p:xfrm>
          <a:off x="2000250" y="4786313"/>
          <a:ext cx="4427538" cy="946149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509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66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538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 err="1"/>
                        <a:t>Nome_agencia</a:t>
                      </a:r>
                      <a:endParaRPr lang="pt-BR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6" marR="6857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/>
                        <a:t>Fundos</a:t>
                      </a:r>
                      <a:endParaRPr lang="pt-BR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6" marR="68576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38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 err="1"/>
                        <a:t>Mianus</a:t>
                      </a:r>
                      <a:endParaRPr lang="pt-BR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6" marR="68576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/>
                        <a:t>400000</a:t>
                      </a:r>
                      <a:endParaRPr lang="pt-BR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6" marR="68576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38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 err="1"/>
                        <a:t>Pownal</a:t>
                      </a:r>
                      <a:endParaRPr lang="pt-BR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6" marR="68576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/>
                        <a:t>300000</a:t>
                      </a:r>
                      <a:endParaRPr lang="pt-BR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6" marR="68576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A21C3DB-83B7-49D5-8F3E-3004A83BB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UNESP - São José do Rio Preto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8BC50EF-FEC8-4572-B7AE-676EB0A21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BBEDC-3E96-4211-870F-5846E77DF70B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36387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1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593850"/>
            <a:ext cx="8043863" cy="4879975"/>
          </a:xfrm>
        </p:spPr>
        <p:txBody>
          <a:bodyPr/>
          <a:lstStyle/>
          <a:p>
            <a:r>
              <a:rPr lang="pt-BR" sz="2000" dirty="0"/>
              <a:t>Operadores de comparações: &lt;, &lt;=, &gt;, &gt;=, = e &lt;&gt;</a:t>
            </a:r>
          </a:p>
          <a:p>
            <a:r>
              <a:rPr lang="pt-BR" sz="2000" dirty="0"/>
              <a:t>Operador </a:t>
            </a:r>
            <a:r>
              <a:rPr lang="pt-BR" sz="2000" b="1" dirty="0" err="1"/>
              <a:t>between</a:t>
            </a:r>
            <a:endParaRPr lang="pt-BR" sz="2000" b="1" dirty="0"/>
          </a:p>
          <a:p>
            <a:r>
              <a:rPr lang="pt-BR" sz="2000" dirty="0"/>
              <a:t>Operadores em </a:t>
            </a:r>
            <a:r>
              <a:rPr lang="pt-BR" sz="2000" dirty="0" err="1"/>
              <a:t>strings</a:t>
            </a:r>
            <a:r>
              <a:rPr lang="pt-BR" sz="2000" dirty="0"/>
              <a:t>: </a:t>
            </a:r>
            <a:r>
              <a:rPr lang="pt-BR" sz="2000" b="1" dirty="0" err="1"/>
              <a:t>like</a:t>
            </a:r>
            <a:endParaRPr lang="pt-BR" sz="2000" b="1" dirty="0"/>
          </a:p>
          <a:p>
            <a:r>
              <a:rPr lang="pt-BR" sz="2000" dirty="0"/>
              <a:t>E outros.</a:t>
            </a:r>
          </a:p>
          <a:p>
            <a:endParaRPr lang="pt-BR" sz="2000" b="1" dirty="0"/>
          </a:p>
          <a:p>
            <a:r>
              <a:rPr lang="pt-BR" sz="2000" dirty="0"/>
              <a:t>As expressões envolvendo esses operadores são formadas com o auxílio dos conectores lógicos </a:t>
            </a:r>
            <a:r>
              <a:rPr lang="pt-BR" sz="2000" b="1" dirty="0" err="1"/>
              <a:t>and</a:t>
            </a:r>
            <a:r>
              <a:rPr lang="pt-BR" sz="2000" dirty="0"/>
              <a:t>, </a:t>
            </a:r>
            <a:r>
              <a:rPr lang="pt-BR" sz="2000" b="1" dirty="0" err="1"/>
              <a:t>or</a:t>
            </a:r>
            <a:r>
              <a:rPr lang="pt-BR" sz="2000" dirty="0"/>
              <a:t> e </a:t>
            </a:r>
            <a:r>
              <a:rPr lang="pt-BR" sz="2000" b="1" dirty="0" err="1"/>
              <a:t>not</a:t>
            </a:r>
            <a:endParaRPr lang="pt-BR" sz="2000" b="1" dirty="0"/>
          </a:p>
          <a:p>
            <a:endParaRPr lang="pt-BR" sz="2000" dirty="0"/>
          </a:p>
          <a:p>
            <a:r>
              <a:rPr lang="pt-BR" sz="2000" b="1" dirty="0"/>
              <a:t>Exemplo</a:t>
            </a:r>
            <a:r>
              <a:rPr lang="pt-BR" sz="2000" dirty="0"/>
              <a:t>:</a:t>
            </a:r>
          </a:p>
          <a:p>
            <a:pPr>
              <a:buFont typeface="Wingdings" pitchFamily="2" charset="2"/>
              <a:buNone/>
            </a:pPr>
            <a:r>
              <a:rPr lang="pt-BR" sz="2000" b="1" dirty="0"/>
              <a:t>	</a:t>
            </a:r>
            <a:r>
              <a:rPr lang="pt-BR" sz="2000" b="1" dirty="0" err="1"/>
              <a:t>select</a:t>
            </a:r>
            <a:r>
              <a:rPr lang="pt-BR" sz="2000" b="1" dirty="0"/>
              <a:t> </a:t>
            </a:r>
            <a:r>
              <a:rPr lang="pt-BR" sz="2000" dirty="0"/>
              <a:t>*</a:t>
            </a:r>
          </a:p>
          <a:p>
            <a:pPr>
              <a:buFont typeface="Wingdings" pitchFamily="2" charset="2"/>
              <a:buNone/>
            </a:pPr>
            <a:r>
              <a:rPr lang="pt-BR" sz="2000" dirty="0"/>
              <a:t>	</a:t>
            </a:r>
            <a:r>
              <a:rPr lang="pt-BR" sz="2000" b="1" dirty="0" err="1"/>
              <a:t>from</a:t>
            </a:r>
            <a:r>
              <a:rPr lang="pt-BR" sz="2000" dirty="0"/>
              <a:t> agencia</a:t>
            </a:r>
          </a:p>
          <a:p>
            <a:pPr>
              <a:buFont typeface="Wingdings" pitchFamily="2" charset="2"/>
              <a:buNone/>
            </a:pPr>
            <a:r>
              <a:rPr lang="pt-BR" sz="2000" dirty="0"/>
              <a:t>	</a:t>
            </a:r>
            <a:r>
              <a:rPr lang="pt-BR" sz="2000" b="1" dirty="0" err="1"/>
              <a:t>where</a:t>
            </a:r>
            <a:r>
              <a:rPr lang="pt-BR" sz="2000" b="1" dirty="0"/>
              <a:t> </a:t>
            </a:r>
            <a:r>
              <a:rPr lang="pt-BR" sz="2000" dirty="0"/>
              <a:t>fundos &gt;= 1000000 </a:t>
            </a:r>
            <a:r>
              <a:rPr lang="pt-BR" sz="2000" b="1" dirty="0" err="1"/>
              <a:t>and</a:t>
            </a:r>
            <a:r>
              <a:rPr lang="pt-BR" sz="2000" dirty="0"/>
              <a:t> fundos &lt;= 2000000</a:t>
            </a:r>
          </a:p>
        </p:txBody>
      </p:sp>
      <p:sp>
        <p:nvSpPr>
          <p:cNvPr id="68610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SQL – DML: </a:t>
            </a:r>
            <a:r>
              <a:rPr lang="pt-BR" dirty="0" err="1"/>
              <a:t>Where</a:t>
            </a:r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DEF8BD6-10FF-4254-AF79-02A721B54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UNESP - São José do Rio Preto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110BC1A-0B7E-419F-A5E7-C1278DEA6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BBEDC-3E96-4211-870F-5846E77DF70B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88346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5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357313"/>
            <a:ext cx="8043863" cy="5116512"/>
          </a:xfrm>
        </p:spPr>
        <p:txBody>
          <a:bodyPr/>
          <a:lstStyle/>
          <a:p>
            <a:pPr algn="just"/>
            <a:endParaRPr lang="pt-BR" sz="2400" dirty="0"/>
          </a:p>
          <a:p>
            <a:pPr algn="just"/>
            <a:r>
              <a:rPr lang="pt-BR" sz="2400" dirty="0"/>
              <a:t>A SQL possui o operador de comparação </a:t>
            </a:r>
            <a:r>
              <a:rPr lang="pt-BR" sz="2400" b="1" dirty="0" err="1"/>
              <a:t>between</a:t>
            </a:r>
            <a:r>
              <a:rPr lang="pt-BR" sz="2400" dirty="0"/>
              <a:t> que testa se um dado valor está dentro de um mínimo e um máximo estipulado.</a:t>
            </a:r>
          </a:p>
          <a:p>
            <a:pPr algn="just"/>
            <a:endParaRPr lang="pt-BR" sz="2400" dirty="0"/>
          </a:p>
          <a:p>
            <a:pPr algn="just"/>
            <a:r>
              <a:rPr lang="pt-BR" sz="2400" b="1" dirty="0"/>
              <a:t>Exemplo</a:t>
            </a:r>
            <a:r>
              <a:rPr lang="pt-BR" sz="2400" dirty="0"/>
              <a:t>:</a:t>
            </a:r>
          </a:p>
          <a:p>
            <a:pPr algn="just"/>
            <a:endParaRPr lang="pt-BR" sz="2400" dirty="0"/>
          </a:p>
          <a:p>
            <a:pPr algn="just">
              <a:buFont typeface="Wingdings" pitchFamily="2" charset="2"/>
              <a:buNone/>
            </a:pPr>
            <a:r>
              <a:rPr lang="pt-BR" sz="2200" b="1" dirty="0"/>
              <a:t>	</a:t>
            </a:r>
            <a:r>
              <a:rPr lang="pt-BR" sz="2200" b="1" dirty="0" err="1"/>
              <a:t>select</a:t>
            </a:r>
            <a:r>
              <a:rPr lang="pt-BR" sz="2200" b="1" dirty="0"/>
              <a:t> </a:t>
            </a:r>
            <a:r>
              <a:rPr lang="pt-BR" sz="2200" dirty="0"/>
              <a:t>* </a:t>
            </a:r>
            <a:r>
              <a:rPr lang="pt-BR" sz="2200" b="1" dirty="0" err="1"/>
              <a:t>from</a:t>
            </a:r>
            <a:r>
              <a:rPr lang="pt-BR" sz="2200" dirty="0"/>
              <a:t> agencia</a:t>
            </a:r>
          </a:p>
          <a:p>
            <a:pPr algn="just">
              <a:buFont typeface="Wingdings" pitchFamily="2" charset="2"/>
              <a:buNone/>
            </a:pPr>
            <a:r>
              <a:rPr lang="pt-BR" sz="2200" dirty="0"/>
              <a:t>	</a:t>
            </a:r>
            <a:r>
              <a:rPr lang="pt-BR" sz="2200" b="1" dirty="0" err="1"/>
              <a:t>where</a:t>
            </a:r>
            <a:r>
              <a:rPr lang="pt-BR" sz="2200" b="1" dirty="0"/>
              <a:t> </a:t>
            </a:r>
            <a:r>
              <a:rPr lang="pt-BR" sz="2200" dirty="0"/>
              <a:t>fundos </a:t>
            </a:r>
            <a:r>
              <a:rPr lang="pt-BR" sz="2200" b="1" dirty="0" err="1"/>
              <a:t>between</a:t>
            </a:r>
            <a:r>
              <a:rPr lang="pt-BR" sz="2200" dirty="0"/>
              <a:t> 1000000 </a:t>
            </a:r>
            <a:r>
              <a:rPr lang="pt-BR" sz="2200" b="1" dirty="0" err="1"/>
              <a:t>and</a:t>
            </a:r>
            <a:r>
              <a:rPr lang="pt-BR" sz="2200" dirty="0"/>
              <a:t> 2000000</a:t>
            </a:r>
          </a:p>
          <a:p>
            <a:endParaRPr lang="pt-BR" sz="2400" b="1" dirty="0">
              <a:latin typeface="Arial" pitchFamily="34" charset="0"/>
            </a:endParaRPr>
          </a:p>
          <a:p>
            <a:endParaRPr lang="pt-BR" sz="2400" dirty="0">
              <a:latin typeface="Arial" pitchFamily="34" charset="0"/>
            </a:endParaRPr>
          </a:p>
        </p:txBody>
      </p:sp>
      <p:sp>
        <p:nvSpPr>
          <p:cNvPr id="69634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SQL – DML: </a:t>
            </a:r>
            <a:r>
              <a:rPr lang="pt-BR" dirty="0" err="1"/>
              <a:t>Where</a:t>
            </a:r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59B4A9F-4FD5-424D-995D-5F9FF628D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UNESP - São José do Rio Preto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EBB81F8-B059-4399-9175-4AE97A43F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BBEDC-3E96-4211-870F-5846E77DF70B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98494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9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717675"/>
            <a:ext cx="8043863" cy="4756150"/>
          </a:xfrm>
        </p:spPr>
        <p:txBody>
          <a:bodyPr/>
          <a:lstStyle/>
          <a:p>
            <a:pPr algn="just"/>
            <a:r>
              <a:rPr lang="pt-BR" sz="2200" dirty="0"/>
              <a:t>As operações em </a:t>
            </a:r>
            <a:r>
              <a:rPr lang="pt-BR" sz="2200" dirty="0" err="1"/>
              <a:t>strings</a:t>
            </a:r>
            <a:r>
              <a:rPr lang="pt-BR" sz="2200" dirty="0"/>
              <a:t> mais utilizadas são verificações de coincidências de trechos de caracteres: cláusula </a:t>
            </a:r>
            <a:r>
              <a:rPr lang="pt-BR" sz="2200" b="1" dirty="0">
                <a:sym typeface="Wingdings" pitchFamily="2" charset="2"/>
              </a:rPr>
              <a:t>like</a:t>
            </a:r>
            <a:endParaRPr lang="pt-BR" sz="2200" b="1" dirty="0"/>
          </a:p>
          <a:p>
            <a:pPr lvl="1" algn="just"/>
            <a:r>
              <a:rPr lang="pt-BR" sz="2000" b="1" dirty="0"/>
              <a:t>%: </a:t>
            </a:r>
            <a:r>
              <a:rPr lang="pt-BR" sz="2000" dirty="0"/>
              <a:t>o </a:t>
            </a:r>
            <a:r>
              <a:rPr lang="pt-BR" sz="2000" dirty="0" err="1"/>
              <a:t>caracter</a:t>
            </a:r>
            <a:r>
              <a:rPr lang="pt-BR" sz="2000" dirty="0"/>
              <a:t> porcentagem compara qualquer </a:t>
            </a:r>
            <a:r>
              <a:rPr lang="pt-BR" sz="2000" dirty="0" err="1"/>
              <a:t>substring</a:t>
            </a:r>
            <a:endParaRPr lang="pt-BR" sz="2000" dirty="0"/>
          </a:p>
          <a:p>
            <a:pPr lvl="1" algn="just"/>
            <a:r>
              <a:rPr lang="pt-BR" sz="2000" dirty="0"/>
              <a:t>_: o </a:t>
            </a:r>
            <a:r>
              <a:rPr lang="pt-BR" sz="2000" dirty="0" err="1"/>
              <a:t>caracter</a:t>
            </a:r>
            <a:r>
              <a:rPr lang="pt-BR" sz="2000" dirty="0"/>
              <a:t> sublinhado compara qualquer </a:t>
            </a:r>
            <a:r>
              <a:rPr lang="pt-BR" sz="2000" dirty="0" err="1"/>
              <a:t>caracter</a:t>
            </a:r>
            <a:endParaRPr lang="pt-BR" sz="2000" dirty="0"/>
          </a:p>
          <a:p>
            <a:pPr lvl="1" algn="just"/>
            <a:endParaRPr lang="pt-BR" sz="2000" dirty="0"/>
          </a:p>
          <a:p>
            <a:pPr algn="just"/>
            <a:r>
              <a:rPr lang="pt-BR" sz="2200" b="1" dirty="0"/>
              <a:t>Exemplo</a:t>
            </a:r>
            <a:r>
              <a:rPr lang="pt-BR" sz="2200" dirty="0"/>
              <a:t>: “Encontre os nomes de todos os clientes cujas ruas possuam a </a:t>
            </a:r>
            <a:r>
              <a:rPr lang="pt-BR" sz="2200" dirty="0" err="1"/>
              <a:t>substring</a:t>
            </a:r>
            <a:r>
              <a:rPr lang="pt-BR" sz="2200" dirty="0"/>
              <a:t> “</a:t>
            </a:r>
            <a:r>
              <a:rPr lang="pt-BR" sz="2200" dirty="0" err="1"/>
              <a:t>Main</a:t>
            </a:r>
            <a:r>
              <a:rPr lang="pt-BR" sz="2200" dirty="0"/>
              <a:t>”:</a:t>
            </a:r>
          </a:p>
          <a:p>
            <a:pPr algn="just">
              <a:buFont typeface="Wingdings" pitchFamily="2" charset="2"/>
              <a:buNone/>
            </a:pPr>
            <a:r>
              <a:rPr lang="pt-BR" sz="2000" b="1" dirty="0"/>
              <a:t>	</a:t>
            </a:r>
          </a:p>
          <a:p>
            <a:pPr algn="just">
              <a:buFont typeface="Wingdings" pitchFamily="2" charset="2"/>
              <a:buNone/>
            </a:pPr>
            <a:r>
              <a:rPr lang="pt-BR" sz="2000" b="1" dirty="0"/>
              <a:t>	</a:t>
            </a:r>
            <a:r>
              <a:rPr lang="pt-BR" sz="2000" b="1" dirty="0" err="1"/>
              <a:t>select</a:t>
            </a:r>
            <a:r>
              <a:rPr lang="pt-BR" sz="2000" b="1" dirty="0"/>
              <a:t> </a:t>
            </a:r>
            <a:r>
              <a:rPr lang="pt-BR" sz="2000" dirty="0" err="1"/>
              <a:t>nome_cliente</a:t>
            </a:r>
            <a:endParaRPr lang="pt-BR" sz="2000" dirty="0"/>
          </a:p>
          <a:p>
            <a:pPr algn="just">
              <a:buFont typeface="Wingdings" pitchFamily="2" charset="2"/>
              <a:buNone/>
            </a:pPr>
            <a:r>
              <a:rPr lang="pt-BR" sz="2000" dirty="0"/>
              <a:t>	</a:t>
            </a:r>
            <a:r>
              <a:rPr lang="pt-BR" sz="2000" b="1" dirty="0" err="1"/>
              <a:t>from</a:t>
            </a:r>
            <a:r>
              <a:rPr lang="pt-BR" sz="2000" dirty="0"/>
              <a:t> cliente</a:t>
            </a:r>
          </a:p>
          <a:p>
            <a:pPr algn="just">
              <a:buFont typeface="Wingdings" pitchFamily="2" charset="2"/>
              <a:buNone/>
            </a:pPr>
            <a:r>
              <a:rPr lang="pt-BR" sz="2000" dirty="0"/>
              <a:t>	</a:t>
            </a:r>
            <a:r>
              <a:rPr lang="pt-BR" sz="2000" b="1" dirty="0" err="1"/>
              <a:t>where</a:t>
            </a:r>
            <a:r>
              <a:rPr lang="pt-BR" sz="2000" b="1" dirty="0"/>
              <a:t> </a:t>
            </a:r>
            <a:r>
              <a:rPr lang="pt-BR" sz="2000" dirty="0" err="1"/>
              <a:t>rua_cliente</a:t>
            </a:r>
            <a:r>
              <a:rPr lang="pt-BR" sz="2000" dirty="0"/>
              <a:t> </a:t>
            </a:r>
            <a:r>
              <a:rPr lang="pt-BR" sz="2000" b="1" dirty="0" err="1"/>
              <a:t>like</a:t>
            </a:r>
            <a:r>
              <a:rPr lang="pt-BR" sz="2000" dirty="0"/>
              <a:t> “%</a:t>
            </a:r>
            <a:r>
              <a:rPr lang="pt-BR" sz="2000" dirty="0" err="1"/>
              <a:t>Main</a:t>
            </a:r>
            <a:r>
              <a:rPr lang="pt-BR" sz="2000" dirty="0"/>
              <a:t>%”</a:t>
            </a:r>
          </a:p>
        </p:txBody>
      </p:sp>
      <p:sp>
        <p:nvSpPr>
          <p:cNvPr id="70658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SQL – DML: </a:t>
            </a:r>
            <a:r>
              <a:rPr lang="pt-BR" b="1" dirty="0" err="1"/>
              <a:t>Where</a:t>
            </a:r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0BE0301-BEAE-4BC4-A4E7-2B6DB22B4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UNESP - São José do Rio Preto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B9229FC-4145-4706-ABAF-FC1B96094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BBEDC-3E96-4211-870F-5846E77DF70B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42655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717675"/>
            <a:ext cx="8043863" cy="4756150"/>
          </a:xfrm>
        </p:spPr>
        <p:txBody>
          <a:bodyPr/>
          <a:lstStyle/>
          <a:p>
            <a:pPr algn="just"/>
            <a:r>
              <a:rPr lang="pt-BR" sz="2200" b="1" dirty="0"/>
              <a:t>Exemplo</a:t>
            </a:r>
            <a:r>
              <a:rPr lang="pt-BR" sz="2200" dirty="0"/>
              <a:t>: “Encontre os nomes de todos os clientes que moram em cidades com exatamente 3 caracteres” </a:t>
            </a:r>
          </a:p>
          <a:p>
            <a:pPr marL="0" indent="0" algn="just">
              <a:buNone/>
            </a:pPr>
            <a:endParaRPr lang="pt-BR" sz="2000" b="1" dirty="0"/>
          </a:p>
          <a:p>
            <a:pPr algn="just">
              <a:buFont typeface="Wingdings" pitchFamily="2" charset="2"/>
              <a:buNone/>
            </a:pPr>
            <a:r>
              <a:rPr lang="pt-BR" sz="2000" b="1" dirty="0"/>
              <a:t>	</a:t>
            </a:r>
            <a:r>
              <a:rPr lang="pt-BR" sz="2000" b="1" dirty="0" err="1"/>
              <a:t>select</a:t>
            </a:r>
            <a:r>
              <a:rPr lang="pt-BR" sz="2000" b="1" dirty="0"/>
              <a:t> </a:t>
            </a:r>
            <a:r>
              <a:rPr lang="pt-BR" sz="2000" dirty="0" err="1"/>
              <a:t>nome_cliente</a:t>
            </a:r>
            <a:endParaRPr lang="pt-BR" sz="2000" dirty="0"/>
          </a:p>
          <a:p>
            <a:pPr algn="just">
              <a:buFont typeface="Wingdings" pitchFamily="2" charset="2"/>
              <a:buNone/>
            </a:pPr>
            <a:r>
              <a:rPr lang="pt-BR" sz="2000" dirty="0"/>
              <a:t>	</a:t>
            </a:r>
            <a:r>
              <a:rPr lang="pt-BR" sz="2000" b="1" dirty="0" err="1"/>
              <a:t>from</a:t>
            </a:r>
            <a:r>
              <a:rPr lang="pt-BR" sz="2000" dirty="0"/>
              <a:t> cliente</a:t>
            </a:r>
          </a:p>
          <a:p>
            <a:pPr algn="just">
              <a:buFont typeface="Wingdings" pitchFamily="2" charset="2"/>
              <a:buNone/>
            </a:pPr>
            <a:r>
              <a:rPr lang="pt-BR" sz="2000" dirty="0"/>
              <a:t>	</a:t>
            </a:r>
            <a:r>
              <a:rPr lang="pt-BR" sz="2000" b="1" dirty="0" err="1"/>
              <a:t>where</a:t>
            </a:r>
            <a:r>
              <a:rPr lang="pt-BR" sz="2000" b="1" dirty="0"/>
              <a:t> </a:t>
            </a:r>
            <a:r>
              <a:rPr lang="pt-BR" sz="2000" dirty="0" err="1"/>
              <a:t>cidade_cliente</a:t>
            </a:r>
            <a:r>
              <a:rPr lang="pt-BR" sz="2000" dirty="0"/>
              <a:t> </a:t>
            </a:r>
            <a:r>
              <a:rPr lang="pt-BR" sz="2000" b="1" dirty="0" err="1"/>
              <a:t>like</a:t>
            </a:r>
            <a:r>
              <a:rPr lang="pt-BR" sz="2000" dirty="0"/>
              <a:t> “_ _ _”</a:t>
            </a:r>
          </a:p>
          <a:p>
            <a:pPr algn="just"/>
            <a:endParaRPr lang="pt-BR" sz="2000" dirty="0"/>
          </a:p>
          <a:p>
            <a:pPr algn="just"/>
            <a:r>
              <a:rPr lang="pt-BR" sz="2200" dirty="0"/>
              <a:t>De forma análoga, há o operador </a:t>
            </a:r>
            <a:r>
              <a:rPr lang="pt-BR" sz="2200" b="1" dirty="0" err="1"/>
              <a:t>not</a:t>
            </a:r>
            <a:r>
              <a:rPr lang="pt-BR" sz="2200" b="1" dirty="0"/>
              <a:t> </a:t>
            </a:r>
            <a:r>
              <a:rPr lang="pt-BR" sz="2200" b="1" dirty="0" err="1"/>
              <a:t>like</a:t>
            </a:r>
            <a:r>
              <a:rPr lang="pt-BR" sz="2200" dirty="0"/>
              <a:t> que permite pesquisar diferenças em vez de coincidências.</a:t>
            </a:r>
          </a:p>
        </p:txBody>
      </p:sp>
      <p:sp>
        <p:nvSpPr>
          <p:cNvPr id="7168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SQL – DML: </a:t>
            </a:r>
            <a:r>
              <a:rPr lang="pt-BR" dirty="0" err="1"/>
              <a:t>Where</a:t>
            </a:r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0A8B189-CFB9-4A42-A766-EDF279E57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UNESP - São José do Rio Preto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498CC54-A89E-4134-B58A-1FDFC2E53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BBEDC-3E96-4211-870F-5846E77DF70B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605771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7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62113"/>
            <a:ext cx="7758113" cy="4811712"/>
          </a:xfrm>
        </p:spPr>
        <p:txBody>
          <a:bodyPr/>
          <a:lstStyle/>
          <a:p>
            <a:pPr algn="just"/>
            <a:r>
              <a:rPr lang="pt-BR" sz="2200" dirty="0"/>
              <a:t>Define um produto cartesiano das relações listadas na cláusula.</a:t>
            </a:r>
          </a:p>
          <a:p>
            <a:pPr algn="just"/>
            <a:r>
              <a:rPr lang="pt-BR" sz="2200" b="1" dirty="0"/>
              <a:t>Exemplo</a:t>
            </a:r>
            <a:r>
              <a:rPr lang="pt-BR" sz="2200" dirty="0"/>
              <a:t>: “Para todos os depósitos efetuados, encontre o nome e a cidade do cliente”:</a:t>
            </a:r>
          </a:p>
          <a:p>
            <a:pPr algn="just">
              <a:buFont typeface="Wingdings" pitchFamily="2" charset="2"/>
              <a:buNone/>
            </a:pPr>
            <a:endParaRPr lang="pt-BR" sz="2000" b="1" dirty="0"/>
          </a:p>
          <a:p>
            <a:pPr lvl="1" algn="just">
              <a:buFont typeface="Wingdings" pitchFamily="2" charset="2"/>
              <a:buNone/>
            </a:pPr>
            <a:r>
              <a:rPr lang="pt-BR" sz="1900" b="1" dirty="0" err="1"/>
              <a:t>select</a:t>
            </a:r>
            <a:r>
              <a:rPr lang="pt-BR" sz="1900" b="1" dirty="0"/>
              <a:t> </a:t>
            </a:r>
            <a:r>
              <a:rPr lang="pt-BR" sz="1900" dirty="0" err="1"/>
              <a:t>depositante.nome_cliente</a:t>
            </a:r>
            <a:r>
              <a:rPr lang="pt-BR" sz="1900" dirty="0"/>
              <a:t>, </a:t>
            </a:r>
            <a:r>
              <a:rPr lang="pt-BR" sz="1900" dirty="0" err="1"/>
              <a:t>cidade_cliente</a:t>
            </a:r>
            <a:endParaRPr lang="pt-BR" sz="1900" dirty="0"/>
          </a:p>
          <a:p>
            <a:pPr lvl="1" algn="just">
              <a:buFont typeface="Wingdings" pitchFamily="2" charset="2"/>
              <a:buNone/>
            </a:pPr>
            <a:r>
              <a:rPr lang="pt-BR" sz="1900" b="1" dirty="0" err="1"/>
              <a:t>from</a:t>
            </a:r>
            <a:r>
              <a:rPr lang="pt-BR" sz="1900" dirty="0"/>
              <a:t> depositante, cliente</a:t>
            </a:r>
          </a:p>
          <a:p>
            <a:pPr lvl="1" algn="just">
              <a:buFont typeface="Wingdings" pitchFamily="2" charset="2"/>
              <a:buNone/>
            </a:pPr>
            <a:r>
              <a:rPr lang="pt-BR" sz="1900" b="1" dirty="0" err="1"/>
              <a:t>where</a:t>
            </a:r>
            <a:r>
              <a:rPr lang="pt-BR" sz="1900" b="1" dirty="0"/>
              <a:t> </a:t>
            </a:r>
            <a:r>
              <a:rPr lang="pt-BR" sz="1900" dirty="0" err="1"/>
              <a:t>depositante.nome_cliente</a:t>
            </a:r>
            <a:r>
              <a:rPr lang="pt-BR" sz="1900" dirty="0"/>
              <a:t> = </a:t>
            </a:r>
            <a:r>
              <a:rPr lang="pt-BR" sz="1900" dirty="0" err="1"/>
              <a:t>cliente.nome_cliente</a:t>
            </a:r>
            <a:endParaRPr lang="pt-BR" sz="1900" dirty="0"/>
          </a:p>
          <a:p>
            <a:pPr algn="just">
              <a:buFont typeface="Wingdings" pitchFamily="2" charset="2"/>
              <a:buNone/>
            </a:pPr>
            <a:endParaRPr lang="pt-BR" sz="2000" dirty="0"/>
          </a:p>
          <a:p>
            <a:pPr algn="just"/>
            <a:r>
              <a:rPr lang="pt-BR" sz="2200" dirty="0"/>
              <a:t>Se houver mais de uma relação na cláusula </a:t>
            </a:r>
            <a:r>
              <a:rPr lang="pt-BR" sz="2200" b="1" dirty="0" err="1"/>
              <a:t>from</a:t>
            </a:r>
            <a:r>
              <a:rPr lang="pt-BR" sz="2200" dirty="0"/>
              <a:t>, pode ser necessário referenciar um atributo na forma &lt;nome-tabela&gt;.&lt;nome-atributo&gt; para evitar problemas de ambiguidade.</a:t>
            </a:r>
          </a:p>
          <a:p>
            <a:pPr algn="just"/>
            <a:endParaRPr lang="pt-BR" sz="2000" dirty="0">
              <a:latin typeface="Arial" pitchFamily="34" charset="0"/>
            </a:endParaRPr>
          </a:p>
        </p:txBody>
      </p:sp>
      <p:sp>
        <p:nvSpPr>
          <p:cNvPr id="72706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SQL – DML: FROM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913E1F2-322F-46AC-9E38-85E53F781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UNESP - São José do Rio Preto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1B2D540-7239-4324-90DE-E1A601069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BBEDC-3E96-4211-870F-5846E77DF70B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5906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6550"/>
            <a:ext cx="7758113" cy="4867275"/>
          </a:xfrm>
        </p:spPr>
        <p:txBody>
          <a:bodyPr/>
          <a:lstStyle/>
          <a:p>
            <a:pPr algn="just"/>
            <a:r>
              <a:rPr lang="pt-BR" sz="2400" dirty="0"/>
              <a:t>Variáveis </a:t>
            </a:r>
            <a:r>
              <a:rPr lang="pt-BR" sz="2400" dirty="0" err="1"/>
              <a:t>tuplas</a:t>
            </a:r>
            <a:r>
              <a:rPr lang="pt-BR" sz="2400" dirty="0"/>
              <a:t> são definidas na cláusula </a:t>
            </a:r>
            <a:r>
              <a:rPr lang="pt-BR" sz="2400" b="1" dirty="0" err="1"/>
              <a:t>from</a:t>
            </a:r>
            <a:r>
              <a:rPr lang="pt-BR" sz="2400" dirty="0"/>
              <a:t> por meio do uso da cláusula </a:t>
            </a:r>
            <a:r>
              <a:rPr lang="pt-BR" sz="2400" b="1" dirty="0"/>
              <a:t>as.</a:t>
            </a:r>
          </a:p>
          <a:p>
            <a:pPr algn="just"/>
            <a:endParaRPr lang="pt-BR" sz="2400" dirty="0"/>
          </a:p>
          <a:p>
            <a:pPr algn="just"/>
            <a:r>
              <a:rPr lang="pt-BR" sz="2400" b="1" dirty="0"/>
              <a:t>Exemplo</a:t>
            </a:r>
            <a:r>
              <a:rPr lang="pt-BR" sz="2400" dirty="0"/>
              <a:t>: “Para todos os depósitos efetuados, encontre o nome e a cidade do cliente”:</a:t>
            </a:r>
          </a:p>
          <a:p>
            <a:pPr algn="just">
              <a:buFont typeface="Wingdings" pitchFamily="2" charset="2"/>
              <a:buNone/>
            </a:pPr>
            <a:endParaRPr lang="pt-BR" sz="2400" b="1" dirty="0"/>
          </a:p>
          <a:p>
            <a:pPr lvl="1" algn="just">
              <a:buFont typeface="Wingdings" pitchFamily="2" charset="2"/>
              <a:buNone/>
            </a:pPr>
            <a:r>
              <a:rPr lang="pt-BR" sz="2100" b="1" dirty="0" err="1"/>
              <a:t>select</a:t>
            </a:r>
            <a:r>
              <a:rPr lang="pt-BR" sz="2100" b="1" dirty="0"/>
              <a:t> </a:t>
            </a:r>
            <a:r>
              <a:rPr lang="pt-BR" sz="2100" dirty="0" err="1"/>
              <a:t>D.nome_cliente</a:t>
            </a:r>
            <a:r>
              <a:rPr lang="pt-BR" sz="2100" dirty="0"/>
              <a:t>, </a:t>
            </a:r>
            <a:r>
              <a:rPr lang="pt-BR" sz="2100" dirty="0" err="1"/>
              <a:t>cidade_cliente</a:t>
            </a:r>
            <a:endParaRPr lang="pt-BR" sz="2100" dirty="0"/>
          </a:p>
          <a:p>
            <a:pPr lvl="1" algn="just">
              <a:buFont typeface="Wingdings" pitchFamily="2" charset="2"/>
              <a:buNone/>
            </a:pPr>
            <a:r>
              <a:rPr lang="pt-BR" sz="2100" b="1" dirty="0" err="1"/>
              <a:t>from</a:t>
            </a:r>
            <a:r>
              <a:rPr lang="pt-BR" sz="2100" dirty="0"/>
              <a:t> depositante as D, cliente as C</a:t>
            </a:r>
          </a:p>
          <a:p>
            <a:pPr lvl="1" algn="just">
              <a:buFont typeface="Wingdings" pitchFamily="2" charset="2"/>
              <a:buNone/>
            </a:pPr>
            <a:r>
              <a:rPr lang="pt-BR" sz="2100" b="1" dirty="0" err="1"/>
              <a:t>where</a:t>
            </a:r>
            <a:r>
              <a:rPr lang="pt-BR" sz="2100" b="1" dirty="0"/>
              <a:t> </a:t>
            </a:r>
            <a:r>
              <a:rPr lang="pt-BR" sz="2100" dirty="0" err="1"/>
              <a:t>D.nome_cliente</a:t>
            </a:r>
            <a:r>
              <a:rPr lang="pt-BR" sz="2100" dirty="0"/>
              <a:t> = </a:t>
            </a:r>
            <a:r>
              <a:rPr lang="pt-BR" sz="2100" dirty="0" err="1"/>
              <a:t>C.nome_cliente</a:t>
            </a:r>
            <a:endParaRPr lang="pt-BR" sz="2100" dirty="0"/>
          </a:p>
          <a:p>
            <a:pPr>
              <a:buFont typeface="Wingdings" pitchFamily="2" charset="2"/>
              <a:buNone/>
            </a:pPr>
            <a:endParaRPr lang="pt-BR" sz="2400" dirty="0">
              <a:latin typeface="Arial" pitchFamily="34" charset="0"/>
            </a:endParaRPr>
          </a:p>
          <a:p>
            <a:pPr>
              <a:buFont typeface="Wingdings" pitchFamily="2" charset="2"/>
              <a:buNone/>
            </a:pPr>
            <a:endParaRPr lang="pt-BR" sz="2400" dirty="0">
              <a:latin typeface="Arial" pitchFamily="34" charset="0"/>
            </a:endParaRPr>
          </a:p>
        </p:txBody>
      </p:sp>
      <p:sp>
        <p:nvSpPr>
          <p:cNvPr id="73730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SQL – DML: FROM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5421EA3-1364-470F-AA85-BE150B81E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UNESP - São José do Rio Preto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FB04A37-FC13-44C0-98F7-0351F7E54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BBEDC-3E96-4211-870F-5846E77DF70B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69601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5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550988"/>
            <a:ext cx="7972425" cy="4922837"/>
          </a:xfrm>
        </p:spPr>
        <p:txBody>
          <a:bodyPr/>
          <a:lstStyle/>
          <a:p>
            <a:pPr algn="just"/>
            <a:r>
              <a:rPr lang="pt-BR" sz="2400" dirty="0"/>
              <a:t>O uso efetivo das variáveis </a:t>
            </a:r>
            <a:r>
              <a:rPr lang="pt-BR" sz="2400" dirty="0" err="1"/>
              <a:t>tuplas</a:t>
            </a:r>
            <a:r>
              <a:rPr lang="pt-BR" sz="2400" dirty="0"/>
              <a:t> é a comparação de duas </a:t>
            </a:r>
            <a:r>
              <a:rPr lang="pt-BR" sz="2400" dirty="0" err="1"/>
              <a:t>tuplas</a:t>
            </a:r>
            <a:r>
              <a:rPr lang="pt-BR" sz="2400" dirty="0"/>
              <a:t> de mesma relação.</a:t>
            </a:r>
            <a:endParaRPr lang="pt-BR" sz="2400" b="1" dirty="0"/>
          </a:p>
          <a:p>
            <a:pPr algn="just"/>
            <a:endParaRPr lang="pt-BR" sz="2400" dirty="0"/>
          </a:p>
          <a:p>
            <a:pPr algn="just"/>
            <a:r>
              <a:rPr lang="pt-BR" sz="2400" b="1" dirty="0"/>
              <a:t>Exemplo</a:t>
            </a:r>
            <a:r>
              <a:rPr lang="pt-BR" sz="2400" dirty="0"/>
              <a:t>: “Encontre os nomes de todas </a:t>
            </a:r>
            <a:r>
              <a:rPr lang="pt-BR" dirty="0"/>
              <a:t>a</a:t>
            </a:r>
            <a:r>
              <a:rPr lang="pt-BR" sz="2400" dirty="0"/>
              <a:t>s agências que tenham fundos maiores que ao menos uma agência daquelas localizadas no Brooklyn”</a:t>
            </a:r>
          </a:p>
          <a:p>
            <a:pPr algn="just">
              <a:buFont typeface="Wingdings" pitchFamily="2" charset="2"/>
              <a:buNone/>
            </a:pPr>
            <a:endParaRPr lang="pt-BR" sz="2400" b="1" dirty="0"/>
          </a:p>
          <a:p>
            <a:pPr lvl="1" algn="just">
              <a:buFont typeface="Wingdings" pitchFamily="2" charset="2"/>
              <a:buNone/>
            </a:pPr>
            <a:r>
              <a:rPr lang="pt-BR" sz="1800" b="1" dirty="0" err="1"/>
              <a:t>select</a:t>
            </a:r>
            <a:r>
              <a:rPr lang="pt-BR" sz="1800" b="1" dirty="0"/>
              <a:t> </a:t>
            </a:r>
            <a:r>
              <a:rPr lang="pt-BR" sz="1800" b="1" dirty="0" err="1"/>
              <a:t>distinct</a:t>
            </a:r>
            <a:r>
              <a:rPr lang="pt-BR" sz="1800" b="1" dirty="0"/>
              <a:t> </a:t>
            </a:r>
            <a:r>
              <a:rPr lang="pt-BR" sz="1800" dirty="0" err="1"/>
              <a:t>T.nome_agencia</a:t>
            </a:r>
            <a:endParaRPr lang="pt-BR" sz="1800" dirty="0"/>
          </a:p>
          <a:p>
            <a:pPr lvl="1" algn="just">
              <a:buFont typeface="Wingdings" pitchFamily="2" charset="2"/>
              <a:buNone/>
            </a:pPr>
            <a:r>
              <a:rPr lang="pt-BR" sz="1800" b="1" dirty="0" err="1"/>
              <a:t>from</a:t>
            </a:r>
            <a:r>
              <a:rPr lang="pt-BR" sz="1800" dirty="0"/>
              <a:t> agencia as T, agencia as S</a:t>
            </a:r>
          </a:p>
          <a:p>
            <a:pPr lvl="1" algn="just">
              <a:buFont typeface="Wingdings" pitchFamily="2" charset="2"/>
              <a:buNone/>
            </a:pPr>
            <a:r>
              <a:rPr lang="pt-BR" sz="1800" b="1" dirty="0" err="1"/>
              <a:t>where</a:t>
            </a:r>
            <a:r>
              <a:rPr lang="pt-BR" sz="1800" b="1" dirty="0"/>
              <a:t> </a:t>
            </a:r>
            <a:r>
              <a:rPr lang="pt-BR" sz="1800" dirty="0" err="1"/>
              <a:t>T.fundos</a:t>
            </a:r>
            <a:r>
              <a:rPr lang="pt-BR" sz="1800" dirty="0"/>
              <a:t> &gt; </a:t>
            </a:r>
            <a:r>
              <a:rPr lang="pt-BR" sz="1800" dirty="0" err="1"/>
              <a:t>S.fundos</a:t>
            </a:r>
            <a:r>
              <a:rPr lang="pt-BR" sz="1800" dirty="0"/>
              <a:t> </a:t>
            </a:r>
            <a:r>
              <a:rPr lang="pt-BR" sz="1800" dirty="0" err="1"/>
              <a:t>and</a:t>
            </a:r>
            <a:r>
              <a:rPr lang="pt-BR" sz="1800" dirty="0"/>
              <a:t> </a:t>
            </a:r>
            <a:r>
              <a:rPr lang="pt-BR" sz="1800" dirty="0" err="1"/>
              <a:t>S.cidade_agencia</a:t>
            </a:r>
            <a:r>
              <a:rPr lang="pt-BR" sz="1800" dirty="0"/>
              <a:t> = “Brooklyn”</a:t>
            </a:r>
          </a:p>
          <a:p>
            <a:pPr algn="just">
              <a:buFont typeface="Wingdings" pitchFamily="2" charset="2"/>
              <a:buNone/>
            </a:pPr>
            <a:endParaRPr lang="pt-BR" sz="2400" dirty="0">
              <a:latin typeface="Arial" pitchFamily="34" charset="0"/>
            </a:endParaRPr>
          </a:p>
        </p:txBody>
      </p:sp>
      <p:sp>
        <p:nvSpPr>
          <p:cNvPr id="74754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SQL – DML: FROM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E165310-CD3E-4F89-B1E4-9FA343EFB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UNESP - São José do Rio Preto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37625EC-0D4B-4501-A4F0-98AA37E18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BBEDC-3E96-4211-870F-5846E77DF70B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24406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9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20838"/>
            <a:ext cx="7972425" cy="4852987"/>
          </a:xfrm>
        </p:spPr>
        <p:txBody>
          <a:bodyPr/>
          <a:lstStyle/>
          <a:p>
            <a:pPr algn="just"/>
            <a:r>
              <a:rPr lang="pt-BR" sz="2200" dirty="0"/>
              <a:t>A SQL oferece um mecanismo de controle de ordenação fazendo com que as </a:t>
            </a:r>
            <a:r>
              <a:rPr lang="pt-BR" sz="2200" dirty="0" err="1"/>
              <a:t>tuplas</a:t>
            </a:r>
            <a:r>
              <a:rPr lang="pt-BR" sz="2200" dirty="0"/>
              <a:t> do resultado de uma consulta apareçam em uma determinada ordem.</a:t>
            </a:r>
          </a:p>
          <a:p>
            <a:pPr algn="just"/>
            <a:endParaRPr lang="pt-BR" sz="2200" dirty="0"/>
          </a:p>
          <a:p>
            <a:pPr algn="just"/>
            <a:r>
              <a:rPr lang="pt-BR" sz="2200" b="1" dirty="0"/>
              <a:t>Exemplo</a:t>
            </a:r>
            <a:r>
              <a:rPr lang="pt-BR" sz="2200" dirty="0"/>
              <a:t>: “Listar em ordem alfabética todos os clientes que tenham um empréstimo na agência </a:t>
            </a:r>
            <a:r>
              <a:rPr lang="pt-BR" sz="2200" dirty="0" err="1"/>
              <a:t>Downtown</a:t>
            </a:r>
            <a:r>
              <a:rPr lang="pt-BR" sz="2200" dirty="0"/>
              <a:t>”</a:t>
            </a:r>
          </a:p>
          <a:p>
            <a:pPr algn="just">
              <a:buFont typeface="Wingdings" pitchFamily="2" charset="2"/>
              <a:buNone/>
            </a:pPr>
            <a:endParaRPr lang="pt-BR" sz="1800" b="1" dirty="0"/>
          </a:p>
          <a:p>
            <a:pPr lvl="1" algn="just">
              <a:buFont typeface="Wingdings" pitchFamily="2" charset="2"/>
              <a:buNone/>
            </a:pPr>
            <a:r>
              <a:rPr lang="pt-BR" sz="1700" b="1" dirty="0" err="1"/>
              <a:t>select</a:t>
            </a:r>
            <a:r>
              <a:rPr lang="pt-BR" sz="1700" b="1" dirty="0"/>
              <a:t> </a:t>
            </a:r>
            <a:r>
              <a:rPr lang="pt-BR" sz="1700" b="1" dirty="0" err="1"/>
              <a:t>distinct</a:t>
            </a:r>
            <a:r>
              <a:rPr lang="pt-BR" sz="1700" b="1" dirty="0"/>
              <a:t> </a:t>
            </a:r>
            <a:r>
              <a:rPr lang="pt-BR" sz="1700" dirty="0" err="1"/>
              <a:t>nome_cliente</a:t>
            </a:r>
            <a:endParaRPr lang="pt-BR" sz="1700" dirty="0"/>
          </a:p>
          <a:p>
            <a:pPr lvl="1" algn="just">
              <a:buFont typeface="Wingdings" pitchFamily="2" charset="2"/>
              <a:buNone/>
            </a:pPr>
            <a:r>
              <a:rPr lang="pt-BR" sz="1700" b="1" dirty="0" err="1"/>
              <a:t>from</a:t>
            </a:r>
            <a:r>
              <a:rPr lang="pt-BR" sz="1700" dirty="0"/>
              <a:t> devedor, </a:t>
            </a:r>
            <a:r>
              <a:rPr lang="pt-BR" sz="1700" dirty="0" err="1"/>
              <a:t>emprestimo</a:t>
            </a:r>
            <a:endParaRPr lang="pt-BR" sz="1700" dirty="0"/>
          </a:p>
          <a:p>
            <a:pPr lvl="1" algn="just">
              <a:buFont typeface="Wingdings" pitchFamily="2" charset="2"/>
              <a:buNone/>
            </a:pPr>
            <a:r>
              <a:rPr lang="pt-BR" sz="1700" b="1" dirty="0" err="1"/>
              <a:t>where</a:t>
            </a:r>
            <a:r>
              <a:rPr lang="pt-BR" sz="1700" b="1" dirty="0"/>
              <a:t> </a:t>
            </a:r>
            <a:r>
              <a:rPr lang="pt-BR" sz="1700" dirty="0" err="1"/>
              <a:t>devedor.numero_emprestimo</a:t>
            </a:r>
            <a:r>
              <a:rPr lang="pt-BR" sz="1700" dirty="0"/>
              <a:t> = </a:t>
            </a:r>
            <a:r>
              <a:rPr lang="pt-BR" sz="1700" dirty="0" err="1"/>
              <a:t>emprestimo.numero_emprestimo</a:t>
            </a:r>
            <a:endParaRPr lang="pt-BR" sz="1700" dirty="0"/>
          </a:p>
          <a:p>
            <a:pPr lvl="1" algn="just">
              <a:buFont typeface="Wingdings" pitchFamily="2" charset="2"/>
              <a:buNone/>
            </a:pPr>
            <a:r>
              <a:rPr lang="pt-BR" sz="1700" b="1" dirty="0"/>
              <a:t>			</a:t>
            </a:r>
            <a:r>
              <a:rPr lang="pt-BR" sz="1700" b="1" dirty="0" err="1"/>
              <a:t>and</a:t>
            </a:r>
            <a:r>
              <a:rPr lang="pt-BR" sz="1700" dirty="0"/>
              <a:t> </a:t>
            </a:r>
            <a:r>
              <a:rPr lang="pt-BR" sz="1700" dirty="0" err="1"/>
              <a:t>nome_agencia</a:t>
            </a:r>
            <a:r>
              <a:rPr lang="pt-BR" sz="1700" dirty="0"/>
              <a:t> = “</a:t>
            </a:r>
            <a:r>
              <a:rPr lang="pt-BR" sz="1700" dirty="0" err="1"/>
              <a:t>Downtown</a:t>
            </a:r>
            <a:r>
              <a:rPr lang="pt-BR" sz="1700" dirty="0"/>
              <a:t>”</a:t>
            </a:r>
          </a:p>
          <a:p>
            <a:pPr lvl="1" algn="just">
              <a:buFont typeface="Wingdings" pitchFamily="2" charset="2"/>
              <a:buNone/>
            </a:pPr>
            <a:r>
              <a:rPr lang="pt-BR" sz="1700" b="1" dirty="0" err="1"/>
              <a:t>order</a:t>
            </a:r>
            <a:r>
              <a:rPr lang="pt-BR" sz="1700" b="1" dirty="0"/>
              <a:t> </a:t>
            </a:r>
            <a:r>
              <a:rPr lang="pt-BR" sz="1700" b="1" dirty="0" err="1"/>
              <a:t>by</a:t>
            </a:r>
            <a:r>
              <a:rPr lang="pt-BR" sz="1700" b="1" dirty="0"/>
              <a:t> </a:t>
            </a:r>
            <a:r>
              <a:rPr lang="pt-BR" sz="1700" dirty="0" err="1"/>
              <a:t>nome_cliente</a:t>
            </a:r>
            <a:endParaRPr lang="pt-BR" sz="1700" dirty="0"/>
          </a:p>
          <a:p>
            <a:pPr>
              <a:buFont typeface="Wingdings" pitchFamily="2" charset="2"/>
              <a:buNone/>
            </a:pPr>
            <a:endParaRPr lang="pt-BR" dirty="0">
              <a:latin typeface="Arial" pitchFamily="34" charset="0"/>
            </a:endParaRPr>
          </a:p>
          <a:p>
            <a:pPr>
              <a:buFont typeface="Wingdings" pitchFamily="2" charset="2"/>
              <a:buNone/>
            </a:pPr>
            <a:endParaRPr lang="pt-BR" dirty="0">
              <a:latin typeface="Arial" pitchFamily="34" charset="0"/>
            </a:endParaRPr>
          </a:p>
        </p:txBody>
      </p:sp>
      <p:sp>
        <p:nvSpPr>
          <p:cNvPr id="75778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SQL – DML: </a:t>
            </a:r>
            <a:r>
              <a:rPr lang="pt-BR" dirty="0" err="1"/>
              <a:t>Order</a:t>
            </a:r>
            <a:r>
              <a:rPr lang="pt-BR" dirty="0"/>
              <a:t> </a:t>
            </a:r>
            <a:r>
              <a:rPr lang="pt-BR" dirty="0" err="1"/>
              <a:t>By</a:t>
            </a:r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FC90813-6160-4DBB-A85E-9C72F5149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UNESP - São José do Rio Preto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BFF33ED-DCA9-4F4C-A495-B041F7B6B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BBEDC-3E96-4211-870F-5846E77DF70B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43113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550988"/>
            <a:ext cx="7972425" cy="4922837"/>
          </a:xfrm>
        </p:spPr>
        <p:txBody>
          <a:bodyPr/>
          <a:lstStyle/>
          <a:p>
            <a:pPr algn="just"/>
            <a:r>
              <a:rPr lang="pt-BR" sz="2200" dirty="0"/>
              <a:t>Por padrão, a cláusula </a:t>
            </a:r>
            <a:r>
              <a:rPr lang="pt-BR" sz="2200" b="1" dirty="0" err="1"/>
              <a:t>order</a:t>
            </a:r>
            <a:r>
              <a:rPr lang="pt-BR" sz="2200" b="1" dirty="0"/>
              <a:t> </a:t>
            </a:r>
            <a:r>
              <a:rPr lang="pt-BR" sz="2200" b="1" dirty="0" err="1"/>
              <a:t>by</a:t>
            </a:r>
            <a:r>
              <a:rPr lang="pt-BR" sz="2200" b="1" dirty="0"/>
              <a:t> </a:t>
            </a:r>
            <a:r>
              <a:rPr lang="pt-BR" sz="2200" dirty="0"/>
              <a:t>relaciona os itens em ordem ascendente. Para explicitar a ordem utilizar </a:t>
            </a:r>
            <a:r>
              <a:rPr lang="pt-BR" sz="2200" b="1" dirty="0" err="1"/>
              <a:t>asc</a:t>
            </a:r>
            <a:r>
              <a:rPr lang="pt-BR" sz="2200" dirty="0"/>
              <a:t> para ordenação ascendente e </a:t>
            </a:r>
            <a:r>
              <a:rPr lang="pt-BR" sz="2200" b="1" dirty="0" err="1"/>
              <a:t>desc</a:t>
            </a:r>
            <a:r>
              <a:rPr lang="pt-BR" sz="2200" dirty="0"/>
              <a:t> para ordenação descendente.</a:t>
            </a:r>
          </a:p>
          <a:p>
            <a:pPr algn="just">
              <a:buFont typeface="Wingdings" pitchFamily="2" charset="2"/>
              <a:buNone/>
            </a:pPr>
            <a:r>
              <a:rPr lang="pt-BR" sz="2200" dirty="0"/>
              <a:t> </a:t>
            </a:r>
          </a:p>
          <a:p>
            <a:pPr algn="just"/>
            <a:r>
              <a:rPr lang="pt-BR" sz="2200" b="1" dirty="0"/>
              <a:t>Exemplo</a:t>
            </a:r>
            <a:r>
              <a:rPr lang="pt-BR" sz="2200" dirty="0"/>
              <a:t>: “Listar a relação empréstimo por ordem descendente de </a:t>
            </a:r>
            <a:r>
              <a:rPr lang="pt-BR" sz="2200" i="1" dirty="0"/>
              <a:t>total</a:t>
            </a:r>
            <a:r>
              <a:rPr lang="pt-BR" sz="2200" dirty="0"/>
              <a:t>. Se houver empréstimos com o mesmo </a:t>
            </a:r>
            <a:r>
              <a:rPr lang="pt-BR" sz="2200" i="1" dirty="0"/>
              <a:t>total</a:t>
            </a:r>
            <a:r>
              <a:rPr lang="pt-BR" sz="2200" dirty="0"/>
              <a:t>, realizar uma segunda ordenação ascendente pelo </a:t>
            </a:r>
            <a:r>
              <a:rPr lang="pt-BR" sz="2200" i="1" dirty="0" err="1"/>
              <a:t>numero_emprestimo</a:t>
            </a:r>
            <a:r>
              <a:rPr lang="pt-BR" sz="2200" dirty="0"/>
              <a:t>”</a:t>
            </a:r>
          </a:p>
          <a:p>
            <a:pPr lvl="2">
              <a:buFont typeface="Wingdings" pitchFamily="2" charset="2"/>
              <a:buNone/>
            </a:pPr>
            <a:endParaRPr lang="pt-BR" sz="1800" b="1" dirty="0"/>
          </a:p>
          <a:p>
            <a:pPr lvl="2">
              <a:buFont typeface="Wingdings" pitchFamily="2" charset="2"/>
              <a:buNone/>
            </a:pPr>
            <a:r>
              <a:rPr lang="pt-BR" sz="1800" b="1" dirty="0" err="1"/>
              <a:t>select</a:t>
            </a:r>
            <a:r>
              <a:rPr lang="pt-BR" sz="1800" b="1" dirty="0"/>
              <a:t> *</a:t>
            </a:r>
            <a:endParaRPr lang="pt-BR" sz="1800" dirty="0"/>
          </a:p>
          <a:p>
            <a:pPr lvl="2">
              <a:buFont typeface="Wingdings" pitchFamily="2" charset="2"/>
              <a:buNone/>
            </a:pPr>
            <a:r>
              <a:rPr lang="pt-BR" sz="1800" b="1" dirty="0" err="1"/>
              <a:t>from</a:t>
            </a:r>
            <a:r>
              <a:rPr lang="pt-BR" sz="1800" dirty="0"/>
              <a:t> </a:t>
            </a:r>
            <a:r>
              <a:rPr lang="pt-BR" sz="1800" dirty="0" err="1"/>
              <a:t>emprestimo</a:t>
            </a:r>
            <a:endParaRPr lang="pt-BR" sz="1800" dirty="0"/>
          </a:p>
          <a:p>
            <a:pPr lvl="2">
              <a:buFont typeface="Wingdings" pitchFamily="2" charset="2"/>
              <a:buNone/>
            </a:pPr>
            <a:r>
              <a:rPr lang="pt-BR" sz="1800" b="1" dirty="0" err="1"/>
              <a:t>order</a:t>
            </a:r>
            <a:r>
              <a:rPr lang="pt-BR" sz="1800" b="1" dirty="0"/>
              <a:t> </a:t>
            </a:r>
            <a:r>
              <a:rPr lang="pt-BR" sz="1800" b="1" dirty="0" err="1"/>
              <a:t>by</a:t>
            </a:r>
            <a:r>
              <a:rPr lang="pt-BR" sz="1800" b="1" dirty="0"/>
              <a:t> </a:t>
            </a:r>
            <a:r>
              <a:rPr lang="pt-BR" sz="1800" dirty="0"/>
              <a:t>total</a:t>
            </a:r>
            <a:r>
              <a:rPr lang="pt-BR" sz="1800" b="1" dirty="0"/>
              <a:t> </a:t>
            </a:r>
            <a:r>
              <a:rPr lang="pt-BR" sz="1800" b="1" dirty="0" err="1"/>
              <a:t>desc</a:t>
            </a:r>
            <a:r>
              <a:rPr lang="pt-BR" sz="1800" b="1" dirty="0"/>
              <a:t>, </a:t>
            </a:r>
            <a:r>
              <a:rPr lang="pt-BR" sz="1800" dirty="0" err="1"/>
              <a:t>numero_emprestimo</a:t>
            </a:r>
            <a:r>
              <a:rPr lang="pt-BR" sz="1800" dirty="0"/>
              <a:t> </a:t>
            </a:r>
            <a:r>
              <a:rPr lang="pt-BR" sz="1800" b="1" dirty="0" err="1"/>
              <a:t>asc</a:t>
            </a:r>
            <a:endParaRPr lang="pt-BR" sz="1800" dirty="0"/>
          </a:p>
          <a:p>
            <a:pPr>
              <a:buFont typeface="Wingdings" pitchFamily="2" charset="2"/>
              <a:buNone/>
            </a:pPr>
            <a:endParaRPr lang="pt-BR" dirty="0">
              <a:latin typeface="Arial" pitchFamily="34" charset="0"/>
            </a:endParaRPr>
          </a:p>
          <a:p>
            <a:pPr>
              <a:buFont typeface="Wingdings" pitchFamily="2" charset="2"/>
              <a:buNone/>
            </a:pPr>
            <a:endParaRPr lang="pt-BR" dirty="0">
              <a:latin typeface="Arial" pitchFamily="34" charset="0"/>
            </a:endParaRPr>
          </a:p>
        </p:txBody>
      </p:sp>
      <p:sp>
        <p:nvSpPr>
          <p:cNvPr id="7680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SQL – DML: </a:t>
            </a:r>
            <a:r>
              <a:rPr lang="pt-BR" dirty="0" err="1"/>
              <a:t>Order</a:t>
            </a:r>
            <a:r>
              <a:rPr lang="pt-BR" dirty="0"/>
              <a:t> </a:t>
            </a:r>
            <a:r>
              <a:rPr lang="pt-BR" dirty="0" err="1"/>
              <a:t>By</a:t>
            </a:r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3094C77-D1E6-41C7-818D-4847F0EBD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UNESP - São José do Rio Preto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0B33915-5BC8-493D-B802-507D89B97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BBEDC-3E96-4211-870F-5846E77DF70B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66327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717675"/>
            <a:ext cx="7467600" cy="4756150"/>
          </a:xfrm>
        </p:spPr>
        <p:txBody>
          <a:bodyPr/>
          <a:lstStyle/>
          <a:p>
            <a:pPr algn="just">
              <a:defRPr/>
            </a:pPr>
            <a:r>
              <a:rPr lang="pt-BR" sz="2200" dirty="0"/>
              <a:t>As operações de conjuntos definidas são: </a:t>
            </a:r>
            <a:r>
              <a:rPr lang="pt-BR" sz="2200" b="1" dirty="0"/>
              <a:t>union</a:t>
            </a:r>
            <a:r>
              <a:rPr lang="pt-BR" sz="2200" dirty="0"/>
              <a:t>, </a:t>
            </a:r>
            <a:r>
              <a:rPr lang="pt-BR" sz="2200" b="1" dirty="0"/>
              <a:t>intersect </a:t>
            </a:r>
            <a:r>
              <a:rPr lang="pt-BR" sz="2200" dirty="0"/>
              <a:t>e </a:t>
            </a:r>
            <a:r>
              <a:rPr lang="pt-BR" sz="2200" b="1" dirty="0" err="1"/>
              <a:t>except</a:t>
            </a:r>
            <a:r>
              <a:rPr lang="pt-BR" sz="2200" b="1" dirty="0"/>
              <a:t>.</a:t>
            </a:r>
          </a:p>
          <a:p>
            <a:pPr algn="just">
              <a:defRPr/>
            </a:pPr>
            <a:endParaRPr lang="pt-BR" sz="2200" dirty="0"/>
          </a:p>
          <a:p>
            <a:pPr algn="just">
              <a:defRPr/>
            </a:pPr>
            <a:r>
              <a:rPr lang="pt-BR" sz="2200" dirty="0"/>
              <a:t>As relações participantes das operações de conjuntos devem ser compatíveis entre si, ou seja, precisam ter o mesmo conjunto de atributos.</a:t>
            </a:r>
          </a:p>
          <a:p>
            <a:pPr algn="just">
              <a:defRPr/>
            </a:pPr>
            <a:endParaRPr lang="pt-BR" sz="2000" dirty="0"/>
          </a:p>
          <a:p>
            <a:pPr algn="just">
              <a:defRPr/>
            </a:pPr>
            <a:r>
              <a:rPr lang="pt-BR" sz="2200" dirty="0"/>
              <a:t>Considere para os exemplos que virão a seguir:</a:t>
            </a:r>
          </a:p>
          <a:p>
            <a:pPr marL="457200" indent="-457200" algn="just">
              <a:buFont typeface="Wingdings" pitchFamily="2" charset="2"/>
              <a:buAutoNum type="arabicParenR"/>
              <a:defRPr/>
            </a:pPr>
            <a:r>
              <a:rPr lang="pt-BR" sz="2000" dirty="0"/>
              <a:t>Conjunto de todos os clientes com conta no banco:</a:t>
            </a:r>
          </a:p>
          <a:p>
            <a:pPr marL="457200" lvl="1" indent="-457200" algn="just">
              <a:spcBef>
                <a:spcPts val="600"/>
              </a:spcBef>
              <a:buSzPct val="70000"/>
              <a:buFont typeface="Wingdings 2" pitchFamily="18" charset="2"/>
              <a:buNone/>
              <a:defRPr/>
            </a:pPr>
            <a:r>
              <a:rPr lang="pt-BR" sz="1800" dirty="0"/>
              <a:t>	</a:t>
            </a:r>
            <a:r>
              <a:rPr lang="pt-BR" sz="1800" b="1" dirty="0" err="1"/>
              <a:t>select</a:t>
            </a:r>
            <a:r>
              <a:rPr lang="pt-BR" sz="1800" b="1" dirty="0"/>
              <a:t> </a:t>
            </a:r>
            <a:r>
              <a:rPr lang="pt-BR" sz="1800" dirty="0" err="1"/>
              <a:t>nome_cliente</a:t>
            </a:r>
            <a:r>
              <a:rPr lang="pt-BR" sz="1800" dirty="0"/>
              <a:t> </a:t>
            </a:r>
            <a:r>
              <a:rPr lang="pt-BR" sz="1800" b="1" dirty="0" err="1"/>
              <a:t>from</a:t>
            </a:r>
            <a:r>
              <a:rPr lang="pt-BR" sz="1800" b="1" dirty="0"/>
              <a:t> </a:t>
            </a:r>
            <a:r>
              <a:rPr lang="pt-BR" sz="1800" dirty="0"/>
              <a:t>depositante</a:t>
            </a:r>
          </a:p>
          <a:p>
            <a:pPr marL="457200" indent="-457200" algn="just">
              <a:buFont typeface="Wingdings" pitchFamily="2" charset="2"/>
              <a:buAutoNum type="arabicParenR"/>
              <a:defRPr/>
            </a:pPr>
            <a:r>
              <a:rPr lang="pt-BR" sz="2000" dirty="0"/>
              <a:t>Conjunto de clientes que contraíram empréstimo:</a:t>
            </a:r>
          </a:p>
          <a:p>
            <a:pPr marL="457200" indent="-457200" algn="just">
              <a:buFont typeface="Wingdings" pitchFamily="2" charset="2"/>
              <a:buNone/>
              <a:defRPr/>
            </a:pPr>
            <a:r>
              <a:rPr lang="pt-BR" sz="2000" dirty="0"/>
              <a:t>	</a:t>
            </a:r>
            <a:r>
              <a:rPr lang="pt-BR" sz="2000" b="1" dirty="0" err="1"/>
              <a:t>select</a:t>
            </a:r>
            <a:r>
              <a:rPr lang="pt-BR" sz="2000" b="1" dirty="0"/>
              <a:t> </a:t>
            </a:r>
            <a:r>
              <a:rPr lang="pt-BR" sz="2000" dirty="0" err="1"/>
              <a:t>nome_cliente</a:t>
            </a:r>
            <a:r>
              <a:rPr lang="pt-BR" sz="2000" dirty="0"/>
              <a:t> </a:t>
            </a:r>
            <a:r>
              <a:rPr lang="pt-BR" sz="2000" b="1" dirty="0" err="1"/>
              <a:t>from</a:t>
            </a:r>
            <a:r>
              <a:rPr lang="pt-BR" sz="2000" dirty="0"/>
              <a:t> devedor</a:t>
            </a:r>
          </a:p>
        </p:txBody>
      </p:sp>
      <p:sp>
        <p:nvSpPr>
          <p:cNvPr id="77826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SQL – DML: Operações de Conjuntos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9B6E51D-46B4-4B7D-9B71-4BD286CC0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UNESP - São José do Rio Preto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9578A7D-A6CC-409A-A337-AE993C24E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BBEDC-3E96-4211-870F-5846E77DF70B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33546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1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35125"/>
            <a:ext cx="7467600" cy="4838700"/>
          </a:xfrm>
        </p:spPr>
        <p:txBody>
          <a:bodyPr/>
          <a:lstStyle/>
          <a:p>
            <a:pPr algn="just"/>
            <a:r>
              <a:rPr lang="pt-BR" sz="2200" b="1" dirty="0"/>
              <a:t>Exemplo </a:t>
            </a:r>
            <a:r>
              <a:rPr lang="pt-BR" sz="2200" b="1" dirty="0" err="1"/>
              <a:t>union</a:t>
            </a:r>
            <a:r>
              <a:rPr lang="pt-BR" sz="2200" dirty="0"/>
              <a:t>: “Encontre todos os clientes que possuem empréstimo, uma conta ou ambos”:</a:t>
            </a:r>
          </a:p>
          <a:p>
            <a:pPr algn="just">
              <a:buFont typeface="Wingdings" pitchFamily="2" charset="2"/>
              <a:buNone/>
            </a:pPr>
            <a:endParaRPr lang="pt-BR" sz="2000" dirty="0"/>
          </a:p>
          <a:p>
            <a:pPr lvl="2" algn="just">
              <a:buFont typeface="Wingdings" pitchFamily="2" charset="2"/>
              <a:buNone/>
            </a:pPr>
            <a:r>
              <a:rPr lang="pt-BR" sz="2000" dirty="0"/>
              <a:t>(</a:t>
            </a:r>
            <a:r>
              <a:rPr lang="pt-BR" sz="2000" b="1" dirty="0" err="1"/>
              <a:t>select</a:t>
            </a:r>
            <a:r>
              <a:rPr lang="pt-BR" sz="2000" dirty="0"/>
              <a:t> </a:t>
            </a:r>
            <a:r>
              <a:rPr lang="pt-BR" sz="2000" dirty="0" err="1"/>
              <a:t>nome_cliente</a:t>
            </a:r>
            <a:r>
              <a:rPr lang="pt-BR" sz="2000" dirty="0"/>
              <a:t> </a:t>
            </a:r>
            <a:r>
              <a:rPr lang="pt-BR" sz="2000" b="1" dirty="0" err="1"/>
              <a:t>from</a:t>
            </a:r>
            <a:r>
              <a:rPr lang="pt-BR" sz="2000" dirty="0"/>
              <a:t> depositante)</a:t>
            </a:r>
          </a:p>
          <a:p>
            <a:pPr lvl="2" algn="just">
              <a:buFont typeface="Wingdings" pitchFamily="2" charset="2"/>
              <a:buNone/>
            </a:pPr>
            <a:r>
              <a:rPr lang="pt-BR" sz="2000" b="1" dirty="0" err="1"/>
              <a:t>union</a:t>
            </a:r>
            <a:endParaRPr lang="pt-BR" sz="2000" b="1" dirty="0"/>
          </a:p>
          <a:p>
            <a:pPr lvl="2" algn="just">
              <a:buFont typeface="Wingdings" pitchFamily="2" charset="2"/>
              <a:buNone/>
            </a:pPr>
            <a:r>
              <a:rPr lang="pt-BR" sz="2000" dirty="0"/>
              <a:t>(</a:t>
            </a:r>
            <a:r>
              <a:rPr lang="pt-BR" sz="2000" b="1" dirty="0" err="1"/>
              <a:t>select</a:t>
            </a:r>
            <a:r>
              <a:rPr lang="pt-BR" sz="2000" b="1" dirty="0"/>
              <a:t> </a:t>
            </a:r>
            <a:r>
              <a:rPr lang="pt-BR" sz="2000" dirty="0" err="1"/>
              <a:t>nome_cliente</a:t>
            </a:r>
            <a:r>
              <a:rPr lang="pt-BR" sz="2000" dirty="0"/>
              <a:t> </a:t>
            </a:r>
            <a:r>
              <a:rPr lang="pt-BR" sz="2000" b="1" dirty="0" err="1"/>
              <a:t>from</a:t>
            </a:r>
            <a:r>
              <a:rPr lang="pt-BR" sz="2000" b="1" dirty="0"/>
              <a:t> </a:t>
            </a:r>
            <a:r>
              <a:rPr lang="pt-BR" sz="2000" dirty="0"/>
              <a:t>devedor)</a:t>
            </a:r>
          </a:p>
          <a:p>
            <a:pPr algn="just">
              <a:buFont typeface="Wingdings" pitchFamily="2" charset="2"/>
              <a:buNone/>
            </a:pPr>
            <a:endParaRPr lang="pt-BR" sz="2000" dirty="0"/>
          </a:p>
          <a:p>
            <a:pPr algn="just"/>
            <a:r>
              <a:rPr lang="pt-BR" sz="2200" dirty="0"/>
              <a:t>Ao contrário do </a:t>
            </a:r>
            <a:r>
              <a:rPr lang="pt-BR" sz="2200" b="1" dirty="0" err="1"/>
              <a:t>select</a:t>
            </a:r>
            <a:r>
              <a:rPr lang="pt-BR" sz="2200" dirty="0"/>
              <a:t>, o operador </a:t>
            </a:r>
            <a:r>
              <a:rPr lang="pt-BR" sz="2200" b="1" dirty="0" err="1"/>
              <a:t>union</a:t>
            </a:r>
            <a:r>
              <a:rPr lang="pt-BR" sz="2200" b="1" dirty="0"/>
              <a:t> </a:t>
            </a:r>
            <a:r>
              <a:rPr lang="pt-BR" sz="2200" dirty="0"/>
              <a:t>automaticamente elimina as repetições. Para ver todas as repetições, utiliza-se o </a:t>
            </a:r>
            <a:r>
              <a:rPr lang="pt-BR" sz="2200" b="1" dirty="0" err="1"/>
              <a:t>union</a:t>
            </a:r>
            <a:r>
              <a:rPr lang="pt-BR" sz="2200" b="1" dirty="0"/>
              <a:t> </a:t>
            </a:r>
            <a:r>
              <a:rPr lang="pt-BR" sz="2200" b="1" dirty="0" err="1"/>
              <a:t>all</a:t>
            </a:r>
            <a:r>
              <a:rPr lang="pt-BR" sz="2200" b="1" dirty="0"/>
              <a:t>.</a:t>
            </a:r>
          </a:p>
        </p:txBody>
      </p:sp>
      <p:sp>
        <p:nvSpPr>
          <p:cNvPr id="78850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SQL – DML: Operações de Conjuntos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8979B28-284E-46D1-98CB-185C96A35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UNESP - São José do Rio Preto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63FB4BD-5C81-465C-8990-37DA75C43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BBEDC-3E96-4211-870F-5846E77DF70B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4362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5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717675"/>
            <a:ext cx="7467600" cy="4756150"/>
          </a:xfrm>
        </p:spPr>
        <p:txBody>
          <a:bodyPr/>
          <a:lstStyle/>
          <a:p>
            <a:pPr algn="just"/>
            <a:r>
              <a:rPr lang="pt-BR" sz="2200" b="1" dirty="0"/>
              <a:t>Exemplo </a:t>
            </a:r>
            <a:r>
              <a:rPr lang="pt-BR" sz="2200" b="1" dirty="0" err="1"/>
              <a:t>intersect</a:t>
            </a:r>
            <a:r>
              <a:rPr lang="pt-BR" sz="2200" dirty="0"/>
              <a:t>: “Encontre todos os clientes que tenham tanto empréstimo quanto conta no banco”:</a:t>
            </a:r>
          </a:p>
          <a:p>
            <a:pPr lvl="2" algn="just">
              <a:buFont typeface="Wingdings" pitchFamily="2" charset="2"/>
              <a:buNone/>
            </a:pPr>
            <a:endParaRPr lang="pt-BR" sz="2000" dirty="0"/>
          </a:p>
          <a:p>
            <a:pPr lvl="2" algn="just">
              <a:buFont typeface="Wingdings" pitchFamily="2" charset="2"/>
              <a:buNone/>
            </a:pPr>
            <a:r>
              <a:rPr lang="pt-BR" sz="2000" dirty="0"/>
              <a:t>(</a:t>
            </a:r>
            <a:r>
              <a:rPr lang="pt-BR" sz="2000" b="1" dirty="0" err="1"/>
              <a:t>select</a:t>
            </a:r>
            <a:r>
              <a:rPr lang="pt-BR" sz="2000" dirty="0"/>
              <a:t> </a:t>
            </a:r>
            <a:r>
              <a:rPr lang="pt-BR" sz="2000" dirty="0" err="1"/>
              <a:t>nome_cliente</a:t>
            </a:r>
            <a:r>
              <a:rPr lang="pt-BR" sz="2000" dirty="0"/>
              <a:t> </a:t>
            </a:r>
            <a:r>
              <a:rPr lang="pt-BR" sz="2000" b="1" dirty="0" err="1"/>
              <a:t>from</a:t>
            </a:r>
            <a:r>
              <a:rPr lang="pt-BR" sz="2000" dirty="0"/>
              <a:t> depositante)</a:t>
            </a:r>
          </a:p>
          <a:p>
            <a:pPr lvl="2" algn="just">
              <a:buFont typeface="Wingdings" pitchFamily="2" charset="2"/>
              <a:buNone/>
            </a:pPr>
            <a:r>
              <a:rPr lang="pt-BR" sz="2000" b="1" dirty="0" err="1"/>
              <a:t>intersect</a:t>
            </a:r>
            <a:endParaRPr lang="pt-BR" sz="2000" b="1" dirty="0"/>
          </a:p>
          <a:p>
            <a:pPr lvl="2" algn="just">
              <a:buFont typeface="Wingdings" pitchFamily="2" charset="2"/>
              <a:buNone/>
            </a:pPr>
            <a:r>
              <a:rPr lang="pt-BR" sz="2000" dirty="0"/>
              <a:t>(</a:t>
            </a:r>
            <a:r>
              <a:rPr lang="pt-BR" sz="2000" b="1" dirty="0" err="1"/>
              <a:t>select</a:t>
            </a:r>
            <a:r>
              <a:rPr lang="pt-BR" sz="2000" b="1" dirty="0"/>
              <a:t> </a:t>
            </a:r>
            <a:r>
              <a:rPr lang="pt-BR" sz="2000" dirty="0" err="1"/>
              <a:t>nome_cliente</a:t>
            </a:r>
            <a:r>
              <a:rPr lang="pt-BR" sz="2000" dirty="0"/>
              <a:t> </a:t>
            </a:r>
            <a:r>
              <a:rPr lang="pt-BR" sz="2000" b="1" dirty="0" err="1"/>
              <a:t>from</a:t>
            </a:r>
            <a:r>
              <a:rPr lang="pt-BR" sz="2000" b="1" dirty="0"/>
              <a:t> </a:t>
            </a:r>
            <a:r>
              <a:rPr lang="pt-BR" sz="2000" dirty="0"/>
              <a:t>devedor)</a:t>
            </a:r>
          </a:p>
          <a:p>
            <a:pPr algn="just">
              <a:buFont typeface="Wingdings" pitchFamily="2" charset="2"/>
              <a:buNone/>
            </a:pPr>
            <a:endParaRPr lang="pt-BR" sz="2000" dirty="0"/>
          </a:p>
          <a:p>
            <a:pPr algn="just"/>
            <a:r>
              <a:rPr lang="pt-BR" sz="2200" dirty="0"/>
              <a:t>Do mesmo modo, o operador </a:t>
            </a:r>
            <a:r>
              <a:rPr lang="pt-BR" sz="2200" b="1" dirty="0" err="1"/>
              <a:t>intersect</a:t>
            </a:r>
            <a:r>
              <a:rPr lang="pt-BR" sz="2200" b="1" dirty="0"/>
              <a:t> </a:t>
            </a:r>
            <a:r>
              <a:rPr lang="pt-BR" sz="2200" dirty="0"/>
              <a:t>automaticamente elimina as repetições. Para ver todas as repetições, utiliza-se o </a:t>
            </a:r>
            <a:r>
              <a:rPr lang="pt-BR" sz="2200" b="1" dirty="0" err="1"/>
              <a:t>intersect</a:t>
            </a:r>
            <a:r>
              <a:rPr lang="pt-BR" sz="2200" b="1" dirty="0"/>
              <a:t> </a:t>
            </a:r>
            <a:r>
              <a:rPr lang="pt-BR" sz="2200" b="1" dirty="0" err="1"/>
              <a:t>all</a:t>
            </a:r>
            <a:r>
              <a:rPr lang="pt-BR" sz="2200" b="1" dirty="0"/>
              <a:t>.</a:t>
            </a:r>
          </a:p>
        </p:txBody>
      </p:sp>
      <p:sp>
        <p:nvSpPr>
          <p:cNvPr id="79874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SQL – DML: Operações de Conjuntos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5C501D9-3D75-4835-9FC5-721422D48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UNESP - São José do Rio Preto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2A3D7BC-734D-4CF7-A6B0-B0466F8BB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BBEDC-3E96-4211-870F-5846E77DF70B}" type="slidenum">
              <a:rPr lang="pt-BR" smtClean="0"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72672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9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35125"/>
            <a:ext cx="7467600" cy="4838700"/>
          </a:xfrm>
        </p:spPr>
        <p:txBody>
          <a:bodyPr/>
          <a:lstStyle/>
          <a:p>
            <a:pPr algn="just"/>
            <a:r>
              <a:rPr lang="pt-BR" sz="2200" b="1" dirty="0"/>
              <a:t>Exemplo </a:t>
            </a:r>
            <a:r>
              <a:rPr lang="pt-BR" sz="2200" b="1" dirty="0" err="1"/>
              <a:t>except</a:t>
            </a:r>
            <a:r>
              <a:rPr lang="pt-BR" sz="2200" dirty="0"/>
              <a:t>: “Encontre todos os clientes que tenham uma conta e nenhum empréstimo no banco”:</a:t>
            </a:r>
          </a:p>
          <a:p>
            <a:pPr lvl="2" algn="just">
              <a:buFont typeface="Wingdings" pitchFamily="2" charset="2"/>
              <a:buNone/>
            </a:pPr>
            <a:endParaRPr lang="pt-BR" sz="2000" dirty="0"/>
          </a:p>
          <a:p>
            <a:pPr lvl="2" algn="just">
              <a:buFont typeface="Wingdings" pitchFamily="2" charset="2"/>
              <a:buNone/>
            </a:pPr>
            <a:r>
              <a:rPr lang="pt-BR" sz="2000" dirty="0"/>
              <a:t>(</a:t>
            </a:r>
            <a:r>
              <a:rPr lang="pt-BR" sz="2000" b="1" dirty="0" err="1"/>
              <a:t>select</a:t>
            </a:r>
            <a:r>
              <a:rPr lang="pt-BR" sz="2000" dirty="0"/>
              <a:t> </a:t>
            </a:r>
            <a:r>
              <a:rPr lang="pt-BR" sz="2000" dirty="0" err="1"/>
              <a:t>nome_cliente</a:t>
            </a:r>
            <a:r>
              <a:rPr lang="pt-BR" sz="2000" dirty="0"/>
              <a:t> </a:t>
            </a:r>
            <a:r>
              <a:rPr lang="pt-BR" sz="2000" b="1" dirty="0" err="1"/>
              <a:t>from</a:t>
            </a:r>
            <a:r>
              <a:rPr lang="pt-BR" sz="2000" dirty="0"/>
              <a:t> depositante)</a:t>
            </a:r>
          </a:p>
          <a:p>
            <a:pPr lvl="2" algn="just">
              <a:buFont typeface="Wingdings" pitchFamily="2" charset="2"/>
              <a:buNone/>
            </a:pPr>
            <a:r>
              <a:rPr lang="pt-BR" sz="2000" b="1" dirty="0" err="1"/>
              <a:t>except</a:t>
            </a:r>
            <a:endParaRPr lang="pt-BR" sz="2000" b="1" dirty="0"/>
          </a:p>
          <a:p>
            <a:pPr lvl="2" algn="just">
              <a:buFont typeface="Wingdings" pitchFamily="2" charset="2"/>
              <a:buNone/>
            </a:pPr>
            <a:r>
              <a:rPr lang="pt-BR" sz="2000" dirty="0"/>
              <a:t>(</a:t>
            </a:r>
            <a:r>
              <a:rPr lang="pt-BR" sz="2000" b="1" dirty="0" err="1"/>
              <a:t>select</a:t>
            </a:r>
            <a:r>
              <a:rPr lang="pt-BR" sz="2000" b="1" dirty="0"/>
              <a:t> </a:t>
            </a:r>
            <a:r>
              <a:rPr lang="pt-BR" sz="2000" dirty="0" err="1"/>
              <a:t>nome_cliente</a:t>
            </a:r>
            <a:r>
              <a:rPr lang="pt-BR" sz="2000" dirty="0"/>
              <a:t> </a:t>
            </a:r>
            <a:r>
              <a:rPr lang="pt-BR" sz="2000" b="1" dirty="0" err="1"/>
              <a:t>from</a:t>
            </a:r>
            <a:r>
              <a:rPr lang="pt-BR" sz="2000" b="1" dirty="0"/>
              <a:t> </a:t>
            </a:r>
            <a:r>
              <a:rPr lang="pt-BR" sz="2000" dirty="0"/>
              <a:t>devedor)</a:t>
            </a:r>
          </a:p>
          <a:p>
            <a:pPr algn="just">
              <a:buFont typeface="Wingdings" pitchFamily="2" charset="2"/>
              <a:buNone/>
            </a:pPr>
            <a:endParaRPr lang="pt-BR" sz="2000" dirty="0"/>
          </a:p>
          <a:p>
            <a:pPr algn="just"/>
            <a:r>
              <a:rPr lang="pt-BR" sz="2200" dirty="0"/>
              <a:t>Semelhante aos dois anteriores, para ver todas as repetições, utiliza-se o </a:t>
            </a:r>
            <a:r>
              <a:rPr lang="pt-BR" sz="2200" b="1" dirty="0" err="1"/>
              <a:t>except</a:t>
            </a:r>
            <a:r>
              <a:rPr lang="pt-BR" sz="2200" b="1" dirty="0"/>
              <a:t> </a:t>
            </a:r>
            <a:r>
              <a:rPr lang="pt-BR" sz="2200" b="1" dirty="0" err="1"/>
              <a:t>all</a:t>
            </a:r>
            <a:r>
              <a:rPr lang="pt-BR" sz="2200" b="1" dirty="0"/>
              <a:t>.</a:t>
            </a:r>
          </a:p>
        </p:txBody>
      </p:sp>
      <p:sp>
        <p:nvSpPr>
          <p:cNvPr id="80898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SQL – DML: Operações de Conjuntos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CCA27AF-3457-48B2-9665-E17F01582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UNESP - São José do Rio Preto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14EAFC7-D2DE-4D2E-9CD2-ACCDF5ED0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BBEDC-3E96-4211-870F-5846E77DF70B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80572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579563"/>
            <a:ext cx="7467600" cy="4894262"/>
          </a:xfrm>
        </p:spPr>
        <p:txBody>
          <a:bodyPr/>
          <a:lstStyle/>
          <a:p>
            <a:pPr algn="just"/>
            <a:r>
              <a:rPr lang="pt-BR" sz="2400" dirty="0"/>
              <a:t>São funções que tomam uma coleção de valores como entrada e retornam um valor simples:</a:t>
            </a:r>
          </a:p>
          <a:p>
            <a:pPr algn="just">
              <a:buFont typeface="Wingdings" pitchFamily="2" charset="2"/>
              <a:buNone/>
            </a:pPr>
            <a:endParaRPr lang="pt-BR" sz="2400" dirty="0"/>
          </a:p>
          <a:p>
            <a:pPr lvl="1" algn="just"/>
            <a:r>
              <a:rPr lang="pt-BR" sz="2400" dirty="0"/>
              <a:t>Média: </a:t>
            </a:r>
            <a:r>
              <a:rPr lang="pt-BR" sz="2400" dirty="0" err="1"/>
              <a:t>avg</a:t>
            </a:r>
            <a:endParaRPr lang="pt-BR" sz="2400" dirty="0"/>
          </a:p>
          <a:p>
            <a:pPr lvl="1" algn="just"/>
            <a:r>
              <a:rPr lang="pt-BR" sz="2400" dirty="0"/>
              <a:t>Mínimo: min</a:t>
            </a:r>
          </a:p>
          <a:p>
            <a:pPr lvl="1" algn="just"/>
            <a:r>
              <a:rPr lang="pt-BR" sz="2400" dirty="0"/>
              <a:t>Máximo: </a:t>
            </a:r>
            <a:r>
              <a:rPr lang="pt-BR" sz="2400" dirty="0" err="1"/>
              <a:t>max</a:t>
            </a:r>
            <a:endParaRPr lang="pt-BR" sz="2400" dirty="0"/>
          </a:p>
          <a:p>
            <a:pPr lvl="1" algn="just"/>
            <a:r>
              <a:rPr lang="pt-BR" sz="2400" dirty="0"/>
              <a:t>Total: sum</a:t>
            </a:r>
          </a:p>
          <a:p>
            <a:pPr lvl="1" algn="just"/>
            <a:r>
              <a:rPr lang="pt-BR" sz="2400" dirty="0"/>
              <a:t>Contagem: </a:t>
            </a:r>
            <a:r>
              <a:rPr lang="pt-BR" sz="2400" dirty="0" err="1"/>
              <a:t>count</a:t>
            </a:r>
            <a:endParaRPr lang="pt-BR" sz="2400" dirty="0"/>
          </a:p>
          <a:p>
            <a:endParaRPr lang="pt-BR" dirty="0">
              <a:latin typeface="Arial" pitchFamily="34" charset="0"/>
            </a:endParaRPr>
          </a:p>
        </p:txBody>
      </p:sp>
      <p:sp>
        <p:nvSpPr>
          <p:cNvPr id="8192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SQL – DML: Funções agregadas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5107440-B941-444C-AE49-24FDF014A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UNESP - São José do Rio Preto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7496F77-5022-45F9-AD41-06CFCF97D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BBEDC-3E96-4211-870F-5846E77DF70B}" type="slidenum">
              <a:rPr lang="pt-BR" smtClean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25093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7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579563"/>
            <a:ext cx="7467600" cy="4894262"/>
          </a:xfrm>
        </p:spPr>
        <p:txBody>
          <a:bodyPr/>
          <a:lstStyle/>
          <a:p>
            <a:pPr algn="just"/>
            <a:r>
              <a:rPr lang="pt-BR" sz="2400" b="1" dirty="0"/>
              <a:t>Exemplo </a:t>
            </a:r>
            <a:r>
              <a:rPr lang="pt-BR" sz="2400" b="1" dirty="0" err="1"/>
              <a:t>max</a:t>
            </a:r>
            <a:r>
              <a:rPr lang="pt-BR" sz="2400" dirty="0"/>
              <a:t>: “Encontre nas agências da cidade de </a:t>
            </a:r>
            <a:r>
              <a:rPr lang="pt-BR" sz="2400" dirty="0" err="1"/>
              <a:t>Horseneck</a:t>
            </a:r>
            <a:r>
              <a:rPr lang="pt-BR" sz="2400" dirty="0"/>
              <a:t> o maior valor para o atributo </a:t>
            </a:r>
            <a:r>
              <a:rPr lang="pt-BR" sz="2400" i="1" dirty="0"/>
              <a:t>fundos</a:t>
            </a:r>
            <a:r>
              <a:rPr lang="pt-BR" sz="2400" dirty="0"/>
              <a:t>”</a:t>
            </a:r>
          </a:p>
          <a:p>
            <a:pPr algn="just"/>
            <a:endParaRPr lang="pt-BR" sz="2400" dirty="0"/>
          </a:p>
          <a:p>
            <a:pPr algn="just">
              <a:buFont typeface="Wingdings" pitchFamily="2" charset="2"/>
              <a:buNone/>
            </a:pPr>
            <a:r>
              <a:rPr lang="pt-BR" sz="2400" dirty="0"/>
              <a:t>		</a:t>
            </a:r>
            <a:r>
              <a:rPr lang="pt-BR" sz="2200" b="1" dirty="0" err="1"/>
              <a:t>select</a:t>
            </a:r>
            <a:r>
              <a:rPr lang="pt-BR" sz="2200" b="1" dirty="0"/>
              <a:t> </a:t>
            </a:r>
            <a:r>
              <a:rPr lang="pt-BR" sz="2200" b="1" dirty="0" err="1"/>
              <a:t>max</a:t>
            </a:r>
            <a:r>
              <a:rPr lang="pt-BR" sz="2200" dirty="0"/>
              <a:t>(fundos)</a:t>
            </a:r>
          </a:p>
          <a:p>
            <a:pPr algn="just">
              <a:buFont typeface="Wingdings" pitchFamily="2" charset="2"/>
              <a:buNone/>
            </a:pPr>
            <a:r>
              <a:rPr lang="pt-BR" sz="2200" dirty="0"/>
              <a:t>		</a:t>
            </a:r>
            <a:r>
              <a:rPr lang="pt-BR" sz="2200" b="1" dirty="0" err="1"/>
              <a:t>from</a:t>
            </a:r>
            <a:r>
              <a:rPr lang="pt-BR" sz="2200" b="1" dirty="0"/>
              <a:t> </a:t>
            </a:r>
            <a:r>
              <a:rPr lang="pt-BR" sz="2200" dirty="0"/>
              <a:t>agencia</a:t>
            </a:r>
          </a:p>
          <a:p>
            <a:pPr algn="just">
              <a:buFont typeface="Wingdings" pitchFamily="2" charset="2"/>
              <a:buNone/>
            </a:pPr>
            <a:r>
              <a:rPr lang="pt-BR" sz="2200" dirty="0"/>
              <a:t>		</a:t>
            </a:r>
            <a:r>
              <a:rPr lang="pt-BR" sz="2200" b="1" dirty="0" err="1"/>
              <a:t>where</a:t>
            </a:r>
            <a:r>
              <a:rPr lang="pt-BR" sz="2200" b="1" dirty="0"/>
              <a:t> </a:t>
            </a:r>
            <a:r>
              <a:rPr lang="pt-BR" sz="2200" dirty="0" err="1"/>
              <a:t>cidade_agencia</a:t>
            </a:r>
            <a:r>
              <a:rPr lang="pt-BR" sz="2200" dirty="0"/>
              <a:t> = “</a:t>
            </a:r>
            <a:r>
              <a:rPr lang="pt-BR" sz="2200" dirty="0" err="1"/>
              <a:t>Horseneck</a:t>
            </a:r>
            <a:r>
              <a:rPr lang="pt-BR" sz="2200" dirty="0"/>
              <a:t>”</a:t>
            </a:r>
          </a:p>
          <a:p>
            <a:pPr algn="just"/>
            <a:endParaRPr lang="pt-BR" sz="2400" dirty="0"/>
          </a:p>
          <a:p>
            <a:pPr algn="just"/>
            <a:r>
              <a:rPr lang="pt-BR" sz="2400" b="1" dirty="0"/>
              <a:t>Resultado</a:t>
            </a:r>
            <a:r>
              <a:rPr lang="pt-BR" sz="2400" dirty="0"/>
              <a:t>: 8000000</a:t>
            </a:r>
          </a:p>
        </p:txBody>
      </p:sp>
      <p:sp>
        <p:nvSpPr>
          <p:cNvPr id="82946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SQL – DML: Funções agregadas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878D135-18A3-46B8-9A93-4EFED9A6D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UNESP - São José do Rio Preto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FD318D-5419-43BF-A76E-BA34F1154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BBEDC-3E96-4211-870F-5846E77DF70B}" type="slidenum">
              <a:rPr lang="pt-BR" smtClean="0"/>
              <a:t>27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05408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1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62113"/>
            <a:ext cx="7467600" cy="4811712"/>
          </a:xfrm>
        </p:spPr>
        <p:txBody>
          <a:bodyPr>
            <a:normAutofit lnSpcReduction="10000"/>
          </a:bodyPr>
          <a:lstStyle/>
          <a:p>
            <a:pPr algn="just"/>
            <a:r>
              <a:rPr lang="pt-BR" sz="2200" b="1" dirty="0"/>
              <a:t>Exemplo </a:t>
            </a:r>
            <a:r>
              <a:rPr lang="pt-BR" sz="2200" b="1" dirty="0" err="1"/>
              <a:t>avg</a:t>
            </a:r>
            <a:r>
              <a:rPr lang="pt-BR" sz="2200" dirty="0"/>
              <a:t>: “Encontre a média dos saldos em contas na agência </a:t>
            </a:r>
            <a:r>
              <a:rPr lang="pt-BR" sz="2200" dirty="0" err="1"/>
              <a:t>Perryridge</a:t>
            </a:r>
            <a:r>
              <a:rPr lang="pt-BR" sz="2200" dirty="0"/>
              <a:t>”</a:t>
            </a:r>
          </a:p>
          <a:p>
            <a:pPr algn="just">
              <a:buFont typeface="Wingdings" pitchFamily="2" charset="2"/>
              <a:buNone/>
            </a:pPr>
            <a:r>
              <a:rPr lang="pt-BR" sz="2000" dirty="0"/>
              <a:t>		</a:t>
            </a:r>
            <a:r>
              <a:rPr lang="pt-BR" sz="2000" b="1" dirty="0" err="1"/>
              <a:t>select</a:t>
            </a:r>
            <a:r>
              <a:rPr lang="pt-BR" sz="2000" b="1" dirty="0"/>
              <a:t> </a:t>
            </a:r>
            <a:r>
              <a:rPr lang="pt-BR" sz="2000" b="1" dirty="0" err="1"/>
              <a:t>avg</a:t>
            </a:r>
            <a:r>
              <a:rPr lang="pt-BR" sz="2000" dirty="0"/>
              <a:t>(saldo)</a:t>
            </a:r>
          </a:p>
          <a:p>
            <a:pPr algn="just">
              <a:buFont typeface="Wingdings" pitchFamily="2" charset="2"/>
              <a:buNone/>
            </a:pPr>
            <a:r>
              <a:rPr lang="pt-BR" sz="2000" dirty="0"/>
              <a:t>		</a:t>
            </a:r>
            <a:r>
              <a:rPr lang="pt-BR" sz="2000" b="1" dirty="0" err="1"/>
              <a:t>from</a:t>
            </a:r>
            <a:r>
              <a:rPr lang="pt-BR" sz="2000" b="1" dirty="0"/>
              <a:t> </a:t>
            </a:r>
            <a:r>
              <a:rPr lang="pt-BR" sz="2000" dirty="0"/>
              <a:t>conta</a:t>
            </a:r>
          </a:p>
          <a:p>
            <a:pPr algn="just">
              <a:buFont typeface="Wingdings" pitchFamily="2" charset="2"/>
              <a:buNone/>
            </a:pPr>
            <a:r>
              <a:rPr lang="pt-BR" sz="2000" dirty="0"/>
              <a:t>		</a:t>
            </a:r>
            <a:r>
              <a:rPr lang="pt-BR" sz="2000" b="1" dirty="0" err="1"/>
              <a:t>where</a:t>
            </a:r>
            <a:r>
              <a:rPr lang="pt-BR" sz="2000" b="1" dirty="0"/>
              <a:t> </a:t>
            </a:r>
            <a:r>
              <a:rPr lang="pt-BR" sz="2000" dirty="0" err="1"/>
              <a:t>nome_agencia</a:t>
            </a:r>
            <a:r>
              <a:rPr lang="pt-BR" sz="2000" dirty="0"/>
              <a:t> = “</a:t>
            </a:r>
            <a:r>
              <a:rPr lang="pt-BR" sz="2000" dirty="0" err="1"/>
              <a:t>Perryridge</a:t>
            </a:r>
            <a:r>
              <a:rPr lang="pt-BR" sz="2000" dirty="0"/>
              <a:t>”</a:t>
            </a:r>
          </a:p>
          <a:p>
            <a:pPr algn="just"/>
            <a:endParaRPr lang="pt-BR" sz="2000" dirty="0"/>
          </a:p>
          <a:p>
            <a:pPr algn="just"/>
            <a:r>
              <a:rPr lang="pt-BR" sz="2200" dirty="0"/>
              <a:t>Essa consulta resultará em uma relação com um único atributo, correspondendo à média: 300.</a:t>
            </a:r>
          </a:p>
          <a:p>
            <a:pPr algn="just"/>
            <a:endParaRPr lang="pt-BR" sz="2200" dirty="0"/>
          </a:p>
          <a:p>
            <a:pPr algn="just"/>
            <a:r>
              <a:rPr lang="pt-BR" sz="2200" dirty="0"/>
              <a:t>Existem circunstâncias em que é interessante aplicar uma função agregada a um grupo de </a:t>
            </a:r>
            <a:r>
              <a:rPr lang="pt-BR" sz="2200" dirty="0" err="1"/>
              <a:t>tuplas</a:t>
            </a:r>
            <a:r>
              <a:rPr lang="pt-BR" sz="2200" dirty="0"/>
              <a:t>, obtendo uma medida para cada grupo. Nesses casos, utiliza-se a cláusula </a:t>
            </a:r>
            <a:r>
              <a:rPr lang="pt-BR" sz="2200" b="1" dirty="0" err="1"/>
              <a:t>group</a:t>
            </a:r>
            <a:r>
              <a:rPr lang="pt-BR" sz="2200" b="1" dirty="0"/>
              <a:t> </a:t>
            </a:r>
            <a:r>
              <a:rPr lang="pt-BR" sz="2200" b="1" dirty="0" err="1"/>
              <a:t>by</a:t>
            </a:r>
            <a:r>
              <a:rPr lang="pt-BR" sz="2200" b="1" dirty="0"/>
              <a:t> </a:t>
            </a:r>
            <a:r>
              <a:rPr lang="pt-BR" sz="2200" dirty="0"/>
              <a:t>que será visto a seguir.</a:t>
            </a:r>
          </a:p>
        </p:txBody>
      </p:sp>
      <p:sp>
        <p:nvSpPr>
          <p:cNvPr id="83970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SQL – DML: </a:t>
            </a:r>
            <a:r>
              <a:rPr lang="pt-BR" b="1" dirty="0"/>
              <a:t>Funções agregadas</a:t>
            </a:r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2B26290-7C15-455D-9F5D-2CDF728F8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UNESP - São José do Rio Preto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A284976-EB01-4D77-9CAB-4D57CCA95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BBEDC-3E96-4211-870F-5846E77DF70B}" type="slidenum">
              <a:rPr lang="pt-BR" smtClean="0"/>
              <a:t>28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65822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5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731963"/>
            <a:ext cx="7467600" cy="4741862"/>
          </a:xfrm>
        </p:spPr>
        <p:txBody>
          <a:bodyPr/>
          <a:lstStyle/>
          <a:p>
            <a:pPr algn="just"/>
            <a:r>
              <a:rPr lang="pt-BR" sz="2400" dirty="0"/>
              <a:t>A SQL permite aplicar funções agregadas em grupos de </a:t>
            </a:r>
            <a:r>
              <a:rPr lang="pt-BR" sz="2400" dirty="0" err="1"/>
              <a:t>tuplas</a:t>
            </a:r>
            <a:r>
              <a:rPr lang="pt-BR" sz="2400" dirty="0"/>
              <a:t> por meio da cláusula </a:t>
            </a:r>
            <a:r>
              <a:rPr lang="pt-BR" sz="2400" b="1" dirty="0" err="1"/>
              <a:t>group</a:t>
            </a:r>
            <a:r>
              <a:rPr lang="pt-BR" sz="2400" b="1" dirty="0"/>
              <a:t> </a:t>
            </a:r>
            <a:r>
              <a:rPr lang="pt-BR" sz="2400" b="1" dirty="0" err="1"/>
              <a:t>by</a:t>
            </a:r>
            <a:r>
              <a:rPr lang="pt-BR" sz="2400" b="1" dirty="0"/>
              <a:t>.</a:t>
            </a:r>
          </a:p>
          <a:p>
            <a:pPr algn="just"/>
            <a:endParaRPr lang="pt-BR" sz="2400" dirty="0"/>
          </a:p>
          <a:p>
            <a:pPr algn="just"/>
            <a:r>
              <a:rPr lang="pt-BR" sz="2400" dirty="0"/>
              <a:t>Os atributos fornecidos em uma cláusula </a:t>
            </a:r>
            <a:r>
              <a:rPr lang="pt-BR" sz="2400" b="1" dirty="0" err="1"/>
              <a:t>group</a:t>
            </a:r>
            <a:r>
              <a:rPr lang="pt-BR" sz="2400" b="1" dirty="0"/>
              <a:t> </a:t>
            </a:r>
            <a:r>
              <a:rPr lang="pt-BR" sz="2400" b="1" dirty="0" err="1"/>
              <a:t>by</a:t>
            </a:r>
            <a:r>
              <a:rPr lang="pt-BR" sz="2400" dirty="0"/>
              <a:t> são usados para formar grupos, sendo que </a:t>
            </a:r>
            <a:r>
              <a:rPr lang="pt-BR" sz="2400" dirty="0" err="1"/>
              <a:t>tuplas</a:t>
            </a:r>
            <a:r>
              <a:rPr lang="pt-BR" sz="2400" dirty="0"/>
              <a:t> com os mesmos valores para esses atributos compartilham o mesmo grupo.</a:t>
            </a:r>
          </a:p>
        </p:txBody>
      </p:sp>
      <p:sp>
        <p:nvSpPr>
          <p:cNvPr id="84994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SQL – DML: </a:t>
            </a:r>
            <a:r>
              <a:rPr lang="pt-BR" dirty="0" err="1"/>
              <a:t>Group</a:t>
            </a:r>
            <a:r>
              <a:rPr lang="pt-BR" dirty="0"/>
              <a:t> </a:t>
            </a:r>
            <a:r>
              <a:rPr lang="pt-BR" dirty="0" err="1"/>
              <a:t>By</a:t>
            </a:r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990A632-DD08-4B92-A46E-B238F4EAF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UNESP - São José do Rio Preto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C6213D1-B616-4969-A36A-84F46E524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BBEDC-3E96-4211-870F-5846E77DF70B}" type="slidenum">
              <a:rPr lang="pt-BR" smtClean="0"/>
              <a:t>29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74678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9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357313"/>
            <a:ext cx="8043863" cy="5116512"/>
          </a:xfrm>
        </p:spPr>
        <p:txBody>
          <a:bodyPr/>
          <a:lstStyle/>
          <a:p>
            <a:pPr algn="just"/>
            <a:r>
              <a:rPr lang="pt-BR" b="1" dirty="0"/>
              <a:t>Exemplo</a:t>
            </a:r>
            <a:r>
              <a:rPr lang="pt-BR" dirty="0"/>
              <a:t>: “Encontre a média dos saldos nas contas de cada uma das agências do banco”</a:t>
            </a:r>
          </a:p>
          <a:p>
            <a:pPr algn="just">
              <a:buFont typeface="Wingdings" pitchFamily="2" charset="2"/>
              <a:buNone/>
            </a:pPr>
            <a:r>
              <a:rPr lang="pt-BR" sz="2000" dirty="0"/>
              <a:t>		</a:t>
            </a:r>
            <a:r>
              <a:rPr lang="pt-BR" sz="2000" b="1" dirty="0" err="1"/>
              <a:t>select</a:t>
            </a:r>
            <a:r>
              <a:rPr lang="pt-BR" sz="2000" b="1" dirty="0"/>
              <a:t> </a:t>
            </a:r>
            <a:r>
              <a:rPr lang="pt-BR" sz="2000" dirty="0" err="1"/>
              <a:t>nome_agencia</a:t>
            </a:r>
            <a:r>
              <a:rPr lang="pt-BR" sz="2000" dirty="0"/>
              <a:t>, </a:t>
            </a:r>
            <a:r>
              <a:rPr lang="pt-BR" sz="2000" b="1" dirty="0" err="1"/>
              <a:t>avg</a:t>
            </a:r>
            <a:r>
              <a:rPr lang="pt-BR" sz="2000" dirty="0"/>
              <a:t>(saldo) as </a:t>
            </a:r>
            <a:r>
              <a:rPr lang="pt-BR" sz="2000" dirty="0" err="1"/>
              <a:t>saldo_medio</a:t>
            </a:r>
            <a:endParaRPr lang="pt-BR" sz="2000" dirty="0"/>
          </a:p>
          <a:p>
            <a:pPr algn="just">
              <a:buFont typeface="Wingdings" pitchFamily="2" charset="2"/>
              <a:buNone/>
            </a:pPr>
            <a:r>
              <a:rPr lang="pt-BR" sz="2000" dirty="0"/>
              <a:t>		</a:t>
            </a:r>
            <a:r>
              <a:rPr lang="pt-BR" sz="2000" b="1" dirty="0" err="1"/>
              <a:t>from</a:t>
            </a:r>
            <a:r>
              <a:rPr lang="pt-BR" sz="2000" b="1" dirty="0"/>
              <a:t> </a:t>
            </a:r>
            <a:r>
              <a:rPr lang="pt-BR" sz="2000" dirty="0"/>
              <a:t>conta</a:t>
            </a:r>
          </a:p>
          <a:p>
            <a:pPr algn="just">
              <a:buFont typeface="Wingdings" pitchFamily="2" charset="2"/>
              <a:buNone/>
            </a:pPr>
            <a:r>
              <a:rPr lang="pt-BR" sz="2000" dirty="0"/>
              <a:t>		</a:t>
            </a:r>
            <a:r>
              <a:rPr lang="pt-BR" sz="2000" b="1" dirty="0" err="1"/>
              <a:t>group</a:t>
            </a:r>
            <a:r>
              <a:rPr lang="pt-BR" sz="2000" b="1" dirty="0"/>
              <a:t> </a:t>
            </a:r>
            <a:r>
              <a:rPr lang="pt-BR" sz="2000" b="1" dirty="0" err="1"/>
              <a:t>by</a:t>
            </a:r>
            <a:r>
              <a:rPr lang="pt-BR" sz="2000" b="1" dirty="0"/>
              <a:t> </a:t>
            </a:r>
            <a:r>
              <a:rPr lang="pt-BR" sz="2000" dirty="0" err="1"/>
              <a:t>nome_agencia</a:t>
            </a:r>
            <a:endParaRPr lang="pt-BR" sz="2000" dirty="0"/>
          </a:p>
          <a:p>
            <a:pPr algn="just">
              <a:buFont typeface="Wingdings" pitchFamily="2" charset="2"/>
              <a:buNone/>
            </a:pPr>
            <a:r>
              <a:rPr lang="pt-BR" sz="2000" dirty="0"/>
              <a:t>		</a:t>
            </a:r>
            <a:r>
              <a:rPr lang="pt-BR" sz="2000" b="1" dirty="0" err="1"/>
              <a:t>order</a:t>
            </a:r>
            <a:r>
              <a:rPr lang="pt-BR" sz="2000" dirty="0"/>
              <a:t> </a:t>
            </a:r>
            <a:r>
              <a:rPr lang="pt-BR" sz="2000" b="1" dirty="0" err="1"/>
              <a:t>by</a:t>
            </a:r>
            <a:r>
              <a:rPr lang="pt-BR" sz="2000" dirty="0"/>
              <a:t> </a:t>
            </a:r>
            <a:r>
              <a:rPr lang="pt-BR" sz="2000" dirty="0" err="1"/>
              <a:t>nome_agencia</a:t>
            </a:r>
            <a:endParaRPr lang="pt-BR" sz="2000" dirty="0"/>
          </a:p>
          <a:p>
            <a:pPr algn="just"/>
            <a:endParaRPr lang="pt-BR" sz="2000" dirty="0">
              <a:latin typeface="Arial" pitchFamily="34" charset="0"/>
            </a:endParaRPr>
          </a:p>
        </p:txBody>
      </p:sp>
      <p:sp>
        <p:nvSpPr>
          <p:cNvPr id="86018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SQL – DML: </a:t>
            </a:r>
            <a:r>
              <a:rPr lang="pt-BR" dirty="0" err="1"/>
              <a:t>Group</a:t>
            </a:r>
            <a:r>
              <a:rPr lang="pt-BR" dirty="0"/>
              <a:t> </a:t>
            </a:r>
            <a:r>
              <a:rPr lang="pt-BR" dirty="0" err="1"/>
              <a:t>By</a:t>
            </a:r>
            <a:endParaRPr lang="pt-BR" dirty="0"/>
          </a:p>
        </p:txBody>
      </p:sp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6528330"/>
              </p:ext>
            </p:extLst>
          </p:nvPr>
        </p:nvGraphicFramePr>
        <p:xfrm>
          <a:off x="2714624" y="4077070"/>
          <a:ext cx="3945607" cy="249708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76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8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205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dirty="0" err="1"/>
                        <a:t>Nome_agencia</a:t>
                      </a:r>
                      <a:endParaRPr lang="pt-BR" sz="2800" dirty="0">
                        <a:solidFill>
                          <a:srgbClr val="000000"/>
                        </a:solidFill>
                        <a:latin typeface="BPKCM D+ Palatino"/>
                        <a:ea typeface="Calibri"/>
                        <a:cs typeface="BPKCM D+ Palatino"/>
                      </a:endParaRPr>
                    </a:p>
                  </a:txBody>
                  <a:tcPr marL="68577" marR="68577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dirty="0" err="1"/>
                        <a:t>Saldo_médio</a:t>
                      </a:r>
                      <a:endParaRPr lang="pt-BR" sz="2800" dirty="0">
                        <a:solidFill>
                          <a:srgbClr val="000000"/>
                        </a:solidFill>
                        <a:latin typeface="BPKCM D+ Palatino"/>
                        <a:ea typeface="Calibri"/>
                        <a:cs typeface="BPKCM D+ Palatino"/>
                      </a:endParaRPr>
                    </a:p>
                  </a:txBody>
                  <a:tcPr marL="68577" marR="68577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17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 err="1"/>
                        <a:t>Brighton</a:t>
                      </a:r>
                      <a:endParaRPr lang="pt-BR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7" marR="6857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/>
                        <a:t>825</a:t>
                      </a:r>
                      <a:endParaRPr lang="pt-BR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7" marR="68577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17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 err="1"/>
                        <a:t>Downtown</a:t>
                      </a:r>
                      <a:endParaRPr lang="pt-BR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7" marR="6857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/>
                        <a:t>500</a:t>
                      </a:r>
                      <a:endParaRPr lang="pt-BR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7" marR="68577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417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 err="1"/>
                        <a:t>Mianus</a:t>
                      </a:r>
                      <a:endParaRPr lang="pt-BR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7" marR="6857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/>
                        <a:t>700</a:t>
                      </a:r>
                      <a:endParaRPr lang="pt-BR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7" marR="68577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417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 err="1"/>
                        <a:t>Perryridge</a:t>
                      </a:r>
                      <a:endParaRPr lang="pt-BR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7" marR="6857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/>
                        <a:t>400</a:t>
                      </a:r>
                      <a:endParaRPr lang="pt-BR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7" marR="68577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417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 err="1"/>
                        <a:t>Redwood</a:t>
                      </a:r>
                      <a:endParaRPr lang="pt-BR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7" marR="6857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/>
                        <a:t>700</a:t>
                      </a:r>
                      <a:endParaRPr lang="pt-BR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7" marR="68577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417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/>
                        <a:t>Round Hill</a:t>
                      </a:r>
                      <a:endParaRPr lang="pt-BR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7" marR="6857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800" dirty="0"/>
                        <a:t>350</a:t>
                      </a:r>
                      <a:endParaRPr lang="pt-BR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77" marR="68577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D6027DD-B98C-4CE7-A4DB-685AF939D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25110" y="6356350"/>
            <a:ext cx="3361690" cy="365125"/>
          </a:xfrm>
        </p:spPr>
        <p:txBody>
          <a:bodyPr/>
          <a:lstStyle/>
          <a:p>
            <a:r>
              <a:rPr lang="pt-BR" dirty="0"/>
              <a:t>UNESP - São José do Rio Preto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BE3A93B-C297-4B88-8772-C56F6CF97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391910" y="5926137"/>
            <a:ext cx="563245" cy="365125"/>
          </a:xfrm>
        </p:spPr>
        <p:txBody>
          <a:bodyPr/>
          <a:lstStyle/>
          <a:p>
            <a:fld id="{BFFBBEDC-3E96-4211-870F-5846E77DF70B}" type="slidenum">
              <a:rPr lang="pt-BR" smtClean="0"/>
              <a:t>30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404552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482725"/>
            <a:ext cx="8186738" cy="4991100"/>
          </a:xfrm>
        </p:spPr>
        <p:txBody>
          <a:bodyPr/>
          <a:lstStyle/>
          <a:p>
            <a:pPr algn="just"/>
            <a:r>
              <a:rPr lang="pt-BR" sz="2400" dirty="0"/>
              <a:t>Para eliminar repetições, utiliza-se a palavra-chave </a:t>
            </a:r>
            <a:r>
              <a:rPr lang="pt-BR" sz="2400" b="1" dirty="0" err="1"/>
              <a:t>distinct</a:t>
            </a:r>
            <a:r>
              <a:rPr lang="pt-BR" sz="2400" b="1" dirty="0"/>
              <a:t> </a:t>
            </a:r>
            <a:r>
              <a:rPr lang="pt-BR" sz="2400" dirty="0"/>
              <a:t>na função agregada.</a:t>
            </a:r>
          </a:p>
          <a:p>
            <a:pPr algn="just"/>
            <a:endParaRPr lang="pt-BR" sz="2400" dirty="0"/>
          </a:p>
          <a:p>
            <a:pPr algn="just"/>
            <a:r>
              <a:rPr lang="pt-BR" sz="2400" b="1" dirty="0"/>
              <a:t>Exemplo</a:t>
            </a:r>
            <a:r>
              <a:rPr lang="pt-BR" sz="2400" dirty="0"/>
              <a:t>: “Encontre todos os números de depositantes de cada agência”</a:t>
            </a:r>
          </a:p>
          <a:p>
            <a:pPr algn="just">
              <a:buFont typeface="Wingdings" pitchFamily="2" charset="2"/>
              <a:buNone/>
            </a:pPr>
            <a:endParaRPr lang="pt-BR" sz="2400" dirty="0"/>
          </a:p>
          <a:p>
            <a:pPr lvl="1" algn="just">
              <a:buFont typeface="Wingdings" pitchFamily="2" charset="2"/>
              <a:buNone/>
            </a:pPr>
            <a:r>
              <a:rPr lang="pt-BR" sz="2100" dirty="0"/>
              <a:t>	</a:t>
            </a:r>
            <a:r>
              <a:rPr lang="pt-BR" sz="2100" b="1" dirty="0" err="1"/>
              <a:t>select</a:t>
            </a:r>
            <a:r>
              <a:rPr lang="pt-BR" sz="2100" b="1" dirty="0"/>
              <a:t> </a:t>
            </a:r>
            <a:r>
              <a:rPr lang="pt-BR" sz="2100" dirty="0" err="1"/>
              <a:t>nome_agencia</a:t>
            </a:r>
            <a:r>
              <a:rPr lang="pt-BR" sz="2100" dirty="0"/>
              <a:t>, </a:t>
            </a:r>
            <a:r>
              <a:rPr lang="pt-BR" sz="2100" b="1" dirty="0" err="1"/>
              <a:t>count</a:t>
            </a:r>
            <a:r>
              <a:rPr lang="pt-BR" sz="2100" dirty="0"/>
              <a:t>(</a:t>
            </a:r>
            <a:r>
              <a:rPr lang="pt-BR" sz="2100" b="1" dirty="0" err="1"/>
              <a:t>distinct</a:t>
            </a:r>
            <a:r>
              <a:rPr lang="pt-BR" sz="2100" b="1" dirty="0"/>
              <a:t> </a:t>
            </a:r>
            <a:r>
              <a:rPr lang="pt-BR" sz="2100" dirty="0" err="1"/>
              <a:t>nome_cliente</a:t>
            </a:r>
            <a:r>
              <a:rPr lang="pt-BR" sz="2100" dirty="0"/>
              <a:t>)</a:t>
            </a:r>
          </a:p>
          <a:p>
            <a:pPr lvl="1" algn="just">
              <a:buFont typeface="Wingdings" pitchFamily="2" charset="2"/>
              <a:buNone/>
            </a:pPr>
            <a:r>
              <a:rPr lang="pt-BR" sz="2100" dirty="0"/>
              <a:t>	</a:t>
            </a:r>
            <a:r>
              <a:rPr lang="pt-BR" sz="2100" b="1" dirty="0" err="1"/>
              <a:t>from</a:t>
            </a:r>
            <a:r>
              <a:rPr lang="pt-BR" sz="2100" b="1" dirty="0"/>
              <a:t> </a:t>
            </a:r>
            <a:r>
              <a:rPr lang="pt-BR" sz="2100" dirty="0"/>
              <a:t>depositante, conta</a:t>
            </a:r>
          </a:p>
          <a:p>
            <a:pPr lvl="1" algn="just">
              <a:buFont typeface="Wingdings" pitchFamily="2" charset="2"/>
              <a:buNone/>
            </a:pPr>
            <a:r>
              <a:rPr lang="pt-BR" sz="2100" dirty="0"/>
              <a:t>	</a:t>
            </a:r>
            <a:r>
              <a:rPr lang="pt-BR" sz="2100" b="1" dirty="0" err="1"/>
              <a:t>where</a:t>
            </a:r>
            <a:r>
              <a:rPr lang="pt-BR" sz="2100" dirty="0"/>
              <a:t> </a:t>
            </a:r>
            <a:r>
              <a:rPr lang="pt-BR" sz="2100" dirty="0" err="1"/>
              <a:t>depositante.numero_conta</a:t>
            </a:r>
            <a:r>
              <a:rPr lang="pt-BR" sz="2100" dirty="0"/>
              <a:t> = </a:t>
            </a:r>
            <a:r>
              <a:rPr lang="pt-BR" sz="2100" dirty="0" err="1"/>
              <a:t>conta.numero_conta</a:t>
            </a:r>
            <a:endParaRPr lang="pt-BR" sz="2100" dirty="0"/>
          </a:p>
          <a:p>
            <a:pPr lvl="1" algn="just">
              <a:buFont typeface="Wingdings" pitchFamily="2" charset="2"/>
              <a:buNone/>
            </a:pPr>
            <a:r>
              <a:rPr lang="pt-BR" sz="2100" dirty="0"/>
              <a:t>	</a:t>
            </a:r>
            <a:r>
              <a:rPr lang="pt-BR" sz="2100" b="1" dirty="0" err="1"/>
              <a:t>group</a:t>
            </a:r>
            <a:r>
              <a:rPr lang="pt-BR" sz="2100" b="1" dirty="0"/>
              <a:t> </a:t>
            </a:r>
            <a:r>
              <a:rPr lang="pt-BR" sz="2100" b="1" dirty="0" err="1"/>
              <a:t>by</a:t>
            </a:r>
            <a:r>
              <a:rPr lang="pt-BR" sz="2100" b="1" dirty="0"/>
              <a:t> </a:t>
            </a:r>
            <a:r>
              <a:rPr lang="pt-BR" sz="2100" dirty="0" err="1"/>
              <a:t>nome_agencia</a:t>
            </a:r>
            <a:endParaRPr lang="pt-BR" sz="2100" dirty="0"/>
          </a:p>
          <a:p>
            <a:endParaRPr lang="pt-BR" sz="2400" dirty="0">
              <a:latin typeface="Arial" pitchFamily="34" charset="0"/>
            </a:endParaRPr>
          </a:p>
        </p:txBody>
      </p:sp>
      <p:sp>
        <p:nvSpPr>
          <p:cNvPr id="8704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SQL – DML: </a:t>
            </a:r>
            <a:r>
              <a:rPr lang="pt-BR" dirty="0" err="1"/>
              <a:t>Group</a:t>
            </a:r>
            <a:r>
              <a:rPr lang="pt-BR" dirty="0"/>
              <a:t> </a:t>
            </a:r>
            <a:r>
              <a:rPr lang="pt-BR" dirty="0" err="1"/>
              <a:t>By</a:t>
            </a:r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9B9DB86-4CBA-4A27-B371-1213B3E6E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UNESP - São José do Rio Preto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1D13710-1AC9-435B-A63A-874D0D23F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BBEDC-3E96-4211-870F-5846E77DF70B}" type="slidenum">
              <a:rPr lang="pt-BR" smtClean="0"/>
              <a:t>31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25665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7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703388"/>
            <a:ext cx="7900988" cy="4770437"/>
          </a:xfrm>
        </p:spPr>
        <p:txBody>
          <a:bodyPr>
            <a:normAutofit fontScale="92500"/>
          </a:bodyPr>
          <a:lstStyle/>
          <a:p>
            <a:pPr algn="just"/>
            <a:r>
              <a:rPr lang="pt-BR" sz="2400" b="1" dirty="0"/>
              <a:t>Problema</a:t>
            </a:r>
            <a:r>
              <a:rPr lang="pt-BR" sz="2400" dirty="0"/>
              <a:t>: “Determinar todas as agências que possuem média dos saldos maior que 1200 dólares”</a:t>
            </a:r>
          </a:p>
          <a:p>
            <a:pPr lvl="1" algn="just">
              <a:buFont typeface="Wingdings" pitchFamily="2" charset="2"/>
              <a:buNone/>
            </a:pPr>
            <a:r>
              <a:rPr lang="pt-BR" sz="2100" b="1" dirty="0"/>
              <a:t>	</a:t>
            </a:r>
            <a:r>
              <a:rPr lang="pt-BR" sz="2100" b="1" dirty="0" err="1">
                <a:solidFill>
                  <a:srgbClr val="FF0000"/>
                </a:solidFill>
              </a:rPr>
              <a:t>select</a:t>
            </a:r>
            <a:r>
              <a:rPr lang="pt-BR" sz="2100" b="1" dirty="0">
                <a:solidFill>
                  <a:srgbClr val="FF0000"/>
                </a:solidFill>
              </a:rPr>
              <a:t> </a:t>
            </a:r>
            <a:r>
              <a:rPr lang="pt-BR" sz="2100" dirty="0" err="1">
                <a:solidFill>
                  <a:srgbClr val="FF0000"/>
                </a:solidFill>
              </a:rPr>
              <a:t>nome_agencia</a:t>
            </a:r>
            <a:r>
              <a:rPr lang="pt-BR" sz="2100" dirty="0">
                <a:solidFill>
                  <a:srgbClr val="FF0000"/>
                </a:solidFill>
              </a:rPr>
              <a:t>, saldo</a:t>
            </a:r>
          </a:p>
          <a:p>
            <a:pPr lvl="1" algn="just">
              <a:buFont typeface="Wingdings" pitchFamily="2" charset="2"/>
              <a:buNone/>
            </a:pPr>
            <a:r>
              <a:rPr lang="pt-BR" sz="2100" b="1" dirty="0">
                <a:solidFill>
                  <a:srgbClr val="FF0000"/>
                </a:solidFill>
              </a:rPr>
              <a:t>	</a:t>
            </a:r>
            <a:r>
              <a:rPr lang="pt-BR" sz="2100" b="1" dirty="0" err="1">
                <a:solidFill>
                  <a:srgbClr val="FF0000"/>
                </a:solidFill>
              </a:rPr>
              <a:t>from</a:t>
            </a:r>
            <a:r>
              <a:rPr lang="pt-BR" sz="2100" b="1" dirty="0">
                <a:solidFill>
                  <a:srgbClr val="FF0000"/>
                </a:solidFill>
              </a:rPr>
              <a:t> </a:t>
            </a:r>
            <a:r>
              <a:rPr lang="pt-BR" sz="2100" dirty="0">
                <a:solidFill>
                  <a:srgbClr val="FF0000"/>
                </a:solidFill>
              </a:rPr>
              <a:t>conta</a:t>
            </a:r>
          </a:p>
          <a:p>
            <a:pPr lvl="1" algn="just">
              <a:buFont typeface="Wingdings" pitchFamily="2" charset="2"/>
              <a:buNone/>
            </a:pPr>
            <a:r>
              <a:rPr lang="pt-BR" sz="2100" dirty="0">
                <a:solidFill>
                  <a:srgbClr val="FF0000"/>
                </a:solidFill>
              </a:rPr>
              <a:t>	</a:t>
            </a:r>
            <a:r>
              <a:rPr lang="pt-BR" sz="2100" b="1" dirty="0" err="1">
                <a:solidFill>
                  <a:srgbClr val="FF0000"/>
                </a:solidFill>
              </a:rPr>
              <a:t>where</a:t>
            </a:r>
            <a:r>
              <a:rPr lang="pt-BR" sz="2100" dirty="0">
                <a:solidFill>
                  <a:srgbClr val="FF0000"/>
                </a:solidFill>
              </a:rPr>
              <a:t> saldo &gt; 1200</a:t>
            </a:r>
          </a:p>
          <a:p>
            <a:pPr algn="just"/>
            <a:endParaRPr lang="pt-BR" sz="2400" dirty="0"/>
          </a:p>
          <a:p>
            <a:pPr algn="just"/>
            <a:r>
              <a:rPr lang="pt-BR" sz="2400" dirty="0"/>
              <a:t>A condição do problema não se aplica a uma única conta, mas sim em ao grupo de contas de uma mesma agência.</a:t>
            </a:r>
          </a:p>
          <a:p>
            <a:pPr algn="just"/>
            <a:endParaRPr lang="pt-BR" sz="2400" dirty="0"/>
          </a:p>
          <a:p>
            <a:pPr algn="just"/>
            <a:r>
              <a:rPr lang="pt-BR" sz="2400" dirty="0"/>
              <a:t>Para resolver essa consulta é necessário utilizar a cláusula </a:t>
            </a:r>
            <a:r>
              <a:rPr lang="pt-BR" sz="2400" b="1" dirty="0" err="1"/>
              <a:t>group</a:t>
            </a:r>
            <a:r>
              <a:rPr lang="pt-BR" sz="2400" b="1" dirty="0"/>
              <a:t> </a:t>
            </a:r>
            <a:r>
              <a:rPr lang="pt-BR" sz="2400" b="1" dirty="0" err="1"/>
              <a:t>by</a:t>
            </a:r>
            <a:r>
              <a:rPr lang="pt-BR" sz="2400" b="1" dirty="0"/>
              <a:t> </a:t>
            </a:r>
            <a:r>
              <a:rPr lang="pt-BR" sz="2400" dirty="0"/>
              <a:t>juntamente com a cláusula </a:t>
            </a:r>
            <a:r>
              <a:rPr lang="pt-BR" sz="2400" b="1" dirty="0" err="1"/>
              <a:t>having</a:t>
            </a:r>
            <a:r>
              <a:rPr lang="pt-BR" sz="2400" b="1" dirty="0"/>
              <a:t>.</a:t>
            </a:r>
          </a:p>
        </p:txBody>
      </p:sp>
      <p:sp>
        <p:nvSpPr>
          <p:cNvPr id="88066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SQL – DML: </a:t>
            </a:r>
            <a:r>
              <a:rPr lang="pt-BR" dirty="0" err="1"/>
              <a:t>Having</a:t>
            </a:r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EF5CC54-82C3-42B0-8CB7-843E63142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UNESP - São José do Rio Preto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DEA28FB-622B-45DB-B453-23C85DB9D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BBEDC-3E96-4211-870F-5846E77DF70B}" type="slidenum">
              <a:rPr lang="pt-BR" smtClean="0"/>
              <a:t>32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20848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1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35125"/>
            <a:ext cx="7900988" cy="4838700"/>
          </a:xfrm>
        </p:spPr>
        <p:txBody>
          <a:bodyPr/>
          <a:lstStyle/>
          <a:p>
            <a:pPr algn="just"/>
            <a:r>
              <a:rPr lang="pt-BR" sz="2400" dirty="0"/>
              <a:t>Os predicados da cláusula </a:t>
            </a:r>
            <a:r>
              <a:rPr lang="pt-BR" sz="2400" b="1" dirty="0" err="1"/>
              <a:t>having</a:t>
            </a:r>
            <a:r>
              <a:rPr lang="pt-BR" sz="2400" dirty="0"/>
              <a:t> são aplicados depois da formação dos grupos, podendo utilizar funções agregadas.</a:t>
            </a:r>
          </a:p>
          <a:p>
            <a:pPr algn="just"/>
            <a:endParaRPr lang="pt-BR" sz="2400" b="1" dirty="0"/>
          </a:p>
          <a:p>
            <a:pPr algn="just"/>
            <a:r>
              <a:rPr lang="pt-BR" b="1" dirty="0"/>
              <a:t>Solução:</a:t>
            </a:r>
            <a:endParaRPr lang="pt-BR" sz="2400" b="1" dirty="0"/>
          </a:p>
          <a:p>
            <a:pPr algn="just">
              <a:buFont typeface="Wingdings" pitchFamily="2" charset="2"/>
              <a:buNone/>
            </a:pPr>
            <a:r>
              <a:rPr lang="pt-BR" sz="2400" b="1" dirty="0"/>
              <a:t>		</a:t>
            </a:r>
            <a:r>
              <a:rPr lang="pt-BR" sz="2200" b="1" dirty="0" err="1"/>
              <a:t>select</a:t>
            </a:r>
            <a:r>
              <a:rPr lang="pt-BR" sz="2200" b="1" dirty="0"/>
              <a:t> </a:t>
            </a:r>
            <a:r>
              <a:rPr lang="pt-BR" sz="2200" dirty="0" err="1"/>
              <a:t>nome_agencia</a:t>
            </a:r>
            <a:r>
              <a:rPr lang="pt-BR" sz="2200" dirty="0"/>
              <a:t>, </a:t>
            </a:r>
            <a:r>
              <a:rPr lang="pt-BR" sz="2200" b="1" dirty="0" err="1"/>
              <a:t>avg</a:t>
            </a:r>
            <a:r>
              <a:rPr lang="pt-BR" sz="2200" dirty="0"/>
              <a:t>(saldo) 		</a:t>
            </a:r>
          </a:p>
          <a:p>
            <a:pPr algn="just">
              <a:buFont typeface="Wingdings" pitchFamily="2" charset="2"/>
              <a:buNone/>
            </a:pPr>
            <a:r>
              <a:rPr lang="pt-BR" sz="2200" b="1" dirty="0"/>
              <a:t>		</a:t>
            </a:r>
            <a:r>
              <a:rPr lang="pt-BR" sz="2200" b="1" dirty="0" err="1"/>
              <a:t>from</a:t>
            </a:r>
            <a:r>
              <a:rPr lang="pt-BR" sz="2200" b="1" dirty="0"/>
              <a:t> </a:t>
            </a:r>
            <a:r>
              <a:rPr lang="pt-BR" sz="2200" dirty="0"/>
              <a:t>conta</a:t>
            </a:r>
          </a:p>
          <a:p>
            <a:pPr algn="just">
              <a:buFont typeface="Wingdings" pitchFamily="2" charset="2"/>
              <a:buNone/>
            </a:pPr>
            <a:r>
              <a:rPr lang="pt-BR" sz="2200" dirty="0"/>
              <a:t>		</a:t>
            </a:r>
            <a:r>
              <a:rPr lang="pt-BR" sz="2200" b="1" dirty="0" err="1"/>
              <a:t>group</a:t>
            </a:r>
            <a:r>
              <a:rPr lang="pt-BR" sz="2200" b="1" dirty="0"/>
              <a:t> </a:t>
            </a:r>
            <a:r>
              <a:rPr lang="pt-BR" sz="2200" b="1" dirty="0" err="1"/>
              <a:t>by</a:t>
            </a:r>
            <a:r>
              <a:rPr lang="pt-BR" sz="2200" b="1" dirty="0"/>
              <a:t> </a:t>
            </a:r>
            <a:r>
              <a:rPr lang="pt-BR" sz="2200" dirty="0" err="1"/>
              <a:t>nome_agencia</a:t>
            </a:r>
            <a:endParaRPr lang="pt-BR" sz="2200" dirty="0"/>
          </a:p>
          <a:p>
            <a:pPr algn="just">
              <a:buFont typeface="Wingdings" pitchFamily="2" charset="2"/>
              <a:buNone/>
            </a:pPr>
            <a:r>
              <a:rPr lang="pt-BR" sz="2200" dirty="0"/>
              <a:t>		</a:t>
            </a:r>
            <a:r>
              <a:rPr lang="pt-BR" sz="2200" b="1" dirty="0" err="1"/>
              <a:t>having</a:t>
            </a:r>
            <a:r>
              <a:rPr lang="pt-BR" sz="2200" dirty="0"/>
              <a:t> </a:t>
            </a:r>
            <a:r>
              <a:rPr lang="pt-BR" sz="2200" b="1" dirty="0" err="1"/>
              <a:t>avg</a:t>
            </a:r>
            <a:r>
              <a:rPr lang="pt-BR" sz="2200" dirty="0"/>
              <a:t>(saldo) &gt; 1200</a:t>
            </a:r>
          </a:p>
          <a:p>
            <a:endParaRPr lang="pt-BR" sz="2400" b="1" dirty="0">
              <a:latin typeface="Arial" pitchFamily="34" charset="0"/>
            </a:endParaRPr>
          </a:p>
        </p:txBody>
      </p:sp>
      <p:sp>
        <p:nvSpPr>
          <p:cNvPr id="89090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SQL – DML: </a:t>
            </a:r>
            <a:r>
              <a:rPr lang="pt-BR" dirty="0" err="1"/>
              <a:t>Having</a:t>
            </a:r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1477E94-1A71-45AA-8D8E-22C0A7F58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UNESP - São José do Rio Preto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894B905-3E4F-47B8-8063-7FCFA9E1C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BBEDC-3E96-4211-870F-5846E77DF70B}" type="slidenum">
              <a:rPr lang="pt-BR" smtClean="0"/>
              <a:t>33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40535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5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814513"/>
            <a:ext cx="7900988" cy="4659312"/>
          </a:xfrm>
        </p:spPr>
        <p:txBody>
          <a:bodyPr/>
          <a:lstStyle/>
          <a:p>
            <a:pPr algn="just"/>
            <a:r>
              <a:rPr lang="pt-BR" sz="2400" dirty="0"/>
              <a:t>É comum aparecer as cláusulas </a:t>
            </a:r>
            <a:r>
              <a:rPr lang="pt-BR" sz="2400" b="1" dirty="0" err="1"/>
              <a:t>having</a:t>
            </a:r>
            <a:r>
              <a:rPr lang="pt-BR" sz="2400" dirty="0"/>
              <a:t> e </a:t>
            </a:r>
            <a:r>
              <a:rPr lang="pt-BR" sz="2400" b="1" dirty="0" err="1"/>
              <a:t>where</a:t>
            </a:r>
            <a:r>
              <a:rPr lang="pt-BR" sz="2400" dirty="0"/>
              <a:t> na mesma consulta.</a:t>
            </a:r>
          </a:p>
          <a:p>
            <a:pPr algn="just">
              <a:buFont typeface="Wingdings" pitchFamily="2" charset="2"/>
              <a:buNone/>
            </a:pPr>
            <a:endParaRPr lang="pt-BR" sz="2400" dirty="0"/>
          </a:p>
          <a:p>
            <a:pPr algn="just"/>
            <a:r>
              <a:rPr lang="pt-BR" sz="2400" dirty="0"/>
              <a:t>Neste caso, a ordem de execução da consulta é:</a:t>
            </a:r>
          </a:p>
          <a:p>
            <a:pPr lvl="1" algn="just"/>
            <a:r>
              <a:rPr lang="pt-BR" sz="2400" dirty="0"/>
              <a:t>Aplica-se a condição que aparece em </a:t>
            </a:r>
            <a:r>
              <a:rPr lang="pt-BR" sz="2400" b="1" dirty="0" err="1"/>
              <a:t>where</a:t>
            </a:r>
            <a:r>
              <a:rPr lang="pt-BR" sz="2400" b="1" dirty="0"/>
              <a:t>;</a:t>
            </a:r>
          </a:p>
          <a:p>
            <a:pPr lvl="1" algn="just"/>
            <a:r>
              <a:rPr lang="pt-BR" sz="2400" dirty="0"/>
              <a:t>As </a:t>
            </a:r>
            <a:r>
              <a:rPr lang="pt-BR" sz="2400" dirty="0" err="1"/>
              <a:t>tuplas</a:t>
            </a:r>
            <a:r>
              <a:rPr lang="pt-BR" sz="2400" dirty="0"/>
              <a:t> que satisfazem ao </a:t>
            </a:r>
            <a:r>
              <a:rPr lang="pt-BR" sz="2400" b="1" dirty="0" err="1"/>
              <a:t>where</a:t>
            </a:r>
            <a:r>
              <a:rPr lang="pt-BR" sz="2400" dirty="0"/>
              <a:t> são agrupadas por </a:t>
            </a:r>
            <a:r>
              <a:rPr lang="pt-BR" sz="2400" b="1" dirty="0" err="1"/>
              <a:t>group</a:t>
            </a:r>
            <a:r>
              <a:rPr lang="pt-BR" sz="2400" b="1" dirty="0"/>
              <a:t> </a:t>
            </a:r>
            <a:r>
              <a:rPr lang="pt-BR" sz="2400" b="1" dirty="0" err="1"/>
              <a:t>by</a:t>
            </a:r>
            <a:r>
              <a:rPr lang="pt-BR" sz="2400" b="1" dirty="0"/>
              <a:t>;</a:t>
            </a:r>
          </a:p>
          <a:p>
            <a:pPr lvl="1" algn="just"/>
            <a:r>
              <a:rPr lang="pt-BR" sz="2400" dirty="0"/>
              <a:t>Por fim, a condição presente em </a:t>
            </a:r>
            <a:r>
              <a:rPr lang="pt-BR" sz="2400" b="1" dirty="0" err="1"/>
              <a:t>having</a:t>
            </a:r>
            <a:r>
              <a:rPr lang="pt-BR" sz="2400" dirty="0"/>
              <a:t> é aplicada a cada grupo.</a:t>
            </a:r>
          </a:p>
          <a:p>
            <a:endParaRPr lang="pt-BR" dirty="0">
              <a:latin typeface="Arial" pitchFamily="34" charset="0"/>
            </a:endParaRPr>
          </a:p>
          <a:p>
            <a:endParaRPr lang="pt-BR" b="1" dirty="0">
              <a:latin typeface="Arial" pitchFamily="34" charset="0"/>
            </a:endParaRPr>
          </a:p>
        </p:txBody>
      </p:sp>
      <p:sp>
        <p:nvSpPr>
          <p:cNvPr id="90114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SQL – DML: </a:t>
            </a:r>
            <a:r>
              <a:rPr lang="pt-BR" dirty="0" err="1"/>
              <a:t>Having</a:t>
            </a:r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2B1C1F8-8D9C-421D-9C81-9949DACD7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UNESP - São José do Rio Preto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38E5D17-87CF-4F5F-87BB-9C33A71BC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BBEDC-3E96-4211-870F-5846E77DF70B}" type="slidenum">
              <a:rPr lang="pt-BR" smtClean="0"/>
              <a:t>34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69008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9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731963"/>
            <a:ext cx="7900988" cy="4741862"/>
          </a:xfrm>
        </p:spPr>
        <p:txBody>
          <a:bodyPr/>
          <a:lstStyle/>
          <a:p>
            <a:pPr algn="just"/>
            <a:r>
              <a:rPr lang="pt-BR" sz="2400" b="1" dirty="0"/>
              <a:t>Exemplo</a:t>
            </a:r>
            <a:r>
              <a:rPr lang="pt-BR" sz="2400" dirty="0"/>
              <a:t>: “Encontre o saldo médio para cada cliente que mora em Harrison e tenha ao menos três contas”</a:t>
            </a:r>
          </a:p>
          <a:p>
            <a:pPr algn="just"/>
            <a:endParaRPr lang="pt-BR" sz="2400" dirty="0"/>
          </a:p>
          <a:p>
            <a:pPr algn="just">
              <a:buFont typeface="Wingdings" pitchFamily="2" charset="2"/>
              <a:buNone/>
            </a:pPr>
            <a:r>
              <a:rPr lang="pt-BR" sz="2400" b="1" dirty="0"/>
              <a:t>	</a:t>
            </a:r>
            <a:r>
              <a:rPr lang="pt-BR" sz="2200" b="1" dirty="0" err="1"/>
              <a:t>select</a:t>
            </a:r>
            <a:r>
              <a:rPr lang="pt-BR" sz="2200" b="1" dirty="0"/>
              <a:t> </a:t>
            </a:r>
            <a:r>
              <a:rPr lang="pt-BR" sz="2200" dirty="0" err="1"/>
              <a:t>D.nome_cliente</a:t>
            </a:r>
            <a:r>
              <a:rPr lang="pt-BR" sz="2200" dirty="0"/>
              <a:t>, </a:t>
            </a:r>
            <a:r>
              <a:rPr lang="pt-BR" sz="2200" b="1" dirty="0" err="1"/>
              <a:t>avg</a:t>
            </a:r>
            <a:r>
              <a:rPr lang="pt-BR" sz="2200" dirty="0"/>
              <a:t>(saldo)</a:t>
            </a:r>
          </a:p>
          <a:p>
            <a:pPr algn="just">
              <a:buFont typeface="Wingdings" pitchFamily="2" charset="2"/>
              <a:buNone/>
            </a:pPr>
            <a:r>
              <a:rPr lang="pt-BR" sz="2200" b="1" dirty="0"/>
              <a:t>	</a:t>
            </a:r>
            <a:r>
              <a:rPr lang="pt-BR" sz="2200" b="1" dirty="0" err="1"/>
              <a:t>from</a:t>
            </a:r>
            <a:r>
              <a:rPr lang="pt-BR" sz="2200" b="1" dirty="0"/>
              <a:t> </a:t>
            </a:r>
            <a:r>
              <a:rPr lang="pt-BR" sz="2200" dirty="0"/>
              <a:t>depositante D, conta C, cliente L</a:t>
            </a:r>
          </a:p>
          <a:p>
            <a:pPr algn="just">
              <a:buFont typeface="Wingdings" pitchFamily="2" charset="2"/>
              <a:buNone/>
            </a:pPr>
            <a:r>
              <a:rPr lang="pt-BR" sz="2200" dirty="0"/>
              <a:t>	</a:t>
            </a:r>
            <a:r>
              <a:rPr lang="pt-BR" sz="2200" b="1" dirty="0" err="1"/>
              <a:t>where</a:t>
            </a:r>
            <a:r>
              <a:rPr lang="pt-BR" sz="2200" b="1" dirty="0"/>
              <a:t> </a:t>
            </a:r>
            <a:r>
              <a:rPr lang="pt-BR" sz="2200" dirty="0" err="1"/>
              <a:t>D.numero_conta</a:t>
            </a:r>
            <a:r>
              <a:rPr lang="pt-BR" sz="2200" dirty="0"/>
              <a:t> = </a:t>
            </a:r>
            <a:r>
              <a:rPr lang="pt-BR" sz="2200" dirty="0" err="1"/>
              <a:t>C.numero_conta</a:t>
            </a:r>
            <a:r>
              <a:rPr lang="pt-BR" sz="2200" dirty="0"/>
              <a:t> </a:t>
            </a:r>
            <a:r>
              <a:rPr lang="pt-BR" sz="2200" b="1" dirty="0" err="1"/>
              <a:t>and</a:t>
            </a:r>
            <a:endParaRPr lang="pt-BR" sz="2200" b="1" dirty="0"/>
          </a:p>
          <a:p>
            <a:pPr algn="just">
              <a:buFont typeface="Wingdings" pitchFamily="2" charset="2"/>
              <a:buNone/>
            </a:pPr>
            <a:r>
              <a:rPr lang="pt-BR" sz="2200" dirty="0"/>
              <a:t>		    </a:t>
            </a:r>
            <a:r>
              <a:rPr lang="pt-BR" sz="2200" dirty="0" err="1"/>
              <a:t>D.nome_cliente</a:t>
            </a:r>
            <a:r>
              <a:rPr lang="pt-BR" sz="2200" dirty="0"/>
              <a:t> = </a:t>
            </a:r>
            <a:r>
              <a:rPr lang="pt-BR" sz="2200" dirty="0" err="1"/>
              <a:t>L.nome_cliente</a:t>
            </a:r>
            <a:r>
              <a:rPr lang="pt-BR" sz="2200" dirty="0"/>
              <a:t> </a:t>
            </a:r>
            <a:r>
              <a:rPr lang="pt-BR" sz="2200" b="1" dirty="0" err="1"/>
              <a:t>and</a:t>
            </a:r>
            <a:endParaRPr lang="pt-BR" sz="2200" b="1" dirty="0"/>
          </a:p>
          <a:p>
            <a:pPr algn="just">
              <a:buFont typeface="Wingdings" pitchFamily="2" charset="2"/>
              <a:buNone/>
            </a:pPr>
            <a:r>
              <a:rPr lang="pt-BR" sz="2200" dirty="0"/>
              <a:t>		    </a:t>
            </a:r>
            <a:r>
              <a:rPr lang="pt-BR" sz="2200" dirty="0" err="1"/>
              <a:t>cidade_cliente</a:t>
            </a:r>
            <a:r>
              <a:rPr lang="pt-BR" sz="2200" dirty="0"/>
              <a:t> = “Harrison”</a:t>
            </a:r>
          </a:p>
          <a:p>
            <a:pPr algn="just">
              <a:buFont typeface="Wingdings" pitchFamily="2" charset="2"/>
              <a:buNone/>
            </a:pPr>
            <a:r>
              <a:rPr lang="pt-BR" sz="2200" dirty="0"/>
              <a:t>	</a:t>
            </a:r>
            <a:r>
              <a:rPr lang="pt-BR" sz="2200" b="1" dirty="0" err="1"/>
              <a:t>group</a:t>
            </a:r>
            <a:r>
              <a:rPr lang="pt-BR" sz="2200" b="1" dirty="0"/>
              <a:t> </a:t>
            </a:r>
            <a:r>
              <a:rPr lang="pt-BR" sz="2200" b="1" dirty="0" err="1"/>
              <a:t>by</a:t>
            </a:r>
            <a:r>
              <a:rPr lang="pt-BR" sz="2200" b="1" dirty="0"/>
              <a:t> </a:t>
            </a:r>
            <a:r>
              <a:rPr lang="pt-BR" sz="2200" dirty="0" err="1"/>
              <a:t>D.nome_cliente</a:t>
            </a:r>
            <a:endParaRPr lang="pt-BR" sz="2200" dirty="0"/>
          </a:p>
          <a:p>
            <a:pPr algn="just">
              <a:buFont typeface="Wingdings" pitchFamily="2" charset="2"/>
              <a:buNone/>
            </a:pPr>
            <a:r>
              <a:rPr lang="pt-BR" sz="2200" dirty="0"/>
              <a:t>	</a:t>
            </a:r>
            <a:r>
              <a:rPr lang="pt-BR" sz="2200" b="1" dirty="0" err="1"/>
              <a:t>having</a:t>
            </a:r>
            <a:r>
              <a:rPr lang="pt-BR" sz="2200" dirty="0"/>
              <a:t> </a:t>
            </a:r>
            <a:r>
              <a:rPr lang="pt-BR" sz="2200" b="1" dirty="0" err="1"/>
              <a:t>count</a:t>
            </a:r>
            <a:r>
              <a:rPr lang="pt-BR" sz="2200" b="1" dirty="0"/>
              <a:t> </a:t>
            </a:r>
            <a:r>
              <a:rPr lang="pt-BR" sz="2200" dirty="0"/>
              <a:t>(</a:t>
            </a:r>
            <a:r>
              <a:rPr lang="pt-BR" sz="2200" b="1" dirty="0" err="1"/>
              <a:t>distinct</a:t>
            </a:r>
            <a:r>
              <a:rPr lang="pt-BR" sz="2200" dirty="0"/>
              <a:t> </a:t>
            </a:r>
            <a:r>
              <a:rPr lang="pt-BR" sz="2200" dirty="0" err="1"/>
              <a:t>D.numero_conta</a:t>
            </a:r>
            <a:r>
              <a:rPr lang="pt-BR" sz="2200" dirty="0"/>
              <a:t>) &gt;= 3</a:t>
            </a:r>
          </a:p>
          <a:p>
            <a:endParaRPr lang="pt-BR" sz="2400" dirty="0">
              <a:latin typeface="Arial" pitchFamily="34" charset="0"/>
            </a:endParaRPr>
          </a:p>
          <a:p>
            <a:endParaRPr lang="pt-BR" sz="2400" b="1" dirty="0">
              <a:latin typeface="Arial" pitchFamily="34" charset="0"/>
            </a:endParaRPr>
          </a:p>
        </p:txBody>
      </p:sp>
      <p:sp>
        <p:nvSpPr>
          <p:cNvPr id="91138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SQL – DML: </a:t>
            </a:r>
            <a:r>
              <a:rPr lang="pt-BR" dirty="0" err="1"/>
              <a:t>Having</a:t>
            </a:r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ACBDF3B-F12E-4BD1-B872-4754C3570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UNESP - São José do Rio Preto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3F657C7-4597-4BFE-9418-41BBAE0F4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BBEDC-3E96-4211-870F-5846E77DF70B}" type="slidenum">
              <a:rPr lang="pt-BR" smtClean="0"/>
              <a:t>35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59983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593850"/>
            <a:ext cx="7467600" cy="4879975"/>
          </a:xfrm>
        </p:spPr>
        <p:txBody>
          <a:bodyPr>
            <a:normAutofit/>
          </a:bodyPr>
          <a:lstStyle/>
          <a:p>
            <a:pPr algn="just"/>
            <a:r>
              <a:rPr lang="pt-BR" sz="2400" dirty="0"/>
              <a:t>A SQL permite o uso do valor nulo (</a:t>
            </a:r>
            <a:r>
              <a:rPr lang="pt-BR" sz="2400" b="1" dirty="0" err="1"/>
              <a:t>null</a:t>
            </a:r>
            <a:r>
              <a:rPr lang="pt-BR" sz="2400" dirty="0"/>
              <a:t>) para indicar a ausência de qualquer valor de um atributo.</a:t>
            </a:r>
          </a:p>
          <a:p>
            <a:pPr algn="just"/>
            <a:endParaRPr lang="pt-BR" sz="2400" dirty="0"/>
          </a:p>
          <a:p>
            <a:pPr algn="just"/>
            <a:r>
              <a:rPr lang="pt-BR" sz="2400" dirty="0"/>
              <a:t>Para fazer uma consulta testando a existência de valores nulos utiliza-se o predicado </a:t>
            </a:r>
            <a:r>
              <a:rPr lang="pt-BR" sz="2400" b="1" dirty="0" err="1"/>
              <a:t>is</a:t>
            </a:r>
            <a:r>
              <a:rPr lang="pt-BR" sz="2400" b="1" dirty="0"/>
              <a:t> </a:t>
            </a:r>
            <a:r>
              <a:rPr lang="pt-BR" sz="2400" b="1" dirty="0" err="1"/>
              <a:t>null</a:t>
            </a:r>
            <a:r>
              <a:rPr lang="pt-BR" sz="2400" dirty="0"/>
              <a:t>/</a:t>
            </a:r>
            <a:r>
              <a:rPr lang="pt-BR" sz="2400" b="1" dirty="0" err="1"/>
              <a:t>is</a:t>
            </a:r>
            <a:r>
              <a:rPr lang="pt-BR" sz="2400" b="1" dirty="0"/>
              <a:t> </a:t>
            </a:r>
            <a:r>
              <a:rPr lang="pt-BR" sz="2400" b="1" dirty="0" err="1"/>
              <a:t>not</a:t>
            </a:r>
            <a:r>
              <a:rPr lang="pt-BR" sz="2400" b="1" dirty="0"/>
              <a:t> </a:t>
            </a:r>
            <a:r>
              <a:rPr lang="pt-BR" sz="2400" b="1" dirty="0" err="1"/>
              <a:t>null</a:t>
            </a:r>
            <a:r>
              <a:rPr lang="pt-BR" sz="2400" b="1" dirty="0"/>
              <a:t>.</a:t>
            </a:r>
          </a:p>
          <a:p>
            <a:pPr algn="just"/>
            <a:endParaRPr lang="pt-BR" sz="2400" dirty="0"/>
          </a:p>
          <a:p>
            <a:pPr algn="just"/>
            <a:r>
              <a:rPr lang="pt-BR" sz="2400" b="1" dirty="0"/>
              <a:t>Exemplo</a:t>
            </a:r>
            <a:r>
              <a:rPr lang="pt-BR" sz="2400" dirty="0"/>
              <a:t>:</a:t>
            </a:r>
          </a:p>
          <a:p>
            <a:pPr lvl="1" algn="just">
              <a:buFont typeface="Wingdings" pitchFamily="2" charset="2"/>
              <a:buNone/>
            </a:pPr>
            <a:r>
              <a:rPr lang="pt-BR" sz="2400" b="1" dirty="0"/>
              <a:t>	</a:t>
            </a:r>
            <a:r>
              <a:rPr lang="pt-BR" sz="2200" b="1" dirty="0" err="1"/>
              <a:t>select</a:t>
            </a:r>
            <a:r>
              <a:rPr lang="pt-BR" sz="2200" b="1" dirty="0"/>
              <a:t> </a:t>
            </a:r>
            <a:r>
              <a:rPr lang="pt-BR" sz="2200" dirty="0" err="1"/>
              <a:t>numero_emprestimo</a:t>
            </a:r>
            <a:endParaRPr lang="pt-BR" sz="2200" dirty="0"/>
          </a:p>
          <a:p>
            <a:pPr lvl="1" algn="just">
              <a:buFont typeface="Wingdings" pitchFamily="2" charset="2"/>
              <a:buNone/>
            </a:pPr>
            <a:r>
              <a:rPr lang="pt-BR" sz="2200" b="1" dirty="0"/>
              <a:t>	</a:t>
            </a:r>
            <a:r>
              <a:rPr lang="pt-BR" sz="2200" b="1" dirty="0" err="1"/>
              <a:t>from</a:t>
            </a:r>
            <a:r>
              <a:rPr lang="pt-BR" sz="2200" b="1" dirty="0"/>
              <a:t> </a:t>
            </a:r>
            <a:r>
              <a:rPr lang="pt-BR" sz="2200" dirty="0" err="1"/>
              <a:t>emprestimo</a:t>
            </a:r>
            <a:endParaRPr lang="pt-BR" sz="2200" dirty="0"/>
          </a:p>
          <a:p>
            <a:pPr lvl="1" algn="just">
              <a:buFont typeface="Wingdings" pitchFamily="2" charset="2"/>
              <a:buNone/>
            </a:pPr>
            <a:r>
              <a:rPr lang="pt-BR" sz="2200" dirty="0"/>
              <a:t>	</a:t>
            </a:r>
            <a:r>
              <a:rPr lang="pt-BR" sz="2200" b="1" dirty="0" err="1"/>
              <a:t>where</a:t>
            </a:r>
            <a:r>
              <a:rPr lang="pt-BR" sz="2200" b="1" dirty="0"/>
              <a:t> </a:t>
            </a:r>
            <a:r>
              <a:rPr lang="pt-BR" sz="2200" dirty="0"/>
              <a:t>total </a:t>
            </a:r>
            <a:r>
              <a:rPr lang="pt-BR" sz="2200" b="1" dirty="0" err="1"/>
              <a:t>is</a:t>
            </a:r>
            <a:r>
              <a:rPr lang="pt-BR" sz="2200" b="1" dirty="0"/>
              <a:t> </a:t>
            </a:r>
            <a:r>
              <a:rPr lang="pt-BR" sz="2200" b="1" dirty="0" err="1"/>
              <a:t>null</a:t>
            </a:r>
            <a:endParaRPr lang="pt-BR" sz="2200" dirty="0"/>
          </a:p>
          <a:p>
            <a:endParaRPr lang="pt-BR" sz="2400" dirty="0">
              <a:latin typeface="Arial" pitchFamily="34" charset="0"/>
            </a:endParaRPr>
          </a:p>
        </p:txBody>
      </p:sp>
      <p:sp>
        <p:nvSpPr>
          <p:cNvPr id="9216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SQL – DML: Valores nulos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082264D-071B-4A2B-8AF9-8360BBF53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UNESP - São José do Rio Preto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D4B3E01-1B56-41EC-8FB8-68E0BE0C4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BBEDC-3E96-4211-870F-5846E77DF70B}" type="slidenum">
              <a:rPr lang="pt-BR" smtClean="0"/>
              <a:t>36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41703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D3572-90A8-41EF-84CD-DF6858C24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7" name="Espaço Reservado para Conteúdo 2">
            <a:extLst>
              <a:ext uri="{FF2B5EF4-FFF2-40B4-BE49-F238E27FC236}">
                <a16:creationId xmlns:a16="http://schemas.microsoft.com/office/drawing/2014/main" id="{881E25F9-934C-A5FF-E24D-7C17847D77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260" y="1395730"/>
            <a:ext cx="7467600" cy="5222875"/>
          </a:xfrm>
        </p:spPr>
        <p:txBody>
          <a:bodyPr>
            <a:normAutofit/>
          </a:bodyPr>
          <a:lstStyle/>
          <a:p>
            <a:pPr algn="just"/>
            <a:r>
              <a:rPr lang="pt-BR" sz="2400" dirty="0"/>
              <a:t>Permitem armazenar listas de valores em uma única coluna. Útil quando um atributo naturalmente tem múltiplos valores.</a:t>
            </a:r>
          </a:p>
          <a:p>
            <a:pPr algn="just"/>
            <a:endParaRPr lang="pt-BR" sz="2400" dirty="0"/>
          </a:p>
          <a:p>
            <a:pPr algn="just"/>
            <a:r>
              <a:rPr lang="pt-BR" sz="2400" b="1" dirty="0"/>
              <a:t>Exemplo</a:t>
            </a:r>
            <a:r>
              <a:rPr lang="pt-BR" sz="2400" dirty="0"/>
              <a:t>:</a:t>
            </a:r>
          </a:p>
          <a:p>
            <a:pPr lvl="1" algn="just">
              <a:buFont typeface="Wingdings" pitchFamily="2" charset="2"/>
              <a:buNone/>
            </a:pPr>
            <a:r>
              <a:rPr lang="pt-BR" sz="2400" b="1" dirty="0"/>
              <a:t>	</a:t>
            </a:r>
            <a:r>
              <a:rPr lang="pt-BR" sz="2200" b="1" dirty="0"/>
              <a:t>CREATE TABLE </a:t>
            </a:r>
            <a:r>
              <a:rPr lang="pt-BR" sz="2200" dirty="0"/>
              <a:t>exemplo</a:t>
            </a:r>
            <a:r>
              <a:rPr lang="pt-BR" sz="2200" b="1" dirty="0"/>
              <a:t> </a:t>
            </a:r>
            <a:r>
              <a:rPr lang="pt-BR" sz="2200" dirty="0"/>
              <a:t>(</a:t>
            </a:r>
          </a:p>
          <a:p>
            <a:pPr lvl="1" algn="just">
              <a:buFont typeface="Wingdings" pitchFamily="2" charset="2"/>
              <a:buNone/>
            </a:pPr>
            <a:r>
              <a:rPr lang="pt-BR" sz="2200" dirty="0"/>
              <a:t>  		id </a:t>
            </a:r>
            <a:r>
              <a:rPr lang="pt-BR" sz="2200" b="1" dirty="0"/>
              <a:t>SERIAL PRIMARY KEY</a:t>
            </a:r>
            <a:r>
              <a:rPr lang="pt-BR" sz="2200" dirty="0"/>
              <a:t>,</a:t>
            </a:r>
          </a:p>
          <a:p>
            <a:pPr lvl="1" algn="just">
              <a:buFont typeface="Wingdings" pitchFamily="2" charset="2"/>
              <a:buNone/>
            </a:pPr>
            <a:r>
              <a:rPr lang="pt-BR" sz="2200" dirty="0"/>
              <a:t>  		nome </a:t>
            </a:r>
            <a:r>
              <a:rPr lang="pt-BR" sz="2200" b="1" dirty="0"/>
              <a:t>TEXT</a:t>
            </a:r>
            <a:r>
              <a:rPr lang="pt-BR" sz="2200" dirty="0"/>
              <a:t>,</a:t>
            </a:r>
          </a:p>
          <a:p>
            <a:pPr lvl="1" algn="just">
              <a:buFont typeface="Wingdings" pitchFamily="2" charset="2"/>
              <a:buNone/>
            </a:pPr>
            <a:r>
              <a:rPr lang="pt-BR" sz="2200" dirty="0"/>
              <a:t>  		valores </a:t>
            </a:r>
            <a:r>
              <a:rPr lang="pt-BR" sz="2200" b="1" dirty="0">
                <a:solidFill>
                  <a:srgbClr val="FF0000"/>
                </a:solidFill>
              </a:rPr>
              <a:t>INTEGER[ ]</a:t>
            </a:r>
          </a:p>
          <a:p>
            <a:pPr lvl="1" algn="just">
              <a:buFont typeface="Wingdings" pitchFamily="2" charset="2"/>
              <a:buNone/>
            </a:pPr>
            <a:r>
              <a:rPr lang="pt-BR" sz="2200" dirty="0"/>
              <a:t>	);</a:t>
            </a:r>
            <a:endParaRPr lang="pt-BR" sz="2400" dirty="0"/>
          </a:p>
          <a:p>
            <a:pPr algn="just"/>
            <a:r>
              <a:rPr lang="pt-BR" sz="2400" dirty="0"/>
              <a:t>('João’,  </a:t>
            </a:r>
            <a:r>
              <a:rPr lang="pt-BR" sz="2400" b="1" dirty="0"/>
              <a:t>'{10, 20, 30}’ </a:t>
            </a:r>
            <a:r>
              <a:rPr lang="pt-BR" sz="2400" dirty="0"/>
              <a:t>);</a:t>
            </a:r>
          </a:p>
          <a:p>
            <a:pPr algn="just"/>
            <a:r>
              <a:rPr lang="pt-BR" sz="2400" dirty="0"/>
              <a:t>SELECT </a:t>
            </a:r>
            <a:r>
              <a:rPr lang="pt-BR" sz="2400" b="1" dirty="0"/>
              <a:t>valores[1]</a:t>
            </a:r>
            <a:r>
              <a:rPr lang="pt-BR" sz="2400" dirty="0"/>
              <a:t> AS </a:t>
            </a:r>
            <a:r>
              <a:rPr lang="pt-BR" sz="2400" dirty="0" err="1"/>
              <a:t>primeiro_valor</a:t>
            </a:r>
            <a:r>
              <a:rPr lang="pt-BR" sz="2400" dirty="0"/>
              <a:t> FROM exemplo;</a:t>
            </a:r>
          </a:p>
          <a:p>
            <a:pPr marL="0" indent="0" algn="just">
              <a:buNone/>
            </a:pPr>
            <a:endParaRPr lang="pt-BR" sz="2400" dirty="0"/>
          </a:p>
          <a:p>
            <a:pPr algn="just"/>
            <a:endParaRPr lang="pt-BR" sz="2400" dirty="0"/>
          </a:p>
        </p:txBody>
      </p:sp>
      <p:sp>
        <p:nvSpPr>
          <p:cNvPr id="93186" name="Título 1">
            <a:extLst>
              <a:ext uri="{FF2B5EF4-FFF2-40B4-BE49-F238E27FC236}">
                <a16:creationId xmlns:a16="http://schemas.microsoft.com/office/drawing/2014/main" id="{31B02808-E5D6-EAE3-2A3A-9B798831E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SQL – DML: </a:t>
            </a:r>
            <a:r>
              <a:rPr lang="pt-BR" dirty="0" err="1"/>
              <a:t>Arrays</a:t>
            </a:r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279A81D-C5E7-D379-EDE2-3F9D58178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UNESP - São José do Rio Preto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2D1B2BA-3236-4332-EF21-CB578B564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BBEDC-3E96-4211-870F-5846E77DF70B}" type="slidenum">
              <a:rPr lang="pt-BR" smtClean="0"/>
              <a:t>37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985637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512D6-6ECC-1992-FC4B-9F33A5DC0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7" name="Espaço Reservado para Conteúdo 2">
            <a:extLst>
              <a:ext uri="{FF2B5EF4-FFF2-40B4-BE49-F238E27FC236}">
                <a16:creationId xmlns:a16="http://schemas.microsoft.com/office/drawing/2014/main" id="{5862991C-6707-E34D-28FF-B40B8D894E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35125"/>
            <a:ext cx="7467600" cy="4838700"/>
          </a:xfrm>
        </p:spPr>
        <p:txBody>
          <a:bodyPr/>
          <a:lstStyle/>
          <a:p>
            <a:pPr algn="just"/>
            <a:r>
              <a:rPr lang="pt-BR" sz="2400" dirty="0"/>
              <a:t>Armazenamento e consulta de dados </a:t>
            </a:r>
            <a:r>
              <a:rPr lang="pt-BR" sz="2400" dirty="0" err="1"/>
              <a:t>semi-estruturados</a:t>
            </a:r>
            <a:r>
              <a:rPr lang="pt-BR" sz="2400" dirty="0"/>
              <a:t> (como objetos ou documentos), mantendo a flexibilidade do formato JSON.</a:t>
            </a:r>
          </a:p>
          <a:p>
            <a:pPr algn="just"/>
            <a:endParaRPr lang="pt-BR" sz="2400" dirty="0"/>
          </a:p>
          <a:p>
            <a:pPr algn="just"/>
            <a:r>
              <a:rPr lang="pt-BR" sz="2400" b="1" dirty="0"/>
              <a:t>Exemplo</a:t>
            </a:r>
            <a:r>
              <a:rPr lang="pt-BR" sz="2400" dirty="0"/>
              <a:t>:</a:t>
            </a:r>
          </a:p>
          <a:p>
            <a:pPr lvl="1" algn="just">
              <a:buFont typeface="Wingdings" pitchFamily="2" charset="2"/>
              <a:buNone/>
            </a:pPr>
            <a:r>
              <a:rPr lang="pt-BR" sz="2400" b="1" dirty="0"/>
              <a:t>	</a:t>
            </a:r>
            <a:r>
              <a:rPr lang="pt-BR" sz="2200" b="1" dirty="0"/>
              <a:t>CREATE TABLE </a:t>
            </a:r>
            <a:r>
              <a:rPr lang="pt-BR" sz="2200" dirty="0"/>
              <a:t>clientes</a:t>
            </a:r>
            <a:r>
              <a:rPr lang="pt-BR" sz="2200" b="1" dirty="0"/>
              <a:t> </a:t>
            </a:r>
            <a:r>
              <a:rPr lang="pt-BR" sz="2200" dirty="0"/>
              <a:t>(</a:t>
            </a:r>
          </a:p>
          <a:p>
            <a:pPr lvl="1" algn="just">
              <a:buFont typeface="Wingdings" pitchFamily="2" charset="2"/>
              <a:buNone/>
            </a:pPr>
            <a:r>
              <a:rPr lang="pt-BR" sz="2200" dirty="0"/>
              <a:t>  		id </a:t>
            </a:r>
            <a:r>
              <a:rPr lang="pt-BR" sz="2200" b="1" dirty="0"/>
              <a:t>SERIAL PRIMARY KEY</a:t>
            </a:r>
            <a:r>
              <a:rPr lang="pt-BR" sz="2200" dirty="0"/>
              <a:t>,</a:t>
            </a:r>
          </a:p>
          <a:p>
            <a:pPr lvl="1" algn="just">
              <a:buFont typeface="Wingdings" pitchFamily="2" charset="2"/>
              <a:buNone/>
            </a:pPr>
            <a:r>
              <a:rPr lang="pt-BR" sz="2200" dirty="0"/>
              <a:t>  		nome </a:t>
            </a:r>
            <a:r>
              <a:rPr lang="pt-BR" sz="2200" b="1" dirty="0"/>
              <a:t>TEXT</a:t>
            </a:r>
            <a:r>
              <a:rPr lang="pt-BR" sz="2200" dirty="0"/>
              <a:t>,</a:t>
            </a:r>
          </a:p>
          <a:p>
            <a:pPr lvl="1" algn="just">
              <a:buFont typeface="Wingdings" pitchFamily="2" charset="2"/>
              <a:buNone/>
            </a:pPr>
            <a:r>
              <a:rPr lang="pt-BR" sz="2200" dirty="0"/>
              <a:t>  		</a:t>
            </a:r>
            <a:r>
              <a:rPr lang="pt-BR" sz="2200" dirty="0" err="1"/>
              <a:t>info</a:t>
            </a:r>
            <a:r>
              <a:rPr lang="pt-BR" sz="2200" dirty="0"/>
              <a:t> </a:t>
            </a:r>
            <a:r>
              <a:rPr lang="pt-BR" sz="2200" b="1" dirty="0">
                <a:solidFill>
                  <a:srgbClr val="FF0000"/>
                </a:solidFill>
              </a:rPr>
              <a:t>JSONB</a:t>
            </a:r>
            <a:r>
              <a:rPr lang="pt-BR" sz="2200" dirty="0"/>
              <a:t>	);</a:t>
            </a:r>
            <a:endParaRPr lang="pt-BR" sz="2400" dirty="0"/>
          </a:p>
          <a:p>
            <a:pPr algn="just"/>
            <a:endParaRPr lang="pt-BR" sz="2400" dirty="0"/>
          </a:p>
          <a:p>
            <a:pPr algn="just"/>
            <a:endParaRPr lang="pt-BR" sz="2400" dirty="0"/>
          </a:p>
        </p:txBody>
      </p:sp>
      <p:sp>
        <p:nvSpPr>
          <p:cNvPr id="93186" name="Título 1">
            <a:extLst>
              <a:ext uri="{FF2B5EF4-FFF2-40B4-BE49-F238E27FC236}">
                <a16:creationId xmlns:a16="http://schemas.microsoft.com/office/drawing/2014/main" id="{80EC6C65-A2C1-FEAF-3022-DAB73C1DA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SQL – DML: JSON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435BF33-13DB-A6A7-928C-459A2DB9A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UNESP - São José do Rio Preto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770F2A1-3708-4BFE-EE82-0D8DC79FB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BBEDC-3E96-4211-870F-5846E77DF70B}" type="slidenum">
              <a:rPr lang="pt-BR" smtClean="0"/>
              <a:t>38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013859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0639B-DC73-6E63-C512-569F37DE3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7" name="Espaço Reservado para Conteúdo 2">
            <a:extLst>
              <a:ext uri="{FF2B5EF4-FFF2-40B4-BE49-F238E27FC236}">
                <a16:creationId xmlns:a16="http://schemas.microsoft.com/office/drawing/2014/main" id="{7CDAFBC8-C567-6EAF-2F2E-1CEC4FD564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260" y="1009650"/>
            <a:ext cx="7959090" cy="4838700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endParaRPr lang="pt-BR" sz="2400" dirty="0"/>
          </a:p>
          <a:p>
            <a:pPr algn="just"/>
            <a:r>
              <a:rPr lang="pt-BR" sz="2400" b="1" dirty="0"/>
              <a:t>Exemplo</a:t>
            </a:r>
            <a:r>
              <a:rPr lang="pt-BR" sz="2400" dirty="0"/>
              <a:t>:</a:t>
            </a:r>
          </a:p>
          <a:p>
            <a:pPr lvl="1" algn="just">
              <a:buFont typeface="Wingdings" pitchFamily="2" charset="2"/>
              <a:buNone/>
            </a:pPr>
            <a:r>
              <a:rPr lang="pt-BR" sz="2400" b="1" dirty="0"/>
              <a:t>	</a:t>
            </a:r>
            <a:r>
              <a:rPr lang="pt-BR" sz="2200" dirty="0"/>
              <a:t>‘João',</a:t>
            </a:r>
          </a:p>
          <a:p>
            <a:pPr lvl="1" algn="just">
              <a:buFont typeface="Wingdings" pitchFamily="2" charset="2"/>
              <a:buNone/>
            </a:pPr>
            <a:r>
              <a:rPr lang="pt-BR" sz="2200" b="1" dirty="0">
                <a:solidFill>
                  <a:srgbClr val="FF0000"/>
                </a:solidFill>
              </a:rPr>
              <a:t>  '{</a:t>
            </a:r>
          </a:p>
          <a:p>
            <a:pPr lvl="1" algn="just">
              <a:buFont typeface="Wingdings" pitchFamily="2" charset="2"/>
              <a:buNone/>
            </a:pPr>
            <a:r>
              <a:rPr lang="pt-BR" sz="2200" b="1" dirty="0">
                <a:solidFill>
                  <a:srgbClr val="FF0000"/>
                </a:solidFill>
              </a:rPr>
              <a:t>    "idade": 28,</a:t>
            </a:r>
          </a:p>
          <a:p>
            <a:pPr lvl="1" algn="just">
              <a:buFont typeface="Wingdings" pitchFamily="2" charset="2"/>
              <a:buNone/>
            </a:pPr>
            <a:r>
              <a:rPr lang="pt-BR" sz="2200" b="1" dirty="0">
                <a:solidFill>
                  <a:srgbClr val="FF0000"/>
                </a:solidFill>
              </a:rPr>
              <a:t>    "ativo": </a:t>
            </a:r>
            <a:r>
              <a:rPr lang="pt-BR" sz="2200" b="1" dirty="0" err="1">
                <a:solidFill>
                  <a:srgbClr val="FF0000"/>
                </a:solidFill>
              </a:rPr>
              <a:t>true</a:t>
            </a:r>
            <a:r>
              <a:rPr lang="pt-BR" sz="2200" b="1" dirty="0">
                <a:solidFill>
                  <a:srgbClr val="FF0000"/>
                </a:solidFill>
              </a:rPr>
              <a:t>,</a:t>
            </a:r>
          </a:p>
          <a:p>
            <a:pPr lvl="1" algn="just">
              <a:buFont typeface="Wingdings" pitchFamily="2" charset="2"/>
              <a:buNone/>
            </a:pPr>
            <a:r>
              <a:rPr lang="pt-BR" sz="2200" b="1" dirty="0">
                <a:solidFill>
                  <a:srgbClr val="FF0000"/>
                </a:solidFill>
              </a:rPr>
              <a:t>    "</a:t>
            </a:r>
            <a:r>
              <a:rPr lang="pt-BR" sz="2200" b="1" dirty="0" err="1">
                <a:solidFill>
                  <a:srgbClr val="FF0000"/>
                </a:solidFill>
              </a:rPr>
              <a:t>endereco</a:t>
            </a:r>
            <a:r>
              <a:rPr lang="pt-BR" sz="2200" b="1" dirty="0">
                <a:solidFill>
                  <a:srgbClr val="FF0000"/>
                </a:solidFill>
              </a:rPr>
              <a:t>": {</a:t>
            </a:r>
          </a:p>
          <a:p>
            <a:pPr lvl="1" algn="just">
              <a:buFont typeface="Wingdings" pitchFamily="2" charset="2"/>
              <a:buNone/>
            </a:pPr>
            <a:r>
              <a:rPr lang="pt-BR" sz="2200" b="1" dirty="0">
                <a:solidFill>
                  <a:srgbClr val="FF0000"/>
                </a:solidFill>
              </a:rPr>
              <a:t>      "cidade": "São Paulo",</a:t>
            </a:r>
          </a:p>
          <a:p>
            <a:pPr lvl="1" algn="just">
              <a:buFont typeface="Wingdings" pitchFamily="2" charset="2"/>
              <a:buNone/>
            </a:pPr>
            <a:r>
              <a:rPr lang="pt-BR" sz="2200" b="1" dirty="0">
                <a:solidFill>
                  <a:srgbClr val="FF0000"/>
                </a:solidFill>
              </a:rPr>
              <a:t>      "estado": "SP"</a:t>
            </a:r>
          </a:p>
          <a:p>
            <a:pPr lvl="1" algn="just">
              <a:buFont typeface="Wingdings" pitchFamily="2" charset="2"/>
              <a:buNone/>
            </a:pPr>
            <a:r>
              <a:rPr lang="pt-BR" sz="2200" b="1" dirty="0">
                <a:solidFill>
                  <a:srgbClr val="FF0000"/>
                </a:solidFill>
              </a:rPr>
              <a:t>    }</a:t>
            </a:r>
          </a:p>
          <a:p>
            <a:pPr lvl="1" algn="just">
              <a:buFont typeface="Wingdings" pitchFamily="2" charset="2"/>
              <a:buNone/>
            </a:pPr>
            <a:r>
              <a:rPr lang="pt-BR" sz="2200" b="1" dirty="0">
                <a:solidFill>
                  <a:srgbClr val="FF0000"/>
                </a:solidFill>
              </a:rPr>
              <a:t>  }'</a:t>
            </a:r>
            <a:endParaRPr lang="pt-BR" sz="2400" b="1" dirty="0">
              <a:solidFill>
                <a:srgbClr val="FF0000"/>
              </a:solidFill>
            </a:endParaRPr>
          </a:p>
          <a:p>
            <a:pPr algn="just"/>
            <a:r>
              <a:rPr lang="pt-BR" sz="2400" dirty="0"/>
              <a:t>SELECT nome, </a:t>
            </a:r>
            <a:r>
              <a:rPr lang="pt-BR" sz="2400" b="1" dirty="0" err="1"/>
              <a:t>info</a:t>
            </a:r>
            <a:r>
              <a:rPr lang="pt-BR" sz="2400" b="1" dirty="0"/>
              <a:t>-&gt;'</a:t>
            </a:r>
            <a:r>
              <a:rPr lang="pt-BR" sz="2400" b="1" dirty="0" err="1"/>
              <a:t>endereco</a:t>
            </a:r>
            <a:r>
              <a:rPr lang="pt-BR" sz="2400" b="1" dirty="0"/>
              <a:t>'-&gt;&gt;'cidade'</a:t>
            </a:r>
            <a:r>
              <a:rPr lang="pt-BR" sz="2400" dirty="0"/>
              <a:t> AS cidade </a:t>
            </a:r>
          </a:p>
          <a:p>
            <a:pPr marL="0" indent="0" algn="just">
              <a:buNone/>
            </a:pPr>
            <a:r>
              <a:rPr lang="pt-BR" sz="2400" dirty="0"/>
              <a:t>    FROM clientes</a:t>
            </a:r>
          </a:p>
          <a:p>
            <a:pPr marL="0" indent="0" algn="just">
              <a:buNone/>
            </a:pPr>
            <a:r>
              <a:rPr lang="pt-BR" sz="2400" dirty="0"/>
              <a:t>    WHERE </a:t>
            </a:r>
            <a:r>
              <a:rPr lang="pt-BR" sz="2400" b="1" dirty="0" err="1"/>
              <a:t>info</a:t>
            </a:r>
            <a:r>
              <a:rPr lang="pt-BR" sz="2400" b="1" dirty="0"/>
              <a:t>-&gt;&gt;'ativo' = '</a:t>
            </a:r>
            <a:r>
              <a:rPr lang="pt-BR" sz="2400" b="1" dirty="0" err="1"/>
              <a:t>true</a:t>
            </a:r>
            <a:r>
              <a:rPr lang="pt-BR" sz="2400" b="1" dirty="0"/>
              <a:t>';</a:t>
            </a:r>
          </a:p>
        </p:txBody>
      </p:sp>
      <p:sp>
        <p:nvSpPr>
          <p:cNvPr id="93186" name="Título 1">
            <a:extLst>
              <a:ext uri="{FF2B5EF4-FFF2-40B4-BE49-F238E27FC236}">
                <a16:creationId xmlns:a16="http://schemas.microsoft.com/office/drawing/2014/main" id="{57FBB3CC-0FB5-8CDF-47E2-C8B073DAB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SQL – DML: JSON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B2E6A76-EE20-1727-0D4C-EB8738E13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UNESP - São José do Rio Preto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186617F-1B7C-F428-D645-AE2C65AED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BBEDC-3E96-4211-870F-5846E77DF70B}" type="slidenum">
              <a:rPr lang="pt-BR" smtClean="0"/>
              <a:t>39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347579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9D291-1B68-F1C5-C4F3-506077A0A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7" name="Espaço Reservado para Conteúdo 2">
            <a:extLst>
              <a:ext uri="{FF2B5EF4-FFF2-40B4-BE49-F238E27FC236}">
                <a16:creationId xmlns:a16="http://schemas.microsoft.com/office/drawing/2014/main" id="{7232286D-112D-5181-7977-B2FE982E3A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35125"/>
            <a:ext cx="7467600" cy="4838700"/>
          </a:xfrm>
        </p:spPr>
        <p:txBody>
          <a:bodyPr/>
          <a:lstStyle/>
          <a:p>
            <a:pPr algn="just"/>
            <a:r>
              <a:rPr lang="pt-BR" sz="2400" dirty="0"/>
              <a:t>Consulta temporária nomeada, definida antes da consulta principal, usando a cláusula WITH.</a:t>
            </a:r>
          </a:p>
          <a:p>
            <a:pPr marL="0" indent="0" algn="just">
              <a:buNone/>
            </a:pPr>
            <a:endParaRPr lang="pt-BR" sz="2400" dirty="0"/>
          </a:p>
          <a:p>
            <a:pPr algn="just"/>
            <a:r>
              <a:rPr lang="pt-BR" sz="2400" dirty="0"/>
              <a:t>Criação de uma "tabela virtual" dentro da consulta para usar logo em seguida.</a:t>
            </a:r>
          </a:p>
          <a:p>
            <a:pPr algn="just"/>
            <a:endParaRPr lang="pt-BR" sz="2400" dirty="0"/>
          </a:p>
          <a:p>
            <a:pPr algn="just"/>
            <a:r>
              <a:rPr lang="pt-BR" b="1" dirty="0"/>
              <a:t>Sintaxe</a:t>
            </a:r>
            <a:r>
              <a:rPr lang="pt-BR" dirty="0"/>
              <a:t>:</a:t>
            </a:r>
          </a:p>
          <a:p>
            <a:pPr lvl="1" algn="just">
              <a:buFont typeface="Wingdings 2" pitchFamily="18" charset="2"/>
              <a:buNone/>
            </a:pPr>
            <a:r>
              <a:rPr lang="en-US" sz="2400" b="1" dirty="0"/>
              <a:t>WITH </a:t>
            </a:r>
            <a:r>
              <a:rPr lang="en-US" sz="2400" dirty="0" err="1"/>
              <a:t>nome_cte</a:t>
            </a:r>
            <a:r>
              <a:rPr lang="en-US" sz="2400" dirty="0"/>
              <a:t> </a:t>
            </a:r>
            <a:r>
              <a:rPr lang="en-US" sz="2400" b="1" dirty="0"/>
              <a:t>AS</a:t>
            </a:r>
            <a:r>
              <a:rPr lang="en-US" sz="2400" dirty="0"/>
              <a:t> (</a:t>
            </a:r>
          </a:p>
          <a:p>
            <a:pPr lvl="1" algn="just">
              <a:buFont typeface="Wingdings 2" pitchFamily="18" charset="2"/>
              <a:buNone/>
            </a:pPr>
            <a:r>
              <a:rPr lang="en-US" sz="2400" dirty="0"/>
              <a:t>  </a:t>
            </a:r>
            <a:r>
              <a:rPr lang="en-US" sz="2400" b="1" dirty="0"/>
              <a:t>SELECT</a:t>
            </a:r>
            <a:r>
              <a:rPr lang="en-US" sz="2400" dirty="0"/>
              <a:t> ...</a:t>
            </a:r>
          </a:p>
          <a:p>
            <a:pPr lvl="1" algn="just">
              <a:buFont typeface="Wingdings 2" pitchFamily="18" charset="2"/>
              <a:buNone/>
            </a:pPr>
            <a:r>
              <a:rPr lang="en-US" sz="2400" dirty="0"/>
              <a:t>)</a:t>
            </a:r>
          </a:p>
          <a:p>
            <a:pPr lvl="1" algn="just">
              <a:buFont typeface="Wingdings 2" pitchFamily="18" charset="2"/>
              <a:buNone/>
            </a:pPr>
            <a:r>
              <a:rPr lang="en-US" sz="2400" b="1" dirty="0"/>
              <a:t>SELECT</a:t>
            </a:r>
            <a:r>
              <a:rPr lang="en-US" sz="2400" dirty="0"/>
              <a:t> ...</a:t>
            </a:r>
          </a:p>
          <a:p>
            <a:pPr lvl="1" algn="just">
              <a:buFont typeface="Wingdings 2" pitchFamily="18" charset="2"/>
              <a:buNone/>
            </a:pPr>
            <a:r>
              <a:rPr lang="en-US" sz="2400" b="1" dirty="0"/>
              <a:t>FROM</a:t>
            </a:r>
            <a:r>
              <a:rPr lang="en-US" sz="2400" dirty="0"/>
              <a:t> </a:t>
            </a:r>
            <a:r>
              <a:rPr lang="en-US" sz="2400" dirty="0" err="1"/>
              <a:t>nome_cte</a:t>
            </a:r>
            <a:r>
              <a:rPr lang="en-US" sz="2400" dirty="0"/>
              <a:t>;</a:t>
            </a:r>
            <a:endParaRPr lang="pt-BR" sz="2400" dirty="0"/>
          </a:p>
          <a:p>
            <a:pPr algn="just"/>
            <a:endParaRPr lang="pt-BR" sz="2400" dirty="0"/>
          </a:p>
        </p:txBody>
      </p:sp>
      <p:sp>
        <p:nvSpPr>
          <p:cNvPr id="93186" name="Título 1">
            <a:extLst>
              <a:ext uri="{FF2B5EF4-FFF2-40B4-BE49-F238E27FC236}">
                <a16:creationId xmlns:a16="http://schemas.microsoft.com/office/drawing/2014/main" id="{A7C20BE0-F023-7A9E-1F4F-8C6EFFAA9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SQL – DML: </a:t>
            </a:r>
            <a:r>
              <a:rPr lang="pt-BR" dirty="0" err="1"/>
              <a:t>Commom</a:t>
            </a:r>
            <a:r>
              <a:rPr lang="pt-BR" dirty="0"/>
              <a:t> </a:t>
            </a:r>
            <a:r>
              <a:rPr lang="pt-BR" dirty="0" err="1"/>
              <a:t>Table</a:t>
            </a:r>
            <a:r>
              <a:rPr lang="pt-BR" dirty="0"/>
              <a:t> </a:t>
            </a:r>
            <a:r>
              <a:rPr lang="pt-BR" dirty="0" err="1"/>
              <a:t>Expressions</a:t>
            </a:r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D4D56E9-C70F-7EB4-B4C9-B656E11B4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UNESP - São José do Rio Preto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F9111D9-442C-FE89-3935-EF338FEE9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BBEDC-3E96-4211-870F-5846E77DF70B}" type="slidenum">
              <a:rPr lang="pt-BR" smtClean="0"/>
              <a:t>40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93841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15DAD-EF31-4860-99F5-7E676717F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7" name="Espaço Reservado para Conteúdo 2">
            <a:extLst>
              <a:ext uri="{FF2B5EF4-FFF2-40B4-BE49-F238E27FC236}">
                <a16:creationId xmlns:a16="http://schemas.microsoft.com/office/drawing/2014/main" id="{E4B86E37-48B3-1809-78AE-932ED59F98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557" y="1340768"/>
            <a:ext cx="7467600" cy="4838700"/>
          </a:xfrm>
        </p:spPr>
        <p:txBody>
          <a:bodyPr/>
          <a:lstStyle/>
          <a:p>
            <a:pPr marL="0" indent="0" algn="just">
              <a:buNone/>
            </a:pPr>
            <a:endParaRPr lang="pt-BR" sz="2400" dirty="0"/>
          </a:p>
          <a:p>
            <a:pPr algn="just"/>
            <a:r>
              <a:rPr lang="pt-BR" b="1" dirty="0"/>
              <a:t>Exemplo</a:t>
            </a:r>
            <a:r>
              <a:rPr lang="pt-BR" dirty="0"/>
              <a:t>:</a:t>
            </a:r>
          </a:p>
          <a:p>
            <a:pPr lvl="1" algn="just">
              <a:buFont typeface="Wingdings 2" pitchFamily="18" charset="2"/>
              <a:buNone/>
            </a:pPr>
            <a:r>
              <a:rPr lang="en-US" sz="2400" b="1" dirty="0"/>
              <a:t>WITH</a:t>
            </a:r>
            <a:r>
              <a:rPr lang="en-US" sz="2400" dirty="0"/>
              <a:t> </a:t>
            </a:r>
            <a:r>
              <a:rPr lang="en-US" sz="2400" dirty="0" err="1"/>
              <a:t>salarios_ti</a:t>
            </a:r>
            <a:r>
              <a:rPr lang="en-US" sz="2400" dirty="0"/>
              <a:t> </a:t>
            </a:r>
            <a:r>
              <a:rPr lang="en-US" sz="2400" b="1" dirty="0"/>
              <a:t>AS</a:t>
            </a:r>
            <a:r>
              <a:rPr lang="en-US" sz="2400" dirty="0"/>
              <a:t> (</a:t>
            </a:r>
          </a:p>
          <a:p>
            <a:pPr lvl="1" algn="just">
              <a:buFont typeface="Wingdings 2" pitchFamily="18" charset="2"/>
              <a:buNone/>
            </a:pPr>
            <a:r>
              <a:rPr lang="en-US" sz="2400" dirty="0"/>
              <a:t>  </a:t>
            </a:r>
            <a:r>
              <a:rPr lang="en-US" sz="2400" b="1" dirty="0"/>
              <a:t>SELECT</a:t>
            </a:r>
            <a:r>
              <a:rPr lang="en-US" sz="2400" dirty="0"/>
              <a:t> </a:t>
            </a:r>
            <a:r>
              <a:rPr lang="en-US" sz="2400" dirty="0" err="1"/>
              <a:t>salario</a:t>
            </a:r>
            <a:r>
              <a:rPr lang="en-US" sz="2400" dirty="0"/>
              <a:t> </a:t>
            </a:r>
            <a:r>
              <a:rPr lang="en-US" sz="2400" b="1" dirty="0"/>
              <a:t>FROM</a:t>
            </a:r>
            <a:r>
              <a:rPr lang="en-US" sz="2400" dirty="0"/>
              <a:t> </a:t>
            </a:r>
            <a:r>
              <a:rPr lang="en-US" sz="2400" dirty="0" err="1"/>
              <a:t>funcionarios</a:t>
            </a:r>
            <a:r>
              <a:rPr lang="en-US" sz="2400" dirty="0"/>
              <a:t> </a:t>
            </a:r>
            <a:r>
              <a:rPr lang="en-US" sz="2400" b="1" dirty="0"/>
              <a:t>WHERE</a:t>
            </a:r>
            <a:r>
              <a:rPr lang="en-US" sz="2400" dirty="0"/>
              <a:t> </a:t>
            </a:r>
            <a:r>
              <a:rPr lang="en-US" sz="2400" dirty="0" err="1"/>
              <a:t>departamento</a:t>
            </a:r>
            <a:r>
              <a:rPr lang="en-US" sz="2400" dirty="0"/>
              <a:t> = 'TI'</a:t>
            </a:r>
          </a:p>
          <a:p>
            <a:pPr lvl="1" algn="just">
              <a:buFont typeface="Wingdings 2" pitchFamily="18" charset="2"/>
              <a:buNone/>
            </a:pPr>
            <a:r>
              <a:rPr lang="en-US" sz="2400" dirty="0"/>
              <a:t>)</a:t>
            </a:r>
          </a:p>
          <a:p>
            <a:pPr lvl="1" algn="just">
              <a:buFont typeface="Wingdings 2" pitchFamily="18" charset="2"/>
              <a:buNone/>
            </a:pPr>
            <a:r>
              <a:rPr lang="en-US" sz="2400" b="1" dirty="0"/>
              <a:t>SELECT AVG</a:t>
            </a:r>
            <a:r>
              <a:rPr lang="en-US" sz="2400" dirty="0"/>
              <a:t>(</a:t>
            </a:r>
            <a:r>
              <a:rPr lang="en-US" sz="2400" dirty="0" err="1"/>
              <a:t>salario</a:t>
            </a:r>
            <a:r>
              <a:rPr lang="en-US" sz="2400" dirty="0"/>
              <a:t>) </a:t>
            </a:r>
            <a:r>
              <a:rPr lang="en-US" sz="2400" b="1" dirty="0"/>
              <a:t>FROM</a:t>
            </a:r>
            <a:r>
              <a:rPr lang="en-US" sz="2400" dirty="0"/>
              <a:t> </a:t>
            </a:r>
            <a:r>
              <a:rPr lang="en-US" sz="2400" dirty="0" err="1"/>
              <a:t>salarios_ti</a:t>
            </a:r>
            <a:r>
              <a:rPr lang="en-US" sz="2400" dirty="0"/>
              <a:t>;</a:t>
            </a:r>
            <a:endParaRPr lang="pt-BR" sz="2400" dirty="0"/>
          </a:p>
        </p:txBody>
      </p:sp>
      <p:sp>
        <p:nvSpPr>
          <p:cNvPr id="93186" name="Título 1">
            <a:extLst>
              <a:ext uri="{FF2B5EF4-FFF2-40B4-BE49-F238E27FC236}">
                <a16:creationId xmlns:a16="http://schemas.microsoft.com/office/drawing/2014/main" id="{B83CA478-F265-BFFA-D699-155566313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SQL – DML: </a:t>
            </a:r>
            <a:r>
              <a:rPr lang="pt-BR" dirty="0" err="1"/>
              <a:t>Commom</a:t>
            </a:r>
            <a:r>
              <a:rPr lang="pt-BR" dirty="0"/>
              <a:t> </a:t>
            </a:r>
            <a:r>
              <a:rPr lang="pt-BR" dirty="0" err="1"/>
              <a:t>Table</a:t>
            </a:r>
            <a:r>
              <a:rPr lang="pt-BR" dirty="0"/>
              <a:t> </a:t>
            </a:r>
            <a:r>
              <a:rPr lang="pt-BR" dirty="0" err="1"/>
              <a:t>Expressions</a:t>
            </a:r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4B5E371-6DC4-9F03-3F08-9C1E3C2EE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UNESP - São José do Rio Preto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E19E4C1-3968-2941-3038-5D7488CC3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BBEDC-3E96-4211-870F-5846E77DF70B}" type="slidenum">
              <a:rPr lang="pt-BR" smtClean="0"/>
              <a:t>41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146941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E539B-FA8C-D6DC-B5C3-0337D4560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7" name="Espaço Reservado para Conteúdo 2">
            <a:extLst>
              <a:ext uri="{FF2B5EF4-FFF2-40B4-BE49-F238E27FC236}">
                <a16:creationId xmlns:a16="http://schemas.microsoft.com/office/drawing/2014/main" id="{5AC8C2CF-4B7C-71A4-051F-AA3C7CA1FC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0668" y="1191667"/>
            <a:ext cx="7467600" cy="4838700"/>
          </a:xfrm>
        </p:spPr>
        <p:txBody>
          <a:bodyPr/>
          <a:lstStyle/>
          <a:p>
            <a:pPr algn="just"/>
            <a:r>
              <a:rPr lang="pt-BR" sz="2400" dirty="0"/>
              <a:t>Ferramenta para analisar e otimizar o desempenho das consultas SQL, mostrando como o banco de dados vai executar uma consulta: quais os custos, etc.</a:t>
            </a:r>
          </a:p>
          <a:p>
            <a:pPr algn="just"/>
            <a:endParaRPr lang="pt-BR" sz="2400" dirty="0"/>
          </a:p>
        </p:txBody>
      </p:sp>
      <p:sp>
        <p:nvSpPr>
          <p:cNvPr id="93186" name="Título 1">
            <a:extLst>
              <a:ext uri="{FF2B5EF4-FFF2-40B4-BE49-F238E27FC236}">
                <a16:creationId xmlns:a16="http://schemas.microsoft.com/office/drawing/2014/main" id="{E7FE69DB-5A5C-4BDC-FA0C-D3023EDA1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SQL – DML: </a:t>
            </a:r>
            <a:r>
              <a:rPr lang="pt-BR" dirty="0" err="1"/>
              <a:t>Explain</a:t>
            </a:r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1F711FD-EF5B-87AC-3A35-EAA536867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UNESP - São José do Rio Preto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09B28D8-1B76-582F-BD4C-6F75E6382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BBEDC-3E96-4211-870F-5846E77DF70B}" type="slidenum">
              <a:rPr lang="pt-BR" smtClean="0"/>
              <a:t>42</a:t>
            </a:fld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E71B7258-69F8-05CD-05FF-A2B7C2EAB4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443" y="2847913"/>
            <a:ext cx="8275889" cy="3642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89683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95C3B630-7743-4C16-AC05-82948D7CCA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PT" sz="2400" dirty="0"/>
              <a:t>A cláusula JOIN é usada para combinar linhas de duas ou mais tabelas, com base em uma coluna relacionada entre elas.</a:t>
            </a:r>
          </a:p>
          <a:p>
            <a:endParaRPr lang="pt-PT" dirty="0"/>
          </a:p>
          <a:p>
            <a:pPr algn="just"/>
            <a:r>
              <a:rPr lang="pt-BR" b="1" dirty="0"/>
              <a:t>Sintaxe</a:t>
            </a:r>
            <a:r>
              <a:rPr lang="pt-BR" dirty="0"/>
              <a:t>:</a:t>
            </a:r>
          </a:p>
          <a:p>
            <a:pPr lvl="1" algn="just">
              <a:buFont typeface="Wingdings 2" pitchFamily="18" charset="2"/>
              <a:buNone/>
            </a:pPr>
            <a:r>
              <a:rPr lang="pt-BR" sz="2400" b="1" dirty="0" err="1"/>
              <a:t>select</a:t>
            </a:r>
            <a:r>
              <a:rPr lang="pt-BR" sz="2400" b="1" dirty="0"/>
              <a:t> </a:t>
            </a:r>
            <a:r>
              <a:rPr lang="pt-BR" sz="2400" dirty="0"/>
              <a:t>&lt;nome-relação&gt;</a:t>
            </a:r>
          </a:p>
          <a:p>
            <a:pPr lvl="1" algn="just">
              <a:buFont typeface="Wingdings 2" pitchFamily="18" charset="2"/>
              <a:buNone/>
            </a:pPr>
            <a:r>
              <a:rPr lang="pt-BR" sz="2400" b="1" dirty="0" err="1"/>
              <a:t>from</a:t>
            </a:r>
            <a:r>
              <a:rPr lang="pt-BR" sz="2400" dirty="0"/>
              <a:t> &lt;nome-relação A&gt;</a:t>
            </a:r>
          </a:p>
          <a:p>
            <a:pPr lvl="1" algn="just">
              <a:buFont typeface="Wingdings 2" pitchFamily="18" charset="2"/>
              <a:buNone/>
            </a:pPr>
            <a:r>
              <a:rPr lang="pt-BR" sz="2400" b="1" dirty="0"/>
              <a:t>&lt;tipo&gt; </a:t>
            </a:r>
            <a:r>
              <a:rPr lang="pt-BR" sz="2400" b="1" dirty="0" err="1"/>
              <a:t>join</a:t>
            </a:r>
            <a:r>
              <a:rPr lang="pt-BR" sz="2400" b="1" dirty="0"/>
              <a:t> </a:t>
            </a:r>
            <a:r>
              <a:rPr lang="pt-BR" sz="2400" dirty="0"/>
              <a:t> &lt; nome-relação B&gt;</a:t>
            </a:r>
          </a:p>
          <a:p>
            <a:pPr lvl="1" algn="just">
              <a:buFont typeface="Wingdings 2" pitchFamily="18" charset="2"/>
              <a:buNone/>
            </a:pPr>
            <a:r>
              <a:rPr lang="pt-BR" sz="2400" b="1" dirty="0" err="1"/>
              <a:t>on</a:t>
            </a:r>
            <a:r>
              <a:rPr lang="pt-BR" sz="2400" b="1" dirty="0"/>
              <a:t> </a:t>
            </a:r>
            <a:r>
              <a:rPr lang="pt-BR" sz="2400" dirty="0"/>
              <a:t>&lt;</a:t>
            </a:r>
            <a:r>
              <a:rPr lang="pt-BR" sz="2400" dirty="0" err="1"/>
              <a:t>lista_condicoes</a:t>
            </a:r>
            <a:r>
              <a:rPr lang="pt-BR" sz="2400" dirty="0"/>
              <a:t>&gt;</a:t>
            </a:r>
          </a:p>
          <a:p>
            <a:endParaRPr lang="pt-PT" dirty="0"/>
          </a:p>
          <a:p>
            <a:r>
              <a:rPr lang="pt-PT" sz="2400" dirty="0"/>
              <a:t>O </a:t>
            </a:r>
            <a:r>
              <a:rPr lang="pt-PT" sz="2400" b="1" dirty="0"/>
              <a:t>&lt;tipo&gt;</a:t>
            </a:r>
            <a:r>
              <a:rPr lang="pt-PT" sz="2400" dirty="0"/>
              <a:t>  pode ser </a:t>
            </a:r>
            <a:r>
              <a:rPr lang="pt-PT" sz="2400" b="1" dirty="0"/>
              <a:t>left, inner, right, full e cross</a:t>
            </a:r>
            <a:r>
              <a:rPr lang="pt-PT" sz="2400" dirty="0"/>
              <a:t>, os quais são exemplificados na imagem a seguir.</a:t>
            </a:r>
            <a:endParaRPr lang="pt-PT" sz="2400" b="1" dirty="0"/>
          </a:p>
          <a:p>
            <a:pPr marL="0" indent="0">
              <a:buNone/>
            </a:pPr>
            <a:endParaRPr lang="pt-PT" dirty="0"/>
          </a:p>
          <a:p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2533DA2-2391-4C23-8B28-86E1A647C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SQL – DML: </a:t>
            </a:r>
            <a:r>
              <a:rPr lang="pt-BR" dirty="0" err="1"/>
              <a:t>Join</a:t>
            </a:r>
            <a:r>
              <a:rPr lang="pt-BR" dirty="0"/>
              <a:t> 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64DE9B1-157D-4048-A709-E1CE841A1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UNESP - São José do Rio Preto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874244C-38F2-4043-8744-6DE5525C0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BBEDC-3E96-4211-870F-5846E77DF70B}" type="slidenum">
              <a:rPr lang="pt-BR" smtClean="0"/>
              <a:t>43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042339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FAADE2-CFD8-4F9C-999F-8223E843AA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70148D2-0BBD-4271-B6DE-53BC464CD0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9EFF8BE9-5A80-4166-801A-FD53A7784C5D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715375" cy="6858000"/>
          </a:xfrm>
        </p:spPr>
      </p:pic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50A23E6A-337C-4A64-8BF2-3D4A00D86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UNESP - São José do Rio Preto</a:t>
            </a:r>
          </a:p>
        </p:txBody>
      </p:sp>
      <p:sp>
        <p:nvSpPr>
          <p:cNvPr id="8" name="Espaço Reservado para Número de Slide 7">
            <a:extLst>
              <a:ext uri="{FF2B5EF4-FFF2-40B4-BE49-F238E27FC236}">
                <a16:creationId xmlns:a16="http://schemas.microsoft.com/office/drawing/2014/main" id="{BF825535-5B6E-495A-BAEB-8D1841D1D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BBEDC-3E96-4211-870F-5846E77DF70B}" type="slidenum">
              <a:rPr lang="pt-BR" smtClean="0"/>
              <a:t>44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169523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5A7F0-8695-81D7-B83E-83A44D50E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29C1FD56-E6C6-944D-8807-FC4E26AE5D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93520"/>
            <a:ext cx="7886700" cy="4862830"/>
          </a:xfrm>
        </p:spPr>
        <p:txBody>
          <a:bodyPr>
            <a:normAutofit fontScale="92500"/>
          </a:bodyPr>
          <a:lstStyle/>
          <a:p>
            <a:r>
              <a:rPr lang="pt-BR" sz="2400" dirty="0"/>
              <a:t>Tabela virtual baseada no resultado de uma consulta SQL</a:t>
            </a:r>
          </a:p>
          <a:p>
            <a:r>
              <a:rPr lang="pt-BR" sz="2400" dirty="0"/>
              <a:t>Não armazena dados (exceto se for materializada)</a:t>
            </a:r>
          </a:p>
          <a:p>
            <a:endParaRPr lang="pt-BR" sz="2400" dirty="0"/>
          </a:p>
          <a:p>
            <a:r>
              <a:rPr lang="pt-BR" sz="2400" dirty="0"/>
              <a:t>Usada como se fosse uma tabela real</a:t>
            </a:r>
          </a:p>
          <a:p>
            <a:pPr marL="0" indent="0">
              <a:buNone/>
            </a:pPr>
            <a:endParaRPr lang="pt-BR" sz="2400" dirty="0"/>
          </a:p>
          <a:p>
            <a:r>
              <a:rPr lang="pt-BR" sz="2400" dirty="0"/>
              <a:t>Benefícios:</a:t>
            </a:r>
          </a:p>
          <a:p>
            <a:pPr lvl="1"/>
            <a:r>
              <a:rPr lang="pt-BR" sz="2200" b="1" dirty="0"/>
              <a:t>Simplicidade:</a:t>
            </a:r>
            <a:r>
              <a:rPr lang="pt-BR" sz="2200" dirty="0"/>
              <a:t> Esconde a complexidade das consultas.</a:t>
            </a:r>
          </a:p>
          <a:p>
            <a:pPr lvl="1"/>
            <a:r>
              <a:rPr lang="pt-BR" sz="2200" b="1" dirty="0"/>
              <a:t>Segurança:</a:t>
            </a:r>
            <a:r>
              <a:rPr lang="pt-BR" sz="2200" dirty="0"/>
              <a:t> Restringe acesso direto aos dados.</a:t>
            </a:r>
          </a:p>
          <a:p>
            <a:pPr lvl="1"/>
            <a:r>
              <a:rPr lang="pt-BR" sz="2200" b="1" dirty="0"/>
              <a:t>Abstração: </a:t>
            </a:r>
            <a:r>
              <a:rPr lang="pt-BR" sz="2200" dirty="0"/>
              <a:t>Evita que usuários vejam a estrutura completa do banco.</a:t>
            </a:r>
          </a:p>
          <a:p>
            <a:pPr lvl="1"/>
            <a:r>
              <a:rPr lang="pt-BR" sz="2200" b="1" dirty="0"/>
              <a:t>Consistência:</a:t>
            </a:r>
            <a:r>
              <a:rPr lang="pt-BR" sz="2200" dirty="0"/>
              <a:t> Garante padronização em relatórios e filtros.</a:t>
            </a:r>
          </a:p>
          <a:p>
            <a:pPr marL="0" indent="0">
              <a:buNone/>
            </a:pPr>
            <a:endParaRPr lang="pt-PT" dirty="0"/>
          </a:p>
          <a:p>
            <a:pPr lvl="1" algn="just">
              <a:buFont typeface="Wingdings 2" pitchFamily="18" charset="2"/>
              <a:buNone/>
            </a:pPr>
            <a:endParaRPr lang="pt-PT" dirty="0"/>
          </a:p>
          <a:p>
            <a:pPr marL="0" indent="0">
              <a:buNone/>
            </a:pPr>
            <a:endParaRPr lang="pt-PT" dirty="0"/>
          </a:p>
          <a:p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C791EE3-C2A6-28F6-2286-B9B72CEEB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SQL – DML: </a:t>
            </a:r>
            <a:r>
              <a:rPr lang="pt-BR" dirty="0" err="1"/>
              <a:t>Views</a:t>
            </a:r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E3D5DB6-4D06-B541-7D7F-60CAC0DBA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UNESP - São José do Rio Preto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832C073-437B-3201-2EE8-7C926CBD4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BBEDC-3E96-4211-870F-5846E77DF70B}" type="slidenum">
              <a:rPr lang="pt-BR" smtClean="0"/>
              <a:t>45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956054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E0F2F-17AF-CDE0-4C67-44D57B6F2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173FC554-9C41-B21F-1D95-057B19CE75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93520"/>
            <a:ext cx="7886700" cy="4862830"/>
          </a:xfrm>
        </p:spPr>
        <p:txBody>
          <a:bodyPr>
            <a:normAutofit lnSpcReduction="10000"/>
          </a:bodyPr>
          <a:lstStyle/>
          <a:p>
            <a:pPr algn="just"/>
            <a:r>
              <a:rPr lang="pt-BR" b="1" dirty="0"/>
              <a:t>Sintaxe</a:t>
            </a:r>
            <a:r>
              <a:rPr lang="pt-BR" dirty="0"/>
              <a:t>:</a:t>
            </a:r>
          </a:p>
          <a:p>
            <a:pPr lvl="1" algn="just">
              <a:buFont typeface="Wingdings 2" pitchFamily="18" charset="2"/>
              <a:buNone/>
            </a:pPr>
            <a:r>
              <a:rPr lang="pt-BR" sz="2400" b="1" dirty="0"/>
              <a:t>CREATE VIEW </a:t>
            </a:r>
            <a:r>
              <a:rPr lang="pt-BR" sz="2400" dirty="0" err="1"/>
              <a:t>nome_da_view</a:t>
            </a:r>
            <a:r>
              <a:rPr lang="pt-BR" sz="2400" dirty="0"/>
              <a:t> </a:t>
            </a:r>
            <a:r>
              <a:rPr lang="pt-BR" sz="2400" b="1" dirty="0"/>
              <a:t>AS</a:t>
            </a:r>
          </a:p>
          <a:p>
            <a:pPr lvl="1" algn="just">
              <a:buFont typeface="Wingdings 2" pitchFamily="18" charset="2"/>
              <a:buNone/>
            </a:pPr>
            <a:r>
              <a:rPr lang="pt-BR" sz="2400" b="1" dirty="0"/>
              <a:t>SELECT </a:t>
            </a:r>
            <a:r>
              <a:rPr lang="pt-BR" sz="2400" dirty="0"/>
              <a:t>colunas</a:t>
            </a:r>
          </a:p>
          <a:p>
            <a:pPr lvl="1" algn="just">
              <a:buFont typeface="Wingdings 2" pitchFamily="18" charset="2"/>
              <a:buNone/>
            </a:pPr>
            <a:r>
              <a:rPr lang="pt-BR" sz="2400" b="1" dirty="0"/>
              <a:t>FROM </a:t>
            </a:r>
            <a:r>
              <a:rPr lang="pt-BR" sz="2400" dirty="0"/>
              <a:t>tabelas</a:t>
            </a:r>
          </a:p>
          <a:p>
            <a:pPr lvl="1" algn="just">
              <a:buFont typeface="Wingdings 2" pitchFamily="18" charset="2"/>
              <a:buNone/>
            </a:pPr>
            <a:r>
              <a:rPr lang="pt-BR" sz="2400" b="1" dirty="0"/>
              <a:t>WHERE </a:t>
            </a:r>
            <a:r>
              <a:rPr lang="pt-BR" sz="2400" dirty="0"/>
              <a:t>condição</a:t>
            </a:r>
            <a:r>
              <a:rPr lang="pt-BR" sz="2400" b="1" dirty="0"/>
              <a:t>;</a:t>
            </a:r>
          </a:p>
          <a:p>
            <a:pPr lvl="1" algn="just">
              <a:buFont typeface="Wingdings 2" pitchFamily="18" charset="2"/>
              <a:buNone/>
            </a:pPr>
            <a:endParaRPr lang="pt-BR" sz="2400" b="1" dirty="0"/>
          </a:p>
          <a:p>
            <a:pPr algn="just"/>
            <a:r>
              <a:rPr lang="pt-BR" b="1" dirty="0"/>
              <a:t>Exemplo</a:t>
            </a:r>
            <a:r>
              <a:rPr lang="pt-BR" dirty="0"/>
              <a:t>:</a:t>
            </a:r>
          </a:p>
          <a:p>
            <a:pPr lvl="1" algn="just">
              <a:buFont typeface="Wingdings 2" pitchFamily="18" charset="2"/>
              <a:buNone/>
            </a:pPr>
            <a:r>
              <a:rPr lang="pt-BR" sz="2400" b="1" dirty="0"/>
              <a:t>CREATE VIEW </a:t>
            </a:r>
            <a:r>
              <a:rPr lang="pt-BR" sz="2400" dirty="0" err="1"/>
              <a:t>funcionarios_ti</a:t>
            </a:r>
            <a:r>
              <a:rPr lang="pt-BR" sz="2400" dirty="0"/>
              <a:t> </a:t>
            </a:r>
            <a:r>
              <a:rPr lang="pt-BR" sz="2400" b="1" dirty="0"/>
              <a:t>AS</a:t>
            </a:r>
          </a:p>
          <a:p>
            <a:pPr lvl="1" algn="just">
              <a:buFont typeface="Wingdings 2" pitchFamily="18" charset="2"/>
              <a:buNone/>
            </a:pPr>
            <a:r>
              <a:rPr lang="pt-BR" sz="2400" b="1" dirty="0"/>
              <a:t>SELECT </a:t>
            </a:r>
            <a:r>
              <a:rPr lang="pt-BR" sz="2400" dirty="0"/>
              <a:t>nome, salario</a:t>
            </a:r>
          </a:p>
          <a:p>
            <a:pPr lvl="1" algn="just">
              <a:buFont typeface="Wingdings 2" pitchFamily="18" charset="2"/>
              <a:buNone/>
            </a:pPr>
            <a:r>
              <a:rPr lang="pt-BR" sz="2400" b="1" dirty="0"/>
              <a:t>FROM </a:t>
            </a:r>
            <a:r>
              <a:rPr lang="pt-BR" sz="2400" dirty="0" err="1"/>
              <a:t>funcionarios</a:t>
            </a:r>
            <a:endParaRPr lang="pt-BR" sz="2400" dirty="0"/>
          </a:p>
          <a:p>
            <a:pPr lvl="1" algn="just">
              <a:buFont typeface="Wingdings 2" pitchFamily="18" charset="2"/>
              <a:buNone/>
            </a:pPr>
            <a:r>
              <a:rPr lang="pt-BR" sz="2400" b="1" dirty="0"/>
              <a:t>WHERE </a:t>
            </a:r>
            <a:r>
              <a:rPr lang="pt-BR" sz="2400" dirty="0"/>
              <a:t>departamento</a:t>
            </a:r>
            <a:r>
              <a:rPr lang="pt-BR" sz="2400" b="1" dirty="0"/>
              <a:t> = 'TI’;</a:t>
            </a:r>
          </a:p>
          <a:p>
            <a:pPr lvl="1" algn="just">
              <a:buFont typeface="Wingdings 2" pitchFamily="18" charset="2"/>
              <a:buNone/>
            </a:pPr>
            <a:endParaRPr lang="pt-BR" sz="2400" dirty="0"/>
          </a:p>
          <a:p>
            <a:r>
              <a:rPr lang="pt-BR" sz="2400" b="1" dirty="0"/>
              <a:t>SELECT * FROM </a:t>
            </a:r>
            <a:r>
              <a:rPr lang="pt-BR" sz="2400" dirty="0" err="1"/>
              <a:t>funcionarios_ti</a:t>
            </a:r>
            <a:r>
              <a:rPr lang="pt-BR" sz="2400" dirty="0"/>
              <a:t>;</a:t>
            </a:r>
            <a:endParaRPr lang="pt-PT" dirty="0"/>
          </a:p>
          <a:p>
            <a:pPr lvl="1" algn="just">
              <a:buFont typeface="Wingdings 2" pitchFamily="18" charset="2"/>
              <a:buNone/>
            </a:pPr>
            <a:endParaRPr lang="pt-PT" dirty="0"/>
          </a:p>
          <a:p>
            <a:pPr marL="0" indent="0">
              <a:buNone/>
            </a:pPr>
            <a:endParaRPr lang="pt-PT" dirty="0"/>
          </a:p>
          <a:p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CD71F0B-926C-7802-3D48-6702B7C5A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SQL – DML: </a:t>
            </a:r>
            <a:r>
              <a:rPr lang="pt-BR" dirty="0" err="1"/>
              <a:t>Views</a:t>
            </a:r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9FD1BC-B62F-B804-557E-465BBBE6A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UNESP - São José do Rio Preto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AB6A366-FF28-77C8-36E5-BFB0745D2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BBEDC-3E96-4211-870F-5846E77DF70B}" type="slidenum">
              <a:rPr lang="pt-BR" smtClean="0"/>
              <a:t>46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702631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6C652-037B-D223-BBBC-F1AF55CC2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E9BA0668-7B3D-4231-D1FD-4D9063D1E4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93520"/>
            <a:ext cx="8047806" cy="4862830"/>
          </a:xfrm>
        </p:spPr>
        <p:txBody>
          <a:bodyPr>
            <a:normAutofit/>
          </a:bodyPr>
          <a:lstStyle/>
          <a:p>
            <a:r>
              <a:rPr lang="pt-BR" sz="2400" dirty="0"/>
              <a:t>Armazena fisicamente os dados do resultado da consulta.</a:t>
            </a:r>
          </a:p>
          <a:p>
            <a:endParaRPr lang="pt-BR" sz="2400" dirty="0"/>
          </a:p>
          <a:p>
            <a:r>
              <a:rPr lang="pt-BR" sz="2400" dirty="0"/>
              <a:t>Como um cache de uma consulta complexa</a:t>
            </a:r>
          </a:p>
          <a:p>
            <a:endParaRPr lang="pt-BR" sz="2400" dirty="0"/>
          </a:p>
          <a:p>
            <a:pPr algn="just"/>
            <a:r>
              <a:rPr lang="pt-BR" b="1" dirty="0"/>
              <a:t>Sintaxe</a:t>
            </a:r>
            <a:r>
              <a:rPr lang="pt-BR" dirty="0"/>
              <a:t>:</a:t>
            </a:r>
          </a:p>
          <a:p>
            <a:pPr lvl="1" algn="just">
              <a:buFont typeface="Wingdings 2" pitchFamily="18" charset="2"/>
              <a:buNone/>
            </a:pPr>
            <a:r>
              <a:rPr lang="pt-BR" sz="2400" b="1" dirty="0"/>
              <a:t>CREATE MATERIALIZED VIEW </a:t>
            </a:r>
            <a:r>
              <a:rPr lang="pt-BR" sz="2400" dirty="0" err="1"/>
              <a:t>nome_da_view</a:t>
            </a:r>
            <a:r>
              <a:rPr lang="pt-BR" sz="2400" dirty="0"/>
              <a:t> </a:t>
            </a:r>
            <a:r>
              <a:rPr lang="pt-BR" sz="2400" b="1" dirty="0"/>
              <a:t>AS</a:t>
            </a:r>
          </a:p>
          <a:p>
            <a:pPr lvl="1" algn="just">
              <a:buFont typeface="Wingdings 2" pitchFamily="18" charset="2"/>
              <a:buNone/>
            </a:pPr>
            <a:r>
              <a:rPr lang="pt-BR" sz="2400" b="1" dirty="0"/>
              <a:t>SELECT </a:t>
            </a:r>
            <a:r>
              <a:rPr lang="pt-BR" sz="2400" dirty="0"/>
              <a:t>...</a:t>
            </a:r>
            <a:r>
              <a:rPr lang="pt-BR" sz="2400" b="1" dirty="0"/>
              <a:t>;</a:t>
            </a:r>
          </a:p>
          <a:p>
            <a:pPr marL="0" indent="0">
              <a:buNone/>
            </a:pPr>
            <a:endParaRPr lang="pt-BR" sz="2400" dirty="0"/>
          </a:p>
          <a:p>
            <a:r>
              <a:rPr lang="pt-BR" sz="2400" dirty="0"/>
              <a:t>Dados não são atualizados automaticamente:</a:t>
            </a:r>
          </a:p>
          <a:p>
            <a:pPr lvl="1"/>
            <a:r>
              <a:rPr lang="pt-BR" sz="2200" b="1" dirty="0"/>
              <a:t>REFRESH MATERIALIZED VIEW </a:t>
            </a:r>
            <a:r>
              <a:rPr lang="pt-BR" sz="2200" dirty="0"/>
              <a:t>nome;</a:t>
            </a:r>
          </a:p>
          <a:p>
            <a:pPr marL="0" indent="0">
              <a:buNone/>
            </a:pPr>
            <a:endParaRPr lang="pt-BR" sz="2400" dirty="0"/>
          </a:p>
          <a:p>
            <a:pPr marL="0" indent="0">
              <a:buNone/>
            </a:pPr>
            <a:endParaRPr lang="pt-PT" dirty="0"/>
          </a:p>
          <a:p>
            <a:pPr lvl="1" algn="just">
              <a:buFont typeface="Wingdings 2" pitchFamily="18" charset="2"/>
              <a:buNone/>
            </a:pPr>
            <a:endParaRPr lang="pt-PT" dirty="0"/>
          </a:p>
          <a:p>
            <a:pPr marL="0" indent="0">
              <a:buNone/>
            </a:pPr>
            <a:endParaRPr lang="pt-PT" dirty="0"/>
          </a:p>
          <a:p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C1F3904-C5EE-87CC-FDFA-1D5DA6F0E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SQL – DML: </a:t>
            </a:r>
            <a:r>
              <a:rPr lang="pt-BR" dirty="0" err="1"/>
              <a:t>Materialized</a:t>
            </a:r>
            <a:r>
              <a:rPr lang="pt-BR" dirty="0"/>
              <a:t> </a:t>
            </a:r>
            <a:r>
              <a:rPr lang="pt-BR" dirty="0" err="1"/>
              <a:t>Views</a:t>
            </a:r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5C5C0CC-BE82-FF29-7875-8F695DCCE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UNESP - São José do Rio Preto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CE97A56-6473-2E01-4411-F48645E1A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BBEDC-3E96-4211-870F-5846E77DF70B}" type="slidenum">
              <a:rPr lang="pt-BR" smtClean="0"/>
              <a:t>47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524801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1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843088"/>
            <a:ext cx="7467600" cy="4630737"/>
          </a:xfrm>
        </p:spPr>
        <p:txBody>
          <a:bodyPr/>
          <a:lstStyle/>
          <a:p>
            <a:pPr algn="just"/>
            <a:r>
              <a:rPr lang="pt-BR" sz="2400" dirty="0"/>
              <a:t>Na primeira parte do estudo da SQL DML, estudou-se a forma de consultar as informações do banco de dados.</a:t>
            </a:r>
          </a:p>
          <a:p>
            <a:pPr algn="just"/>
            <a:endParaRPr lang="pt-BR" sz="2400" dirty="0"/>
          </a:p>
          <a:p>
            <a:pPr algn="just"/>
            <a:r>
              <a:rPr lang="pt-BR" sz="2400" dirty="0"/>
              <a:t>A seguir, estudaremos a </a:t>
            </a:r>
            <a:r>
              <a:rPr lang="pt-BR" sz="2400" b="1" dirty="0"/>
              <a:t>remoção,</a:t>
            </a:r>
            <a:r>
              <a:rPr lang="pt-BR" sz="2400" dirty="0"/>
              <a:t> </a:t>
            </a:r>
            <a:r>
              <a:rPr lang="pt-BR" sz="2400" b="1" dirty="0"/>
              <a:t>adição</a:t>
            </a:r>
            <a:r>
              <a:rPr lang="pt-BR" sz="2400" dirty="0"/>
              <a:t> e </a:t>
            </a:r>
            <a:r>
              <a:rPr lang="pt-BR" sz="2400" b="1" dirty="0"/>
              <a:t>alteração</a:t>
            </a:r>
            <a:r>
              <a:rPr lang="pt-BR" sz="2400" dirty="0"/>
              <a:t> de informações usando SQL.</a:t>
            </a:r>
          </a:p>
          <a:p>
            <a:endParaRPr lang="pt-BR" dirty="0">
              <a:latin typeface="Arial" pitchFamily="34" charset="0"/>
            </a:endParaRPr>
          </a:p>
        </p:txBody>
      </p:sp>
      <p:sp>
        <p:nvSpPr>
          <p:cNvPr id="94210" name="Título 1"/>
          <p:cNvSpPr>
            <a:spLocks noGrp="1"/>
          </p:cNvSpPr>
          <p:nvPr>
            <p:ph type="title"/>
          </p:nvPr>
        </p:nvSpPr>
        <p:spPr>
          <a:xfrm>
            <a:off x="887095" y="239395"/>
            <a:ext cx="6853257" cy="471805"/>
          </a:xfrm>
        </p:spPr>
        <p:txBody>
          <a:bodyPr/>
          <a:lstStyle/>
          <a:p>
            <a:r>
              <a:rPr lang="pt-BR" dirty="0"/>
              <a:t>SQL – DML: Alterações nos Dados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EA26F7D-A47D-4C10-98E3-CC864F49B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UNESP - São José do Rio Preto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FE99AE0-0FF2-4B6C-8F1E-F98BE3DB0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BBEDC-3E96-4211-870F-5846E77DF70B}" type="slidenum">
              <a:rPr lang="pt-BR" smtClean="0"/>
              <a:t>48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243134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5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49413"/>
            <a:ext cx="7467600" cy="4824412"/>
          </a:xfrm>
        </p:spPr>
        <p:txBody>
          <a:bodyPr>
            <a:normAutofit lnSpcReduction="10000"/>
          </a:bodyPr>
          <a:lstStyle/>
          <a:p>
            <a:pPr algn="just"/>
            <a:r>
              <a:rPr lang="pt-BR" sz="2400" dirty="0"/>
              <a:t>Permite remover </a:t>
            </a:r>
            <a:r>
              <a:rPr lang="pt-BR" sz="2400" dirty="0" err="1"/>
              <a:t>tuplas</a:t>
            </a:r>
            <a:r>
              <a:rPr lang="pt-BR" sz="2400" dirty="0"/>
              <a:t> inteiras, não excluir valores de um atributo em particular.</a:t>
            </a:r>
          </a:p>
          <a:p>
            <a:pPr algn="just"/>
            <a:endParaRPr lang="pt-BR" sz="2400" dirty="0"/>
          </a:p>
          <a:p>
            <a:pPr algn="just"/>
            <a:r>
              <a:rPr lang="pt-BR" sz="2400" dirty="0"/>
              <a:t>A estrutura da cláusula </a:t>
            </a:r>
            <a:r>
              <a:rPr lang="pt-BR" sz="2400" b="1" dirty="0"/>
              <a:t>delete</a:t>
            </a:r>
            <a:r>
              <a:rPr lang="pt-BR" sz="2400" dirty="0"/>
              <a:t> assemelha-se bastante ao da cláusula </a:t>
            </a:r>
            <a:r>
              <a:rPr lang="pt-BR" sz="2400" b="1" dirty="0" err="1"/>
              <a:t>select</a:t>
            </a:r>
            <a:r>
              <a:rPr lang="pt-BR" sz="2400" b="1" dirty="0"/>
              <a:t>.</a:t>
            </a:r>
          </a:p>
          <a:p>
            <a:pPr algn="just"/>
            <a:endParaRPr lang="pt-BR" sz="2400" dirty="0"/>
          </a:p>
          <a:p>
            <a:pPr algn="just"/>
            <a:r>
              <a:rPr lang="pt-BR" sz="2400" b="1" dirty="0"/>
              <a:t>Sintaxe</a:t>
            </a:r>
            <a:r>
              <a:rPr lang="pt-BR" sz="2400" dirty="0"/>
              <a:t>:</a:t>
            </a:r>
          </a:p>
          <a:p>
            <a:pPr algn="just">
              <a:buFont typeface="Wingdings" pitchFamily="2" charset="2"/>
              <a:buNone/>
            </a:pPr>
            <a:r>
              <a:rPr lang="pt-BR" sz="2400" b="1" dirty="0"/>
              <a:t>	delete </a:t>
            </a:r>
            <a:r>
              <a:rPr lang="pt-BR" sz="2400" b="1" dirty="0" err="1"/>
              <a:t>from</a:t>
            </a:r>
            <a:r>
              <a:rPr lang="pt-BR" sz="2400" b="1" dirty="0"/>
              <a:t> </a:t>
            </a:r>
            <a:r>
              <a:rPr lang="pt-BR" sz="2400" dirty="0"/>
              <a:t>&lt;nome-relação&gt;</a:t>
            </a:r>
          </a:p>
          <a:p>
            <a:pPr algn="just">
              <a:buFont typeface="Wingdings" pitchFamily="2" charset="2"/>
              <a:buNone/>
            </a:pPr>
            <a:r>
              <a:rPr lang="pt-BR" sz="2400" dirty="0"/>
              <a:t>	</a:t>
            </a:r>
            <a:r>
              <a:rPr lang="pt-BR" sz="2400" b="1" dirty="0" err="1"/>
              <a:t>where</a:t>
            </a:r>
            <a:r>
              <a:rPr lang="pt-BR" sz="2400" b="1" dirty="0"/>
              <a:t> </a:t>
            </a:r>
            <a:r>
              <a:rPr lang="pt-BR" sz="2400" dirty="0"/>
              <a:t>&lt;lista-condições&gt;</a:t>
            </a:r>
          </a:p>
          <a:p>
            <a:pPr algn="just">
              <a:buFont typeface="Wingdings" pitchFamily="2" charset="2"/>
              <a:buNone/>
            </a:pPr>
            <a:endParaRPr lang="pt-BR" sz="2400" dirty="0"/>
          </a:p>
          <a:p>
            <a:pPr algn="just"/>
            <a:r>
              <a:rPr lang="pt-BR" sz="2400" dirty="0"/>
              <a:t>A omissão da cláusula </a:t>
            </a:r>
            <a:r>
              <a:rPr lang="pt-BR" sz="2400" b="1" dirty="0" err="1"/>
              <a:t>where</a:t>
            </a:r>
            <a:r>
              <a:rPr lang="pt-BR" sz="2400" dirty="0"/>
              <a:t> implica na remoção de todas as </a:t>
            </a:r>
            <a:r>
              <a:rPr lang="pt-BR" sz="2400" dirty="0" err="1"/>
              <a:t>tuplas</a:t>
            </a:r>
            <a:r>
              <a:rPr lang="pt-BR" sz="2400" dirty="0"/>
              <a:t> da relação.</a:t>
            </a:r>
          </a:p>
        </p:txBody>
      </p:sp>
      <p:sp>
        <p:nvSpPr>
          <p:cNvPr id="95234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SQL – DML: Delete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E6DEF6D-4FE1-40A7-8F79-2069E5539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UNESP - São José do Rio Preto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BF81345-3A21-418E-9A5E-456489608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BBEDC-3E96-4211-870F-5846E77DF70B}" type="slidenum">
              <a:rPr lang="pt-BR" smtClean="0"/>
              <a:t>49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43187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9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911350"/>
            <a:ext cx="7467600" cy="4562475"/>
          </a:xfrm>
        </p:spPr>
        <p:txBody>
          <a:bodyPr/>
          <a:lstStyle/>
          <a:p>
            <a:pPr algn="just"/>
            <a:r>
              <a:rPr lang="pt-BR" sz="2400" b="1" dirty="0"/>
              <a:t>Exemplo</a:t>
            </a:r>
            <a:r>
              <a:rPr lang="pt-BR" sz="2400" dirty="0"/>
              <a:t>: “Remova todas as </a:t>
            </a:r>
            <a:r>
              <a:rPr lang="pt-BR" sz="2400" dirty="0" err="1"/>
              <a:t>tuplas</a:t>
            </a:r>
            <a:r>
              <a:rPr lang="pt-BR" sz="2400" dirty="0"/>
              <a:t> da relação </a:t>
            </a:r>
            <a:r>
              <a:rPr lang="pt-BR" sz="2400" dirty="0" err="1"/>
              <a:t>emprestimo</a:t>
            </a:r>
            <a:r>
              <a:rPr lang="pt-BR" sz="2400" dirty="0"/>
              <a:t>”</a:t>
            </a:r>
            <a:endParaRPr lang="pt-BR" sz="2400" b="1" dirty="0"/>
          </a:p>
          <a:p>
            <a:pPr algn="just"/>
            <a:endParaRPr lang="pt-BR" sz="2400" dirty="0"/>
          </a:p>
          <a:p>
            <a:pPr algn="just">
              <a:buFont typeface="Wingdings" pitchFamily="2" charset="2"/>
              <a:buNone/>
            </a:pPr>
            <a:r>
              <a:rPr lang="pt-BR" sz="2400" b="1" dirty="0"/>
              <a:t>	delete </a:t>
            </a:r>
            <a:r>
              <a:rPr lang="pt-BR" sz="2400" b="1" dirty="0" err="1"/>
              <a:t>from</a:t>
            </a:r>
            <a:r>
              <a:rPr lang="pt-BR" sz="2400" b="1" dirty="0"/>
              <a:t> </a:t>
            </a:r>
            <a:r>
              <a:rPr lang="pt-BR" sz="2400" dirty="0" err="1"/>
              <a:t>emprestimo</a:t>
            </a:r>
            <a:endParaRPr lang="pt-BR" sz="2400" dirty="0"/>
          </a:p>
          <a:p>
            <a:pPr algn="just">
              <a:buFont typeface="Wingdings" pitchFamily="2" charset="2"/>
              <a:buNone/>
            </a:pPr>
            <a:endParaRPr lang="pt-BR" sz="2400" dirty="0"/>
          </a:p>
          <a:p>
            <a:pPr algn="just"/>
            <a:r>
              <a:rPr lang="pt-BR" sz="2400" dirty="0"/>
              <a:t>A sentença SQL acima remove todas as </a:t>
            </a:r>
            <a:r>
              <a:rPr lang="pt-BR" sz="2400" dirty="0" err="1"/>
              <a:t>tuplas</a:t>
            </a:r>
            <a:r>
              <a:rPr lang="pt-BR" sz="2400" dirty="0"/>
              <a:t>, mas preserva o esquema da relação.</a:t>
            </a:r>
          </a:p>
          <a:p>
            <a:endParaRPr lang="pt-BR" sz="2400" dirty="0">
              <a:latin typeface="Arial" pitchFamily="34" charset="0"/>
            </a:endParaRPr>
          </a:p>
        </p:txBody>
      </p:sp>
      <p:sp>
        <p:nvSpPr>
          <p:cNvPr id="96258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SQL – DML: Delete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C9F3302-EDF2-45EE-AC35-C3D286CFB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UNESP - São José do Rio Preto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9CDFDBE-8D38-4546-8D14-4007BB036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BBEDC-3E96-4211-870F-5846E77DF70B}" type="slidenum">
              <a:rPr lang="pt-BR" smtClean="0"/>
              <a:t>50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121845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90688"/>
            <a:ext cx="7467600" cy="4783137"/>
          </a:xfrm>
        </p:spPr>
        <p:txBody>
          <a:bodyPr/>
          <a:lstStyle/>
          <a:p>
            <a:pPr algn="just"/>
            <a:r>
              <a:rPr lang="pt-BR" sz="2400" b="1" dirty="0"/>
              <a:t>Exemplo</a:t>
            </a:r>
            <a:r>
              <a:rPr lang="pt-BR" sz="2400" dirty="0"/>
              <a:t>: “Remova todos os registros de contas do cliente Smith”</a:t>
            </a:r>
            <a:endParaRPr lang="pt-BR" sz="2400" b="1" dirty="0"/>
          </a:p>
          <a:p>
            <a:pPr lvl="1" algn="just">
              <a:buFont typeface="Wingdings" pitchFamily="2" charset="2"/>
              <a:buNone/>
            </a:pPr>
            <a:r>
              <a:rPr lang="pt-BR" sz="2100" b="1" dirty="0"/>
              <a:t>	delete </a:t>
            </a:r>
            <a:r>
              <a:rPr lang="pt-BR" sz="2100" b="1" dirty="0" err="1"/>
              <a:t>from</a:t>
            </a:r>
            <a:r>
              <a:rPr lang="pt-BR" sz="2100" b="1" dirty="0"/>
              <a:t> </a:t>
            </a:r>
            <a:r>
              <a:rPr lang="pt-BR" sz="2100" dirty="0"/>
              <a:t>depositante</a:t>
            </a:r>
          </a:p>
          <a:p>
            <a:pPr lvl="1" algn="just">
              <a:buFont typeface="Wingdings" pitchFamily="2" charset="2"/>
              <a:buNone/>
            </a:pPr>
            <a:r>
              <a:rPr lang="pt-BR" sz="2100" dirty="0"/>
              <a:t>	</a:t>
            </a:r>
            <a:r>
              <a:rPr lang="pt-BR" sz="2100" b="1" dirty="0" err="1"/>
              <a:t>where</a:t>
            </a:r>
            <a:r>
              <a:rPr lang="pt-BR" sz="2100" b="1" dirty="0"/>
              <a:t> </a:t>
            </a:r>
            <a:r>
              <a:rPr lang="pt-BR" sz="2100" dirty="0" err="1"/>
              <a:t>nome_cliente</a:t>
            </a:r>
            <a:r>
              <a:rPr lang="pt-BR" sz="2100" dirty="0"/>
              <a:t> = “Smith”</a:t>
            </a:r>
          </a:p>
          <a:p>
            <a:pPr algn="just">
              <a:buFont typeface="Wingdings" pitchFamily="2" charset="2"/>
              <a:buNone/>
            </a:pPr>
            <a:endParaRPr lang="pt-BR" sz="2400" dirty="0"/>
          </a:p>
          <a:p>
            <a:pPr algn="just"/>
            <a:r>
              <a:rPr lang="pt-BR" sz="2400" b="1" dirty="0"/>
              <a:t>Exemplo</a:t>
            </a:r>
            <a:r>
              <a:rPr lang="pt-BR" sz="2400" dirty="0"/>
              <a:t>: “Remova todos os empréstimos com total entre 1.300 e 1.500 dólares”</a:t>
            </a:r>
          </a:p>
          <a:p>
            <a:pPr lvl="1" algn="just">
              <a:buFont typeface="Wingdings" pitchFamily="2" charset="2"/>
              <a:buNone/>
            </a:pPr>
            <a:r>
              <a:rPr lang="pt-BR" sz="2100" b="1" dirty="0"/>
              <a:t>	delete </a:t>
            </a:r>
            <a:r>
              <a:rPr lang="pt-BR" sz="2100" b="1" dirty="0" err="1"/>
              <a:t>from</a:t>
            </a:r>
            <a:r>
              <a:rPr lang="pt-BR" sz="2100" b="1" dirty="0"/>
              <a:t> </a:t>
            </a:r>
            <a:r>
              <a:rPr lang="pt-BR" sz="2100" dirty="0" err="1"/>
              <a:t>emprestimo</a:t>
            </a:r>
            <a:endParaRPr lang="pt-BR" sz="2100" dirty="0"/>
          </a:p>
          <a:p>
            <a:pPr lvl="1" algn="just">
              <a:buFont typeface="Wingdings" pitchFamily="2" charset="2"/>
              <a:buNone/>
            </a:pPr>
            <a:r>
              <a:rPr lang="pt-BR" sz="2100" dirty="0"/>
              <a:t>	</a:t>
            </a:r>
            <a:r>
              <a:rPr lang="pt-BR" sz="2100" b="1" dirty="0" err="1"/>
              <a:t>where</a:t>
            </a:r>
            <a:r>
              <a:rPr lang="pt-BR" sz="2100" b="1" dirty="0"/>
              <a:t> </a:t>
            </a:r>
            <a:r>
              <a:rPr lang="pt-BR" sz="2100" dirty="0"/>
              <a:t>total </a:t>
            </a:r>
            <a:r>
              <a:rPr lang="pt-BR" sz="2100" b="1" dirty="0" err="1"/>
              <a:t>between</a:t>
            </a:r>
            <a:r>
              <a:rPr lang="pt-BR" sz="2100" dirty="0"/>
              <a:t> 1300 </a:t>
            </a:r>
            <a:r>
              <a:rPr lang="pt-BR" sz="2100" b="1" dirty="0" err="1"/>
              <a:t>and</a:t>
            </a:r>
            <a:r>
              <a:rPr lang="pt-BR" sz="2100" dirty="0"/>
              <a:t> 1500</a:t>
            </a:r>
          </a:p>
          <a:p>
            <a:pPr algn="just"/>
            <a:endParaRPr lang="pt-BR" sz="2400" dirty="0">
              <a:latin typeface="Arial" pitchFamily="34" charset="0"/>
            </a:endParaRPr>
          </a:p>
        </p:txBody>
      </p:sp>
      <p:sp>
        <p:nvSpPr>
          <p:cNvPr id="9728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SQL – DML: Delete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B677D96-30EE-43CA-BCE5-D22D85AE2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UNESP - São José do Rio Preto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EB57BAC-836A-4D04-BEC3-57E1A735A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BBEDC-3E96-4211-870F-5846E77DF70B}" type="slidenum">
              <a:rPr lang="pt-BR" smtClean="0"/>
              <a:t>51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287551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7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703388"/>
            <a:ext cx="7467600" cy="4770437"/>
          </a:xfrm>
        </p:spPr>
        <p:txBody>
          <a:bodyPr>
            <a:normAutofit lnSpcReduction="10000"/>
          </a:bodyPr>
          <a:lstStyle/>
          <a:p>
            <a:pPr algn="just"/>
            <a:r>
              <a:rPr lang="pt-BR" sz="2400" dirty="0"/>
              <a:t>Utilizada para inserção de </a:t>
            </a:r>
            <a:r>
              <a:rPr lang="pt-BR" sz="2400" dirty="0" err="1"/>
              <a:t>tuplas</a:t>
            </a:r>
            <a:r>
              <a:rPr lang="pt-BR" sz="2400" dirty="0"/>
              <a:t> em uma dada relação.</a:t>
            </a:r>
          </a:p>
          <a:p>
            <a:pPr algn="just"/>
            <a:endParaRPr lang="pt-BR" sz="2400" dirty="0"/>
          </a:p>
          <a:p>
            <a:pPr algn="just"/>
            <a:r>
              <a:rPr lang="pt-BR" sz="2400" b="1" dirty="0"/>
              <a:t>Sintaxe</a:t>
            </a:r>
            <a:r>
              <a:rPr lang="pt-BR" sz="2400" dirty="0"/>
              <a:t>:</a:t>
            </a:r>
          </a:p>
          <a:p>
            <a:pPr lvl="1" algn="just">
              <a:buFont typeface="Wingdings 2" pitchFamily="18" charset="2"/>
              <a:buNone/>
            </a:pPr>
            <a:r>
              <a:rPr lang="pt-BR" sz="2400" b="1" dirty="0" err="1"/>
              <a:t>insert</a:t>
            </a:r>
            <a:r>
              <a:rPr lang="pt-BR" sz="2400" b="1" dirty="0"/>
              <a:t> </a:t>
            </a:r>
            <a:r>
              <a:rPr lang="pt-BR" sz="2400" b="1" dirty="0" err="1"/>
              <a:t>into</a:t>
            </a:r>
            <a:r>
              <a:rPr lang="pt-BR" sz="2400" b="1" dirty="0"/>
              <a:t> </a:t>
            </a:r>
            <a:r>
              <a:rPr lang="pt-BR" sz="2400" dirty="0"/>
              <a:t>&lt;nome-relação&gt; [(attr</a:t>
            </a:r>
            <a:r>
              <a:rPr lang="pt-BR" sz="2400" baseline="-25000" dirty="0"/>
              <a:t>1</a:t>
            </a:r>
            <a:r>
              <a:rPr lang="pt-BR" sz="2400" dirty="0"/>
              <a:t>, attr</a:t>
            </a:r>
            <a:r>
              <a:rPr lang="pt-BR" sz="2400" baseline="-25000" dirty="0"/>
              <a:t>2</a:t>
            </a:r>
            <a:r>
              <a:rPr lang="pt-BR" sz="2400" dirty="0"/>
              <a:t>,..., </a:t>
            </a:r>
            <a:r>
              <a:rPr lang="pt-BR" sz="2400" dirty="0" err="1"/>
              <a:t>attr</a:t>
            </a:r>
            <a:r>
              <a:rPr lang="pt-BR" sz="2400" baseline="-25000" dirty="0" err="1"/>
              <a:t>n</a:t>
            </a:r>
            <a:r>
              <a:rPr lang="pt-BR" sz="2400" dirty="0"/>
              <a:t>)]</a:t>
            </a:r>
          </a:p>
          <a:p>
            <a:pPr lvl="1" algn="just">
              <a:buFont typeface="Wingdings 2" pitchFamily="18" charset="2"/>
              <a:buNone/>
            </a:pPr>
            <a:r>
              <a:rPr lang="pt-BR" sz="2400" dirty="0"/>
              <a:t>		</a:t>
            </a:r>
            <a:r>
              <a:rPr lang="pt-BR" sz="2400" b="1" dirty="0" err="1"/>
              <a:t>values</a:t>
            </a:r>
            <a:r>
              <a:rPr lang="pt-BR" sz="2400" dirty="0"/>
              <a:t> (v</a:t>
            </a:r>
            <a:r>
              <a:rPr lang="pt-BR" sz="2400" baseline="-25000" dirty="0"/>
              <a:t>1</a:t>
            </a:r>
            <a:r>
              <a:rPr lang="pt-BR" sz="2400" dirty="0"/>
              <a:t>, v</a:t>
            </a:r>
            <a:r>
              <a:rPr lang="pt-BR" sz="2400" baseline="-25000" dirty="0"/>
              <a:t>2</a:t>
            </a:r>
            <a:r>
              <a:rPr lang="pt-BR" sz="2400" dirty="0"/>
              <a:t>,..., </a:t>
            </a:r>
            <a:r>
              <a:rPr lang="pt-BR" sz="2400" dirty="0" err="1"/>
              <a:t>v</a:t>
            </a:r>
            <a:r>
              <a:rPr lang="pt-BR" sz="2400" baseline="-25000" dirty="0" err="1"/>
              <a:t>n</a:t>
            </a:r>
            <a:r>
              <a:rPr lang="pt-BR" sz="2400" dirty="0"/>
              <a:t>)</a:t>
            </a:r>
          </a:p>
          <a:p>
            <a:pPr lvl="1" algn="just">
              <a:buFont typeface="Wingdings 2" pitchFamily="18" charset="2"/>
              <a:buNone/>
            </a:pPr>
            <a:endParaRPr lang="pt-BR" sz="2400" dirty="0"/>
          </a:p>
          <a:p>
            <a:pPr lvl="1" algn="just">
              <a:buFont typeface="Wingdings 2" pitchFamily="18" charset="2"/>
              <a:buNone/>
            </a:pPr>
            <a:endParaRPr lang="pt-BR" sz="2400" dirty="0"/>
          </a:p>
          <a:p>
            <a:pPr algn="just"/>
            <a:r>
              <a:rPr lang="pt-BR" sz="2400" dirty="0"/>
              <a:t>A lista de atributos (attr</a:t>
            </a:r>
            <a:r>
              <a:rPr lang="pt-BR" sz="2400" baseline="-25000" dirty="0"/>
              <a:t>1</a:t>
            </a:r>
            <a:r>
              <a:rPr lang="pt-BR" sz="2400" dirty="0"/>
              <a:t>, attr</a:t>
            </a:r>
            <a:r>
              <a:rPr lang="pt-BR" sz="2400" baseline="-25000" dirty="0"/>
              <a:t>2</a:t>
            </a:r>
            <a:r>
              <a:rPr lang="pt-BR" sz="2400" dirty="0"/>
              <a:t>,..., </a:t>
            </a:r>
            <a:r>
              <a:rPr lang="pt-BR" sz="2400" dirty="0" err="1"/>
              <a:t>attr</a:t>
            </a:r>
            <a:r>
              <a:rPr lang="pt-BR" sz="2400" baseline="-25000" dirty="0" err="1"/>
              <a:t>n</a:t>
            </a:r>
            <a:r>
              <a:rPr lang="pt-BR" sz="2400" dirty="0"/>
              <a:t>) não é obrigatória. Se for omitida, os valores v</a:t>
            </a:r>
            <a:r>
              <a:rPr lang="pt-BR" sz="2400" baseline="-25000" dirty="0"/>
              <a:t>1</a:t>
            </a:r>
            <a:r>
              <a:rPr lang="pt-BR" sz="2400" dirty="0"/>
              <a:t>, v</a:t>
            </a:r>
            <a:r>
              <a:rPr lang="pt-BR" sz="2400" baseline="-25000" dirty="0"/>
              <a:t>2</a:t>
            </a:r>
            <a:r>
              <a:rPr lang="pt-BR" sz="2400" dirty="0"/>
              <a:t>,..., </a:t>
            </a:r>
            <a:r>
              <a:rPr lang="pt-BR" sz="2400" dirty="0" err="1"/>
              <a:t>v</a:t>
            </a:r>
            <a:r>
              <a:rPr lang="pt-BR" sz="2400" baseline="-25000" dirty="0" err="1"/>
              <a:t>n</a:t>
            </a:r>
            <a:r>
              <a:rPr lang="pt-BR" sz="2400" baseline="-25000" dirty="0"/>
              <a:t> </a:t>
            </a:r>
            <a:r>
              <a:rPr lang="pt-BR" sz="2400" dirty="0"/>
              <a:t>devem ser especificados obedecendo a ordem definida pelo esquema da relação.</a:t>
            </a:r>
          </a:p>
        </p:txBody>
      </p:sp>
      <p:sp>
        <p:nvSpPr>
          <p:cNvPr id="98306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SQL – DML: </a:t>
            </a:r>
            <a:r>
              <a:rPr lang="pt-BR" dirty="0" err="1"/>
              <a:t>Insert</a:t>
            </a:r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196947F-5040-45DE-AD31-D67C8583E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UNESP - São José do Rio Preto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6C15D7E-AE85-48A9-9FE6-C5EF853E9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BBEDC-3E96-4211-870F-5846E77DF70B}" type="slidenum">
              <a:rPr lang="pt-BR" smtClean="0"/>
              <a:t>52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944215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1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6550"/>
            <a:ext cx="7467600" cy="4867275"/>
          </a:xfrm>
        </p:spPr>
        <p:txBody>
          <a:bodyPr/>
          <a:lstStyle/>
          <a:p>
            <a:pPr algn="just"/>
            <a:r>
              <a:rPr lang="pt-BR" sz="2200" b="1" dirty="0"/>
              <a:t>Exemplo</a:t>
            </a:r>
            <a:r>
              <a:rPr lang="pt-BR" sz="2200" dirty="0"/>
              <a:t>: “Insira a informação que existe uma conta “A-9732” na agência de “</a:t>
            </a:r>
            <a:r>
              <a:rPr lang="pt-BR" sz="2200" dirty="0" err="1"/>
              <a:t>Downtown</a:t>
            </a:r>
            <a:r>
              <a:rPr lang="pt-BR" sz="2200" dirty="0"/>
              <a:t>” e que tenha um saldo de 1.200 dólares”</a:t>
            </a:r>
          </a:p>
          <a:p>
            <a:pPr algn="just"/>
            <a:endParaRPr lang="pt-BR" sz="2000" dirty="0"/>
          </a:p>
          <a:p>
            <a:pPr lvl="1" algn="just">
              <a:buFont typeface="Wingdings 2" pitchFamily="18" charset="2"/>
              <a:buNone/>
            </a:pPr>
            <a:r>
              <a:rPr lang="pt-BR" sz="2000" b="1" dirty="0" err="1"/>
              <a:t>insert</a:t>
            </a:r>
            <a:r>
              <a:rPr lang="pt-BR" sz="2000" b="1" dirty="0"/>
              <a:t> </a:t>
            </a:r>
            <a:r>
              <a:rPr lang="pt-BR" sz="2000" b="1" dirty="0" err="1"/>
              <a:t>into</a:t>
            </a:r>
            <a:r>
              <a:rPr lang="pt-BR" sz="2000" b="1" dirty="0"/>
              <a:t> </a:t>
            </a:r>
            <a:r>
              <a:rPr lang="pt-BR" sz="2000" dirty="0"/>
              <a:t>conta</a:t>
            </a:r>
          </a:p>
          <a:p>
            <a:pPr lvl="1" algn="just">
              <a:buFont typeface="Wingdings 2" pitchFamily="18" charset="2"/>
              <a:buNone/>
            </a:pPr>
            <a:r>
              <a:rPr lang="pt-BR" sz="2000" b="1" dirty="0"/>
              <a:t>		</a:t>
            </a:r>
            <a:r>
              <a:rPr lang="pt-BR" sz="2000" b="1" dirty="0" err="1"/>
              <a:t>values</a:t>
            </a:r>
            <a:r>
              <a:rPr lang="pt-BR" sz="2000" dirty="0"/>
              <a:t> (“A-9732”,”Downtown”,1200)</a:t>
            </a:r>
          </a:p>
          <a:p>
            <a:pPr lvl="1" algn="just">
              <a:buFont typeface="Wingdings 2" pitchFamily="18" charset="2"/>
              <a:buNone/>
            </a:pPr>
            <a:endParaRPr lang="pt-BR" sz="2000" dirty="0"/>
          </a:p>
          <a:p>
            <a:pPr algn="just"/>
            <a:r>
              <a:rPr lang="pt-BR" sz="2200" dirty="0"/>
              <a:t>Forma alternativa: definindo a lista de atributos, o usuário pode especificar os valores em uma ordem diferente daquela definida no esquema.</a:t>
            </a:r>
          </a:p>
          <a:p>
            <a:pPr lvl="1" algn="just">
              <a:buFont typeface="Wingdings 2" pitchFamily="18" charset="2"/>
              <a:buNone/>
            </a:pPr>
            <a:endParaRPr lang="pt-BR" sz="2000" b="1" dirty="0"/>
          </a:p>
          <a:p>
            <a:pPr lvl="1" algn="just">
              <a:buFont typeface="Wingdings 2" pitchFamily="18" charset="2"/>
              <a:buNone/>
            </a:pPr>
            <a:r>
              <a:rPr lang="pt-BR" sz="2000" b="1" dirty="0" err="1"/>
              <a:t>insert</a:t>
            </a:r>
            <a:r>
              <a:rPr lang="pt-BR" sz="2000" b="1" dirty="0"/>
              <a:t> </a:t>
            </a:r>
            <a:r>
              <a:rPr lang="pt-BR" sz="2000" b="1" dirty="0" err="1"/>
              <a:t>into</a:t>
            </a:r>
            <a:r>
              <a:rPr lang="pt-BR" sz="2000" b="1" dirty="0"/>
              <a:t> </a:t>
            </a:r>
            <a:r>
              <a:rPr lang="pt-BR" sz="2000" dirty="0"/>
              <a:t>conta (</a:t>
            </a:r>
            <a:r>
              <a:rPr lang="pt-BR" sz="2000" dirty="0" err="1"/>
              <a:t>saldo,numero_conta,nome_agencia</a:t>
            </a:r>
            <a:r>
              <a:rPr lang="pt-BR" sz="2000" dirty="0"/>
              <a:t>)</a:t>
            </a:r>
          </a:p>
          <a:p>
            <a:pPr lvl="1" algn="just">
              <a:buFont typeface="Wingdings 2" pitchFamily="18" charset="2"/>
              <a:buNone/>
            </a:pPr>
            <a:r>
              <a:rPr lang="pt-BR" sz="2000" b="1" dirty="0"/>
              <a:t>		</a:t>
            </a:r>
            <a:r>
              <a:rPr lang="pt-BR" sz="2000" b="1" dirty="0" err="1"/>
              <a:t>values</a:t>
            </a:r>
            <a:r>
              <a:rPr lang="pt-BR" sz="2000" dirty="0"/>
              <a:t> (1200,“A-9732”,”Downtown”)</a:t>
            </a:r>
          </a:p>
          <a:p>
            <a:pPr algn="just"/>
            <a:endParaRPr lang="pt-BR" sz="2000" dirty="0">
              <a:latin typeface="Arial" pitchFamily="34" charset="0"/>
            </a:endParaRPr>
          </a:p>
        </p:txBody>
      </p:sp>
      <p:sp>
        <p:nvSpPr>
          <p:cNvPr id="99330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SQL – DML: </a:t>
            </a:r>
            <a:r>
              <a:rPr lang="pt-BR" dirty="0" err="1"/>
              <a:t>Insert</a:t>
            </a:r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5AD5BB-64A8-44DF-8362-3B41FA484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UNESP - São José do Rio Preto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631CCF1-972D-4E42-B299-3A482691B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BBEDC-3E96-4211-870F-5846E77DF70B}" type="slidenum">
              <a:rPr lang="pt-BR" smtClean="0"/>
              <a:t>53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2930770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5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773238"/>
            <a:ext cx="7467600" cy="4700587"/>
          </a:xfrm>
        </p:spPr>
        <p:txBody>
          <a:bodyPr>
            <a:normAutofit fontScale="92500"/>
          </a:bodyPr>
          <a:lstStyle/>
          <a:p>
            <a:pPr algn="just"/>
            <a:r>
              <a:rPr lang="pt-BR" sz="2200" dirty="0"/>
              <a:t>Ao invés de entrar com os dados, pode-se fazer a inserção utilizando o resultado de uma consulta.</a:t>
            </a:r>
          </a:p>
          <a:p>
            <a:pPr algn="just"/>
            <a:endParaRPr lang="pt-BR" sz="2200" dirty="0"/>
          </a:p>
          <a:p>
            <a:pPr algn="just"/>
            <a:r>
              <a:rPr lang="pt-BR" sz="2200" dirty="0"/>
              <a:t>Deve-se respeitar a ordem e o tipo de domínio de cada atributo.</a:t>
            </a:r>
          </a:p>
          <a:p>
            <a:pPr algn="just"/>
            <a:endParaRPr lang="pt-BR" sz="2200" dirty="0"/>
          </a:p>
          <a:p>
            <a:pPr algn="just"/>
            <a:r>
              <a:rPr lang="pt-BR" sz="2200" b="1" dirty="0"/>
              <a:t>Exemplo</a:t>
            </a:r>
            <a:r>
              <a:rPr lang="pt-BR" sz="2200" dirty="0"/>
              <a:t>: “Ofereça a todos os clientes da agência “</a:t>
            </a:r>
            <a:r>
              <a:rPr lang="pt-BR" sz="2200" dirty="0" err="1"/>
              <a:t>Downtown</a:t>
            </a:r>
            <a:r>
              <a:rPr lang="pt-BR" sz="2200" dirty="0"/>
              <a:t>” uma nova caderneta de poupança de “200 </a:t>
            </a:r>
            <a:r>
              <a:rPr lang="pt-BR" sz="2200" dirty="0" err="1"/>
              <a:t>doláres</a:t>
            </a:r>
            <a:r>
              <a:rPr lang="pt-BR" sz="2200" dirty="0"/>
              <a:t>” para cada conta empréstimo que tenham”</a:t>
            </a:r>
          </a:p>
          <a:p>
            <a:endParaRPr lang="pt-BR" sz="1800" dirty="0"/>
          </a:p>
          <a:p>
            <a:pPr lvl="1">
              <a:buFont typeface="Wingdings 2" pitchFamily="18" charset="2"/>
              <a:buNone/>
            </a:pPr>
            <a:r>
              <a:rPr lang="pt-BR" sz="1900" b="1" dirty="0" err="1"/>
              <a:t>insert</a:t>
            </a:r>
            <a:r>
              <a:rPr lang="pt-BR" sz="1900" b="1" dirty="0"/>
              <a:t> </a:t>
            </a:r>
            <a:r>
              <a:rPr lang="pt-BR" sz="1900" b="1" dirty="0" err="1"/>
              <a:t>into</a:t>
            </a:r>
            <a:r>
              <a:rPr lang="pt-BR" sz="1900" b="1" dirty="0"/>
              <a:t> </a:t>
            </a:r>
            <a:r>
              <a:rPr lang="pt-BR" sz="1900" dirty="0"/>
              <a:t>conta</a:t>
            </a:r>
          </a:p>
          <a:p>
            <a:pPr lvl="1">
              <a:buFont typeface="Wingdings 2" pitchFamily="18" charset="2"/>
              <a:buNone/>
            </a:pPr>
            <a:r>
              <a:rPr lang="pt-BR" sz="1900" dirty="0"/>
              <a:t>		</a:t>
            </a:r>
            <a:r>
              <a:rPr lang="pt-BR" sz="1900" b="1" dirty="0" err="1"/>
              <a:t>select</a:t>
            </a:r>
            <a:r>
              <a:rPr lang="pt-BR" sz="1900" b="1" dirty="0"/>
              <a:t> </a:t>
            </a:r>
            <a:r>
              <a:rPr lang="pt-BR" sz="1900" dirty="0" err="1"/>
              <a:t>numero_emprestimo</a:t>
            </a:r>
            <a:r>
              <a:rPr lang="pt-BR" sz="1900" dirty="0"/>
              <a:t>, </a:t>
            </a:r>
            <a:r>
              <a:rPr lang="pt-BR" sz="1900" dirty="0" err="1"/>
              <a:t>nome_agencia</a:t>
            </a:r>
            <a:r>
              <a:rPr lang="pt-BR" sz="1900" dirty="0"/>
              <a:t>, 200</a:t>
            </a:r>
            <a:endParaRPr lang="pt-BR" sz="1900" b="1" dirty="0"/>
          </a:p>
          <a:p>
            <a:pPr lvl="1">
              <a:buFont typeface="Wingdings 2" pitchFamily="18" charset="2"/>
              <a:buNone/>
            </a:pPr>
            <a:r>
              <a:rPr lang="pt-BR" sz="1900" b="1" dirty="0"/>
              <a:t>		</a:t>
            </a:r>
            <a:r>
              <a:rPr lang="pt-BR" sz="1900" b="1" dirty="0" err="1"/>
              <a:t>from</a:t>
            </a:r>
            <a:r>
              <a:rPr lang="pt-BR" sz="1900" b="1" dirty="0"/>
              <a:t> </a:t>
            </a:r>
            <a:r>
              <a:rPr lang="pt-BR" sz="1900" dirty="0" err="1"/>
              <a:t>emprestimo</a:t>
            </a:r>
            <a:endParaRPr lang="pt-BR" sz="1900" b="1" dirty="0"/>
          </a:p>
          <a:p>
            <a:pPr lvl="1">
              <a:buFont typeface="Wingdings 2" pitchFamily="18" charset="2"/>
              <a:buNone/>
            </a:pPr>
            <a:r>
              <a:rPr lang="pt-BR" sz="1900" b="1" dirty="0"/>
              <a:t>		</a:t>
            </a:r>
            <a:r>
              <a:rPr lang="pt-BR" sz="1900" b="1" dirty="0" err="1"/>
              <a:t>where</a:t>
            </a:r>
            <a:r>
              <a:rPr lang="pt-BR" sz="1900" b="1" dirty="0"/>
              <a:t> </a:t>
            </a:r>
            <a:r>
              <a:rPr lang="pt-BR" sz="1900" dirty="0" err="1"/>
              <a:t>nome_agencia</a:t>
            </a:r>
            <a:r>
              <a:rPr lang="pt-BR" sz="1900" dirty="0"/>
              <a:t> = “</a:t>
            </a:r>
            <a:r>
              <a:rPr lang="pt-BR" sz="1900" dirty="0" err="1"/>
              <a:t>Downtown</a:t>
            </a:r>
            <a:r>
              <a:rPr lang="pt-BR" sz="1900" dirty="0"/>
              <a:t>”</a:t>
            </a:r>
          </a:p>
          <a:p>
            <a:endParaRPr lang="pt-BR" sz="1800" dirty="0">
              <a:latin typeface="Arial" pitchFamily="34" charset="0"/>
            </a:endParaRPr>
          </a:p>
        </p:txBody>
      </p:sp>
      <p:sp>
        <p:nvSpPr>
          <p:cNvPr id="100354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SQL – DML: </a:t>
            </a:r>
            <a:r>
              <a:rPr lang="pt-BR" dirty="0" err="1"/>
              <a:t>Insert</a:t>
            </a:r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622AF1E-E1B0-4220-A90F-F2899AA82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UNESP - São José do Rio Preto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1CE1DC2-C28B-42DD-A327-385A34141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BBEDC-3E96-4211-870F-5846E77DF70B}" type="slidenum">
              <a:rPr lang="pt-BR" smtClean="0"/>
              <a:t>54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121894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9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6550"/>
            <a:ext cx="7467600" cy="4867275"/>
          </a:xfrm>
        </p:spPr>
        <p:txBody>
          <a:bodyPr/>
          <a:lstStyle/>
          <a:p>
            <a:pPr algn="just"/>
            <a:r>
              <a:rPr lang="pt-BR" sz="2400" dirty="0"/>
              <a:t>É possível inserir </a:t>
            </a:r>
            <a:r>
              <a:rPr lang="pt-BR" sz="2400" dirty="0" err="1"/>
              <a:t>tuplas</a:t>
            </a:r>
            <a:r>
              <a:rPr lang="pt-BR" sz="2400" dirty="0"/>
              <a:t> especificando valores somente para alguns atributos da relação.</a:t>
            </a:r>
          </a:p>
          <a:p>
            <a:pPr algn="just"/>
            <a:endParaRPr lang="pt-BR" sz="2400" dirty="0"/>
          </a:p>
          <a:p>
            <a:pPr algn="just"/>
            <a:r>
              <a:rPr lang="pt-BR" sz="2400" dirty="0"/>
              <a:t>Os atributos restantes são designados como valores nulos.</a:t>
            </a:r>
          </a:p>
          <a:p>
            <a:pPr algn="just"/>
            <a:endParaRPr lang="pt-BR" sz="2400" dirty="0"/>
          </a:p>
          <a:p>
            <a:pPr algn="just"/>
            <a:r>
              <a:rPr lang="pt-BR" sz="2400" dirty="0"/>
              <a:t>A inserção será impedida se tentar inserir um valor </a:t>
            </a:r>
            <a:r>
              <a:rPr lang="pt-BR" sz="2400" b="1" dirty="0" err="1"/>
              <a:t>null</a:t>
            </a:r>
            <a:r>
              <a:rPr lang="pt-BR" sz="2400" dirty="0"/>
              <a:t> a um atributo especificado no esquema como </a:t>
            </a:r>
            <a:r>
              <a:rPr lang="pt-BR" sz="2400" b="1" dirty="0" err="1"/>
              <a:t>not</a:t>
            </a:r>
            <a:r>
              <a:rPr lang="pt-BR" sz="2400" b="1" dirty="0"/>
              <a:t> </a:t>
            </a:r>
            <a:r>
              <a:rPr lang="pt-BR" sz="2400" b="1" dirty="0" err="1"/>
              <a:t>null</a:t>
            </a:r>
            <a:r>
              <a:rPr lang="pt-BR" sz="2400" dirty="0"/>
              <a:t>.</a:t>
            </a:r>
          </a:p>
        </p:txBody>
      </p:sp>
      <p:sp>
        <p:nvSpPr>
          <p:cNvPr id="101378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SQL – DML: </a:t>
            </a:r>
            <a:r>
              <a:rPr lang="pt-BR" dirty="0" err="1"/>
              <a:t>Insert</a:t>
            </a:r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FFF956D-DFCB-4C5F-A47F-1BBCB9541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UNESP - São José do Rio Preto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162DC4B-95C3-48D6-9300-CDA16D012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BBEDC-3E96-4211-870F-5846E77DF70B}" type="slidenum">
              <a:rPr lang="pt-BR" smtClean="0"/>
              <a:t>55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566947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731963"/>
            <a:ext cx="7467600" cy="4741862"/>
          </a:xfrm>
        </p:spPr>
        <p:txBody>
          <a:bodyPr/>
          <a:lstStyle/>
          <a:p>
            <a:pPr algn="just"/>
            <a:r>
              <a:rPr lang="pt-BR" sz="2400" b="1" dirty="0"/>
              <a:t>Exemplo</a:t>
            </a:r>
            <a:r>
              <a:rPr lang="pt-BR" sz="2400" dirty="0"/>
              <a:t>: “Insira uma conta “A-9732” com saldo 1.200 dólares, mas o nome da agência não é conhecido”</a:t>
            </a:r>
          </a:p>
          <a:p>
            <a:pPr algn="just"/>
            <a:endParaRPr lang="pt-BR" sz="2000" dirty="0"/>
          </a:p>
          <a:p>
            <a:pPr lvl="1" algn="just">
              <a:buFont typeface="Wingdings 2" pitchFamily="18" charset="2"/>
              <a:buNone/>
            </a:pPr>
            <a:r>
              <a:rPr lang="pt-BR" sz="2000" b="1" dirty="0" err="1"/>
              <a:t>insert</a:t>
            </a:r>
            <a:r>
              <a:rPr lang="pt-BR" sz="2000" b="1" dirty="0"/>
              <a:t> </a:t>
            </a:r>
            <a:r>
              <a:rPr lang="pt-BR" sz="2000" b="1" dirty="0" err="1"/>
              <a:t>into</a:t>
            </a:r>
            <a:r>
              <a:rPr lang="pt-BR" sz="2000" b="1" dirty="0"/>
              <a:t> </a:t>
            </a:r>
            <a:r>
              <a:rPr lang="pt-BR" sz="2000" dirty="0"/>
              <a:t>conta</a:t>
            </a:r>
          </a:p>
          <a:p>
            <a:pPr lvl="1" algn="just">
              <a:buFont typeface="Wingdings 2" pitchFamily="18" charset="2"/>
              <a:buNone/>
            </a:pPr>
            <a:r>
              <a:rPr lang="pt-BR" sz="2000" b="1" dirty="0"/>
              <a:t>		</a:t>
            </a:r>
            <a:r>
              <a:rPr lang="pt-BR" sz="2000" b="1" dirty="0" err="1"/>
              <a:t>values</a:t>
            </a:r>
            <a:r>
              <a:rPr lang="pt-BR" sz="2000" dirty="0"/>
              <a:t> (“A-9732”,null,1200)</a:t>
            </a:r>
          </a:p>
          <a:p>
            <a:endParaRPr lang="pt-BR" sz="2400" dirty="0">
              <a:latin typeface="Arial" pitchFamily="34" charset="0"/>
            </a:endParaRPr>
          </a:p>
        </p:txBody>
      </p:sp>
      <p:sp>
        <p:nvSpPr>
          <p:cNvPr id="10240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SQL – DML: </a:t>
            </a:r>
            <a:r>
              <a:rPr lang="pt-BR" dirty="0" err="1"/>
              <a:t>Insert</a:t>
            </a:r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A2DF68E-AA14-4863-87F2-CED1EC78A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UNESP - São José do Rio Preto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6A2122-BF11-4E74-BD5F-77345A87E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BBEDC-3E96-4211-870F-5846E77DF70B}" type="slidenum">
              <a:rPr lang="pt-BR" smtClean="0"/>
              <a:t>56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573925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7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62113"/>
            <a:ext cx="7467600" cy="4811712"/>
          </a:xfrm>
        </p:spPr>
        <p:txBody>
          <a:bodyPr/>
          <a:lstStyle/>
          <a:p>
            <a:pPr algn="just"/>
            <a:r>
              <a:rPr lang="pt-BR" sz="2400" dirty="0"/>
              <a:t>Utilizada para modificar valores das </a:t>
            </a:r>
            <a:r>
              <a:rPr lang="pt-BR" sz="2400" dirty="0" err="1"/>
              <a:t>tuplas</a:t>
            </a:r>
            <a:r>
              <a:rPr lang="pt-BR" sz="2400" dirty="0"/>
              <a:t>.</a:t>
            </a:r>
          </a:p>
          <a:p>
            <a:pPr algn="just"/>
            <a:endParaRPr lang="pt-BR" sz="2400" dirty="0"/>
          </a:p>
          <a:p>
            <a:pPr algn="just"/>
            <a:r>
              <a:rPr lang="pt-BR" sz="2400" dirty="0"/>
              <a:t>Assim como nos dois anteriores, pode-se utilizar a cláusula </a:t>
            </a:r>
            <a:r>
              <a:rPr lang="pt-BR" sz="2400" b="1" dirty="0" err="1"/>
              <a:t>where</a:t>
            </a:r>
            <a:r>
              <a:rPr lang="pt-BR" sz="2400" dirty="0"/>
              <a:t> para escolher as </a:t>
            </a:r>
            <a:r>
              <a:rPr lang="pt-BR" sz="2400" dirty="0" err="1"/>
              <a:t>tuplas</a:t>
            </a:r>
            <a:r>
              <a:rPr lang="pt-BR" sz="2400" dirty="0"/>
              <a:t> que serão atualizadas.</a:t>
            </a:r>
          </a:p>
          <a:p>
            <a:pPr algn="just"/>
            <a:endParaRPr lang="pt-BR" sz="2400" dirty="0"/>
          </a:p>
          <a:p>
            <a:pPr algn="just"/>
            <a:r>
              <a:rPr lang="pt-BR" sz="2400" b="1" dirty="0"/>
              <a:t>Sintaxe</a:t>
            </a:r>
            <a:r>
              <a:rPr lang="pt-BR" sz="2400" dirty="0"/>
              <a:t>:</a:t>
            </a:r>
          </a:p>
          <a:p>
            <a:pPr lvl="1" algn="just">
              <a:buFont typeface="Wingdings 2" pitchFamily="18" charset="2"/>
              <a:buNone/>
            </a:pPr>
            <a:r>
              <a:rPr lang="pt-BR" sz="2400" b="1" dirty="0" err="1"/>
              <a:t>update</a:t>
            </a:r>
            <a:r>
              <a:rPr lang="pt-BR" sz="2400" b="1" dirty="0"/>
              <a:t> </a:t>
            </a:r>
            <a:r>
              <a:rPr lang="pt-BR" sz="2400" dirty="0"/>
              <a:t>&lt;nome-relação&gt;</a:t>
            </a:r>
          </a:p>
          <a:p>
            <a:pPr lvl="1" algn="just">
              <a:buFont typeface="Wingdings 2" pitchFamily="18" charset="2"/>
              <a:buNone/>
            </a:pPr>
            <a:r>
              <a:rPr lang="pt-BR" sz="2400" b="1" dirty="0"/>
              <a:t>set</a:t>
            </a:r>
            <a:r>
              <a:rPr lang="pt-BR" sz="2400" dirty="0"/>
              <a:t> &lt;lista-atribuições&gt;</a:t>
            </a:r>
          </a:p>
          <a:p>
            <a:pPr lvl="1" algn="just">
              <a:buFont typeface="Wingdings 2" pitchFamily="18" charset="2"/>
              <a:buNone/>
            </a:pPr>
            <a:r>
              <a:rPr lang="pt-BR" sz="2400" b="1" dirty="0" err="1"/>
              <a:t>where</a:t>
            </a:r>
            <a:r>
              <a:rPr lang="pt-BR" sz="2400" dirty="0"/>
              <a:t> &lt;lista-condições&gt;</a:t>
            </a:r>
          </a:p>
          <a:p>
            <a:pPr algn="just"/>
            <a:endParaRPr lang="pt-BR" sz="2400" dirty="0">
              <a:latin typeface="Arial" pitchFamily="34" charset="0"/>
            </a:endParaRPr>
          </a:p>
        </p:txBody>
      </p:sp>
      <p:sp>
        <p:nvSpPr>
          <p:cNvPr id="103426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SQL – DML: Update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A21BC24-4069-4940-8FCB-AD519A704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UNESP - São José do Rio Preto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5E35778-4338-43A1-AE81-99387F23D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BBEDC-3E96-4211-870F-5846E77DF70B}" type="slidenum">
              <a:rPr lang="pt-BR" smtClean="0"/>
              <a:t>57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965392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1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828800"/>
            <a:ext cx="7467600" cy="4645025"/>
          </a:xfrm>
        </p:spPr>
        <p:txBody>
          <a:bodyPr/>
          <a:lstStyle/>
          <a:p>
            <a:pPr algn="just"/>
            <a:r>
              <a:rPr lang="pt-BR" sz="2200" b="1" dirty="0"/>
              <a:t>Exemplo</a:t>
            </a:r>
            <a:r>
              <a:rPr lang="pt-BR" sz="2200" dirty="0"/>
              <a:t>: “Atualizar os valores dos saldos adicionando 5 por cento referente a uma taxa de juros anual”:</a:t>
            </a:r>
          </a:p>
          <a:p>
            <a:pPr lvl="2" algn="just">
              <a:buFont typeface="Wingdings 2" pitchFamily="18" charset="2"/>
              <a:buNone/>
            </a:pPr>
            <a:r>
              <a:rPr lang="pt-BR" sz="1900" b="1" dirty="0" err="1"/>
              <a:t>update</a:t>
            </a:r>
            <a:r>
              <a:rPr lang="pt-BR" sz="1900" b="1" dirty="0"/>
              <a:t> </a:t>
            </a:r>
            <a:r>
              <a:rPr lang="pt-BR" sz="1900" dirty="0"/>
              <a:t>conta</a:t>
            </a:r>
          </a:p>
          <a:p>
            <a:pPr lvl="2" algn="just">
              <a:buFont typeface="Wingdings 2" pitchFamily="18" charset="2"/>
              <a:buNone/>
            </a:pPr>
            <a:r>
              <a:rPr lang="pt-BR" sz="1900" b="1" dirty="0"/>
              <a:t>set</a:t>
            </a:r>
            <a:r>
              <a:rPr lang="pt-BR" sz="1900" dirty="0"/>
              <a:t> saldo = saldo * 1.05</a:t>
            </a:r>
          </a:p>
          <a:p>
            <a:pPr algn="just"/>
            <a:endParaRPr lang="pt-BR" sz="2000" dirty="0"/>
          </a:p>
          <a:p>
            <a:pPr algn="just"/>
            <a:r>
              <a:rPr lang="pt-BR" sz="2200" b="1" dirty="0"/>
              <a:t>Exemplo</a:t>
            </a:r>
            <a:r>
              <a:rPr lang="pt-BR" sz="2200" dirty="0"/>
              <a:t>: “Adicionar 5 por cento somente nas contas cujo saldo atual é maior que 10000 dólares”:</a:t>
            </a:r>
          </a:p>
          <a:p>
            <a:pPr lvl="2" algn="just">
              <a:buFont typeface="Wingdings 2" pitchFamily="18" charset="2"/>
              <a:buNone/>
            </a:pPr>
            <a:r>
              <a:rPr lang="pt-BR" sz="1900" b="1" dirty="0" err="1"/>
              <a:t>update</a:t>
            </a:r>
            <a:r>
              <a:rPr lang="pt-BR" sz="1900" b="1" dirty="0"/>
              <a:t> </a:t>
            </a:r>
            <a:r>
              <a:rPr lang="pt-BR" sz="1900" dirty="0"/>
              <a:t>conta</a:t>
            </a:r>
          </a:p>
          <a:p>
            <a:pPr lvl="2" algn="just">
              <a:buFont typeface="Wingdings 2" pitchFamily="18" charset="2"/>
              <a:buNone/>
            </a:pPr>
            <a:r>
              <a:rPr lang="pt-BR" sz="1900" b="1" dirty="0"/>
              <a:t>set</a:t>
            </a:r>
            <a:r>
              <a:rPr lang="pt-BR" sz="1900" dirty="0"/>
              <a:t> saldo = saldo * 1.05</a:t>
            </a:r>
          </a:p>
          <a:p>
            <a:pPr lvl="2" algn="just">
              <a:buFont typeface="Wingdings 2" pitchFamily="18" charset="2"/>
              <a:buNone/>
            </a:pPr>
            <a:r>
              <a:rPr lang="pt-BR" sz="1900" b="1" dirty="0" err="1"/>
              <a:t>where</a:t>
            </a:r>
            <a:r>
              <a:rPr lang="pt-BR" sz="1900" b="1" dirty="0"/>
              <a:t> </a:t>
            </a:r>
            <a:r>
              <a:rPr lang="pt-BR" sz="1900" dirty="0"/>
              <a:t>saldo &gt; 10000</a:t>
            </a:r>
          </a:p>
          <a:p>
            <a:pPr algn="just"/>
            <a:endParaRPr lang="pt-BR" sz="2000" dirty="0">
              <a:latin typeface="Arial" pitchFamily="34" charset="0"/>
            </a:endParaRPr>
          </a:p>
        </p:txBody>
      </p:sp>
      <p:sp>
        <p:nvSpPr>
          <p:cNvPr id="104450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SQL – DML: Update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1BA6085-AD53-4FF5-9869-F3823CE34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UNESP - São José do Rio Preto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CD2F661-6315-40B7-9B56-AEBED3CC9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BBEDC-3E96-4211-870F-5846E77DF70B}" type="slidenum">
              <a:rPr lang="pt-BR" smtClean="0"/>
              <a:t>58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95024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5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801813"/>
            <a:ext cx="7467600" cy="4672012"/>
          </a:xfrm>
        </p:spPr>
        <p:txBody>
          <a:bodyPr/>
          <a:lstStyle/>
          <a:p>
            <a:pPr algn="just"/>
            <a:r>
              <a:rPr lang="pt-BR" sz="2400" b="1" dirty="0"/>
              <a:t>Exemplo</a:t>
            </a:r>
            <a:r>
              <a:rPr lang="pt-BR" sz="2400" dirty="0"/>
              <a:t>: “Atualizar a rua e a cidade do cliente Johnson”:</a:t>
            </a:r>
          </a:p>
          <a:p>
            <a:pPr algn="just"/>
            <a:endParaRPr lang="pt-BR" sz="2400" dirty="0"/>
          </a:p>
          <a:p>
            <a:pPr algn="just">
              <a:buFont typeface="Wingdings 2" pitchFamily="18" charset="2"/>
              <a:buNone/>
            </a:pPr>
            <a:r>
              <a:rPr lang="pt-BR" sz="2000" b="1" dirty="0" err="1"/>
              <a:t>update</a:t>
            </a:r>
            <a:r>
              <a:rPr lang="pt-BR" sz="2000" b="1" dirty="0"/>
              <a:t> </a:t>
            </a:r>
            <a:r>
              <a:rPr lang="pt-BR" sz="2000" dirty="0"/>
              <a:t>cliente</a:t>
            </a:r>
          </a:p>
          <a:p>
            <a:pPr algn="just">
              <a:buFont typeface="Wingdings 2" pitchFamily="18" charset="2"/>
              <a:buNone/>
            </a:pPr>
            <a:r>
              <a:rPr lang="pt-BR" sz="2000" b="1" dirty="0"/>
              <a:t>set</a:t>
            </a:r>
            <a:r>
              <a:rPr lang="pt-BR" sz="2000" dirty="0"/>
              <a:t> </a:t>
            </a:r>
            <a:r>
              <a:rPr lang="pt-BR" sz="2000" dirty="0" err="1"/>
              <a:t>rua_cliente</a:t>
            </a:r>
            <a:r>
              <a:rPr lang="pt-BR" sz="2000" dirty="0"/>
              <a:t> = “Summer”, </a:t>
            </a:r>
            <a:r>
              <a:rPr lang="pt-BR" sz="2000" dirty="0" err="1"/>
              <a:t>cidade_cliente</a:t>
            </a:r>
            <a:r>
              <a:rPr lang="pt-BR" sz="2000" dirty="0"/>
              <a:t> = “Springfield”</a:t>
            </a:r>
          </a:p>
          <a:p>
            <a:pPr algn="just">
              <a:buFont typeface="Wingdings 2" pitchFamily="18" charset="2"/>
              <a:buNone/>
            </a:pPr>
            <a:r>
              <a:rPr lang="pt-BR" sz="2000" b="1" dirty="0" err="1"/>
              <a:t>where</a:t>
            </a:r>
            <a:r>
              <a:rPr lang="pt-BR" sz="2000" b="1" dirty="0"/>
              <a:t> </a:t>
            </a:r>
            <a:r>
              <a:rPr lang="pt-BR" sz="2000" dirty="0" err="1"/>
              <a:t>nome_cliente</a:t>
            </a:r>
            <a:r>
              <a:rPr lang="pt-BR" sz="2000" dirty="0"/>
              <a:t> = “Johnson”</a:t>
            </a:r>
          </a:p>
          <a:p>
            <a:endParaRPr lang="pt-BR" dirty="0">
              <a:latin typeface="Arial" pitchFamily="34" charset="0"/>
            </a:endParaRPr>
          </a:p>
        </p:txBody>
      </p:sp>
      <p:sp>
        <p:nvSpPr>
          <p:cNvPr id="105474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SQL – DML: Update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B38C072-5B4A-47F8-A40C-BBB634E3E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UNESP - São José do Rio Preto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3EE4316-AA72-4090-BE9D-4A95F6DCD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BBEDC-3E96-4211-870F-5846E77DF70B}" type="slidenum">
              <a:rPr lang="pt-BR" smtClean="0"/>
              <a:t>59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677570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sz="2400" dirty="0"/>
              <a:t>Sistema Gerenciador de Banco de Dados Relacional.</a:t>
            </a:r>
          </a:p>
          <a:p>
            <a:pPr algn="just"/>
            <a:endParaRPr lang="pt-BR" sz="2400" dirty="0"/>
          </a:p>
          <a:p>
            <a:pPr algn="just"/>
            <a:r>
              <a:rPr lang="pt-BR" sz="2400" dirty="0"/>
              <a:t>Possui código aberto.</a:t>
            </a:r>
          </a:p>
          <a:p>
            <a:pPr algn="just"/>
            <a:endParaRPr lang="pt-BR" sz="2400" dirty="0"/>
          </a:p>
          <a:p>
            <a:pPr algn="just"/>
            <a:r>
              <a:rPr lang="pt-BR" sz="2400" dirty="0"/>
              <a:t>Atualmente, é considerado o mais avançado banco de dados </a:t>
            </a:r>
            <a:r>
              <a:rPr lang="pt-BR" sz="2400" i="1" dirty="0" err="1"/>
              <a:t>free</a:t>
            </a:r>
            <a:r>
              <a:rPr lang="pt-BR" sz="2400" i="1" dirty="0"/>
              <a:t>.</a:t>
            </a:r>
          </a:p>
          <a:p>
            <a:pPr algn="just"/>
            <a:endParaRPr lang="pt-BR" sz="2400" i="1" dirty="0"/>
          </a:p>
          <a:p>
            <a:pPr algn="just"/>
            <a:r>
              <a:rPr lang="pt-BR" sz="2400" dirty="0"/>
              <a:t>Mais informações pode-se encontrar no site: </a:t>
            </a:r>
            <a:r>
              <a:rPr lang="pt-BR" sz="2400" i="1" dirty="0"/>
              <a:t>http://www.postgresql.org</a:t>
            </a:r>
          </a:p>
          <a:p>
            <a:pPr algn="just"/>
            <a:endParaRPr lang="pt-BR" sz="2400" i="1" dirty="0"/>
          </a:p>
        </p:txBody>
      </p:sp>
      <p:sp>
        <p:nvSpPr>
          <p:cNvPr id="1085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PostgreSQL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5826DD8-2449-4EFE-9E3C-6D592BBDA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UNESP - São José do Rio Preto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AA53386-0BF6-46D3-A2EA-BF9244909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BBEDC-3E96-4211-870F-5846E77DF70B}" type="slidenum">
              <a:rPr lang="pt-BR" smtClean="0"/>
              <a:t>60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698228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sz="2400" dirty="0"/>
              <a:t>Ferramenta</a:t>
            </a:r>
            <a:r>
              <a:rPr lang="pt-BR" sz="2400" i="1" dirty="0"/>
              <a:t> </a:t>
            </a:r>
            <a:r>
              <a:rPr lang="pt-BR" sz="2400" dirty="0"/>
              <a:t>amplamente utilizada para administração de banco de dados </a:t>
            </a:r>
            <a:r>
              <a:rPr lang="pt-BR" sz="2400" dirty="0" err="1"/>
              <a:t>PostgreSQL</a:t>
            </a:r>
            <a:r>
              <a:rPr lang="pt-BR" sz="2400" dirty="0"/>
              <a:t>.</a:t>
            </a:r>
          </a:p>
          <a:p>
            <a:pPr algn="just"/>
            <a:endParaRPr lang="pt-BR" sz="2400" i="1" dirty="0"/>
          </a:p>
          <a:p>
            <a:pPr algn="just"/>
            <a:r>
              <a:rPr lang="pt-BR" sz="2400" dirty="0"/>
              <a:t>Permite manipular praticamente todas as funcionalidades do </a:t>
            </a:r>
            <a:r>
              <a:rPr lang="pt-BR" sz="2400" dirty="0" err="1"/>
              <a:t>PostegreSQL</a:t>
            </a:r>
            <a:r>
              <a:rPr lang="pt-BR" sz="2400" dirty="0"/>
              <a:t>.</a:t>
            </a:r>
          </a:p>
          <a:p>
            <a:pPr lvl="1" algn="just"/>
            <a:r>
              <a:rPr lang="pt-BR" sz="2100" dirty="0"/>
              <a:t>Conexão com vários servidores</a:t>
            </a:r>
          </a:p>
          <a:p>
            <a:pPr lvl="1" algn="just"/>
            <a:r>
              <a:rPr lang="pt-BR" sz="2100" dirty="0"/>
              <a:t>Bases de Dados</a:t>
            </a:r>
          </a:p>
          <a:p>
            <a:pPr lvl="1" algn="just"/>
            <a:r>
              <a:rPr lang="pt-BR" sz="2100" dirty="0"/>
              <a:t>Tabelas</a:t>
            </a:r>
          </a:p>
          <a:p>
            <a:pPr lvl="1" algn="just"/>
            <a:r>
              <a:rPr lang="pt-BR" sz="2100" dirty="0"/>
              <a:t>Funções e </a:t>
            </a:r>
            <a:r>
              <a:rPr lang="pt-BR" sz="2100" i="1" dirty="0"/>
              <a:t>Triggers</a:t>
            </a:r>
          </a:p>
          <a:p>
            <a:pPr lvl="1" algn="just"/>
            <a:r>
              <a:rPr lang="pt-BR" sz="2100" dirty="0"/>
              <a:t>Usuários e permissões</a:t>
            </a:r>
          </a:p>
          <a:p>
            <a:pPr lvl="1" algn="just"/>
            <a:r>
              <a:rPr lang="pt-BR" sz="2100" dirty="0"/>
              <a:t>Backups e restauração de bases de dados</a:t>
            </a:r>
          </a:p>
          <a:p>
            <a:pPr lvl="1" algn="just"/>
            <a:endParaRPr lang="pt-BR" sz="2100" dirty="0"/>
          </a:p>
          <a:p>
            <a:pPr algn="just"/>
            <a:endParaRPr lang="pt-BR" sz="2400" dirty="0"/>
          </a:p>
          <a:p>
            <a:pPr algn="just"/>
            <a:endParaRPr lang="pt-BR" sz="2400" i="1" dirty="0"/>
          </a:p>
        </p:txBody>
      </p:sp>
      <p:sp>
        <p:nvSpPr>
          <p:cNvPr id="1095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pgAdmin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62EC432-3DD7-49CD-BCBC-8BCCD4C2E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UNESP - São José do Rio Preto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DF19E08-E1CF-4281-95A8-0D3615949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BBEDC-3E96-4211-870F-5846E77DF70B}" type="slidenum">
              <a:rPr lang="pt-BR" smtClean="0"/>
              <a:t>61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1262003"/>
      </p:ext>
    </p:extLst>
  </p:cSld>
  <p:clrMapOvr>
    <a:masterClrMapping/>
  </p:clrMapOvr>
</p:sld>
</file>

<file path=ppt/theme/theme1.xml><?xml version="1.0" encoding="utf-8"?>
<a:theme xmlns:a="http://schemas.openxmlformats.org/drawingml/2006/main" name="Tema_Treinamento_202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_Treinamento_2020" id="{21E832A6-7274-4780-9E69-3A91FD7FBEBC}" vid="{65A75EE3-0B55-4027-AE12-BFB5754E4F4B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1287</TotalTime>
  <Words>4035</Words>
  <Application>Microsoft Office PowerPoint</Application>
  <PresentationFormat>Apresentação na tela (4:3)</PresentationFormat>
  <Paragraphs>704</Paragraphs>
  <Slides>60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11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60</vt:i4>
      </vt:variant>
    </vt:vector>
  </HeadingPairs>
  <TitlesOfParts>
    <vt:vector size="72" baseType="lpstr">
      <vt:lpstr>Arial</vt:lpstr>
      <vt:lpstr>BPKCM D+ Palatino</vt:lpstr>
      <vt:lpstr>Calibri</vt:lpstr>
      <vt:lpstr>Calibri Light</vt:lpstr>
      <vt:lpstr>Montserrat</vt:lpstr>
      <vt:lpstr>Montserrat ExtraBold</vt:lpstr>
      <vt:lpstr>Montserrat Light</vt:lpstr>
      <vt:lpstr>Montserrat Medium</vt:lpstr>
      <vt:lpstr>Montserrat SemiBold</vt:lpstr>
      <vt:lpstr>Wingdings</vt:lpstr>
      <vt:lpstr>Wingdings 2</vt:lpstr>
      <vt:lpstr>Tema_Treinamento_2020</vt:lpstr>
      <vt:lpstr>Apresentação do PowerPoint</vt:lpstr>
      <vt:lpstr>Tópicos</vt:lpstr>
      <vt:lpstr>Revisando</vt:lpstr>
      <vt:lpstr>SQL – DML</vt:lpstr>
      <vt:lpstr>SQL – DML</vt:lpstr>
      <vt:lpstr>Consultas SQL: Estrutura Básica</vt:lpstr>
      <vt:lpstr>SQL – DML: Select</vt:lpstr>
      <vt:lpstr>SQL – DML: Select</vt:lpstr>
      <vt:lpstr>SQL – DML: Select</vt:lpstr>
      <vt:lpstr>SQL – DML: Select</vt:lpstr>
      <vt:lpstr>SQL – DML: Where</vt:lpstr>
      <vt:lpstr>SQL – DML: Where</vt:lpstr>
      <vt:lpstr>SQL – DML: Where</vt:lpstr>
      <vt:lpstr>SQL – DML: Where</vt:lpstr>
      <vt:lpstr>SQL – DML: Where</vt:lpstr>
      <vt:lpstr>SQL – DML: FROM</vt:lpstr>
      <vt:lpstr>SQL – DML: FROM</vt:lpstr>
      <vt:lpstr>SQL – DML: FROM</vt:lpstr>
      <vt:lpstr>SQL – DML: Order By</vt:lpstr>
      <vt:lpstr>SQL – DML: Order By</vt:lpstr>
      <vt:lpstr>SQL – DML: Operações de Conjuntos</vt:lpstr>
      <vt:lpstr>SQL – DML: Operações de Conjuntos</vt:lpstr>
      <vt:lpstr>SQL – DML: Operações de Conjuntos</vt:lpstr>
      <vt:lpstr>SQL – DML: Operações de Conjuntos</vt:lpstr>
      <vt:lpstr>SQL – DML: Funções agregadas</vt:lpstr>
      <vt:lpstr>SQL – DML: Funções agregadas</vt:lpstr>
      <vt:lpstr>SQL – DML: Funções agregadas</vt:lpstr>
      <vt:lpstr>SQL – DML: Group By</vt:lpstr>
      <vt:lpstr>SQL – DML: Group By</vt:lpstr>
      <vt:lpstr>SQL – DML: Group By</vt:lpstr>
      <vt:lpstr>SQL – DML: Having</vt:lpstr>
      <vt:lpstr>SQL – DML: Having</vt:lpstr>
      <vt:lpstr>SQL – DML: Having</vt:lpstr>
      <vt:lpstr>SQL – DML: Having</vt:lpstr>
      <vt:lpstr>SQL – DML: Valores nulos</vt:lpstr>
      <vt:lpstr>SQL – DML: Arrays</vt:lpstr>
      <vt:lpstr>SQL – DML: JSON</vt:lpstr>
      <vt:lpstr>SQL – DML: JSON</vt:lpstr>
      <vt:lpstr>SQL – DML: Commom Table Expressions</vt:lpstr>
      <vt:lpstr>SQL – DML: Commom Table Expressions</vt:lpstr>
      <vt:lpstr>SQL – DML: Explain</vt:lpstr>
      <vt:lpstr>SQL – DML: Join </vt:lpstr>
      <vt:lpstr>Apresentação do PowerPoint</vt:lpstr>
      <vt:lpstr>SQL – DML: Views</vt:lpstr>
      <vt:lpstr>SQL – DML: Views</vt:lpstr>
      <vt:lpstr>SQL – DML: Materialized Views</vt:lpstr>
      <vt:lpstr>SQL – DML: Alterações nos Dados</vt:lpstr>
      <vt:lpstr>SQL – DML: Delete</vt:lpstr>
      <vt:lpstr>SQL – DML: Delete</vt:lpstr>
      <vt:lpstr>SQL – DML: Delete</vt:lpstr>
      <vt:lpstr>SQL – DML: Insert</vt:lpstr>
      <vt:lpstr>SQL – DML: Insert</vt:lpstr>
      <vt:lpstr>SQL – DML: Insert</vt:lpstr>
      <vt:lpstr>SQL – DML: Insert</vt:lpstr>
      <vt:lpstr>SQL – DML: Insert</vt:lpstr>
      <vt:lpstr>SQL – DML: Update</vt:lpstr>
      <vt:lpstr>SQL – DML: Update</vt:lpstr>
      <vt:lpstr>SQL – DML: Update</vt:lpstr>
      <vt:lpstr>PostgreSQL</vt:lpstr>
      <vt:lpstr>pgAdmin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2012</dc:title>
  <dc:creator>gbd</dc:creator>
  <cp:lastModifiedBy>Joao Pedro Quadrado</cp:lastModifiedBy>
  <cp:revision>110</cp:revision>
  <dcterms:created xsi:type="dcterms:W3CDTF">2012-03-15T11:35:41Z</dcterms:created>
  <dcterms:modified xsi:type="dcterms:W3CDTF">2025-05-07T03:34:57Z</dcterms:modified>
</cp:coreProperties>
</file>